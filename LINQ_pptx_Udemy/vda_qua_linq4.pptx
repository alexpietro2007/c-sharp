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9"/>
  </p:notesMasterIdLst>
  <p:handoutMasterIdLst>
    <p:handoutMasterId r:id="rId20"/>
  </p:handoutMasterIdLst>
  <p:sldIdLst>
    <p:sldId id="257" r:id="rId5"/>
    <p:sldId id="330" r:id="rId6"/>
    <p:sldId id="360" r:id="rId7"/>
    <p:sldId id="362" r:id="rId8"/>
    <p:sldId id="363" r:id="rId9"/>
    <p:sldId id="361" r:id="rId10"/>
    <p:sldId id="364" r:id="rId11"/>
    <p:sldId id="340" r:id="rId12"/>
    <p:sldId id="365" r:id="rId13"/>
    <p:sldId id="366" r:id="rId14"/>
    <p:sldId id="368" r:id="rId15"/>
    <p:sldId id="367" r:id="rId16"/>
    <p:sldId id="370" r:id="rId17"/>
    <p:sldId id="356" r:id="rId1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23" autoAdjust="0"/>
    <p:restoredTop sz="93725" autoAdjust="0"/>
  </p:normalViewPr>
  <p:slideViewPr>
    <p:cSldViewPr snapToGrid="0">
      <p:cViewPr varScale="1">
        <p:scale>
          <a:sx n="93" d="100"/>
          <a:sy n="93" d="100"/>
        </p:scale>
        <p:origin x="96" y="46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5FB956-6D4A-42A4-8922-04A0471F5626}" type="datetime1">
              <a:rPr lang="pt-BR" smtClean="0"/>
              <a:t>27/09/2022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8414BCE-8E15-4FAC-ABEA-824CFE89BEEF}" type="datetime1">
              <a:rPr lang="pt-BR" smtClean="0"/>
              <a:t>27/09/2022</a:t>
            </a:fld>
            <a:endParaRPr lang="pt-BR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pt-BR" smtClean="0"/>
              <a:t>1</a:t>
            </a:fld>
            <a:endParaRPr lang="pt-BR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6C9253-D535-4381-869E-FE197FA2CA2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1A551632-2A86-4E22-BFB5-628C43F0EF2D}" type="datetime1">
              <a:rPr lang="pt-BR" smtClean="0"/>
              <a:t>27/09/2022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 sz="4800"/>
              <a:t>3DFloat</a:t>
            </a:r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pt-BR" sz="1600"/>
              <a:t>Clique para adicionar o texto</a:t>
            </a:r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2" name="Espaço Reservado para Imagem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8" name="Espaço Reservado para Imagem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Imagem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0" name="Espaço Reservado para Imagem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Conteúdo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Quebra de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6" name="Subtítulo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Linha do tempo da Tabela do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orma Livre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0" name="Forma Livre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1" name="Forma Livre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40" name="Título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pt-BR"/>
              <a:t>Equipe</a:t>
            </a: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6" name="Espaço Reservado para Imagem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7" name="Espaço Reservado para Imagem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58" name="Espaço Reservado para Imagem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59" name="Espaço Reservado para Imagem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63" name="Espaço Reservado para Texto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1" name="Espaço Reservado para Texto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5" name="Espaço Reservado para Texto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4" name="Espaço Reservado para Texto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7" name="Espaço Reservado para Texto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6" name="Espaço Reservado para Texto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69" name="Espaço Reservado para Texto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pt-BR"/>
              <a:t>Nome</a:t>
            </a:r>
          </a:p>
        </p:txBody>
      </p:sp>
      <p:sp>
        <p:nvSpPr>
          <p:cNvPr id="68" name="Espaço Reservado para Texto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pt-BR"/>
              <a:t>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údo da coluna 2 (slide de comparaçã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luna do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pt-BR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título Mestre</a:t>
            </a: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7" name="Espaço Reservado para Conteúdo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2" name="Espaço Reservado para Texto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 os estilos de texto Mestres</a:t>
            </a:r>
          </a:p>
        </p:txBody>
      </p:sp>
      <p:sp>
        <p:nvSpPr>
          <p:cNvPr id="23" name="Espaço Reservado para Conteúdo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pt-BR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pt-BR"/>
              <a:t>Clique para EDITAR</a:t>
            </a:r>
          </a:p>
        </p:txBody>
      </p:sp>
      <p:sp>
        <p:nvSpPr>
          <p:cNvPr id="21" name="Espaço Reservado para Conteúdo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pt-BR"/>
              <a:t>Clique para editar o título Mestre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1" name="Subtítulo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pt-BR">
                <a:solidFill>
                  <a:schemeClr val="tx1">
                    <a:alpha val="60000"/>
                  </a:schemeClr>
                </a:solidFill>
              </a:rPr>
              <a:t>Clique para editar o estilo do subtítulo Mestre</a:t>
            </a:r>
            <a:endParaRPr lang="pt-BR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Espaço Reservado para Imagem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42" name="Espaço Reservado para Imagem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pt-BR"/>
              <a:t>Clique no ícone para adicionar uma imagem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pt-BR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pt-BR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Terça-feira, 2 de fevereiro, 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pt-BR"/>
              <a:t>Amostra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Terça-feira, 2 de fevereiro, 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Amostra de Texto de Rodapé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99413" y="1051551"/>
            <a:ext cx="3856255" cy="2384898"/>
          </a:xfrm>
        </p:spPr>
        <p:txBody>
          <a:bodyPr rtlCol="0" anchor="b" anchorCtr="0">
            <a:normAutofit/>
          </a:bodyPr>
          <a:lstStyle/>
          <a:p>
            <a:pPr rtl="0"/>
            <a:r>
              <a:rPr lang="pt-BR" dirty="0"/>
              <a:t> </a:t>
            </a:r>
          </a:p>
        </p:txBody>
      </p:sp>
      <p:pic>
        <p:nvPicPr>
          <p:cNvPr id="14" name="Espaço Reservado para Imagem 13" descr="Plano de fundo digital de pontos de dados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86410" cy="6858000"/>
          </a:xfr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49848" y="3259939"/>
            <a:ext cx="3565524" cy="338122"/>
          </a:xfrm>
        </p:spPr>
        <p:txBody>
          <a:bodyPr rtlCol="0">
            <a:normAutofit/>
          </a:bodyPr>
          <a:lstStyle/>
          <a:p>
            <a:pPr algn="ctr" rtl="0"/>
            <a:r>
              <a:rPr lang="pt-BR" dirty="0"/>
              <a:t>Macoratti.net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C5A945-B50E-5399-883F-768906AFA6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498" y="1195840"/>
            <a:ext cx="1949209" cy="20963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3111A99-29DF-8BAD-1905-35FD62F8AF2F}"/>
              </a:ext>
            </a:extLst>
          </p:cNvPr>
          <p:cNvSpPr txBox="1"/>
          <p:nvPr/>
        </p:nvSpPr>
        <p:spPr>
          <a:xfrm>
            <a:off x="1741013" y="1832204"/>
            <a:ext cx="3795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LINQ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F3A3DC-C703-ED9A-46C0-825FE57A6318}"/>
              </a:ext>
            </a:extLst>
          </p:cNvPr>
          <p:cNvSpPr txBox="1"/>
          <p:nvPr/>
        </p:nvSpPr>
        <p:spPr>
          <a:xfrm>
            <a:off x="1831460" y="3389846"/>
            <a:ext cx="74839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Fundamentos - </a:t>
            </a:r>
            <a:r>
              <a:rPr lang="pt-BR" sz="66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IV</a:t>
            </a:r>
            <a:endParaRPr lang="pt-BR" sz="8000" dirty="0">
              <a:ln w="0"/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2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DD38F91-B5A1-31F0-E4D0-A99755692054}"/>
              </a:ext>
            </a:extLst>
          </p:cNvPr>
          <p:cNvSpPr txBox="1"/>
          <p:nvPr/>
        </p:nvSpPr>
        <p:spPr>
          <a:xfrm>
            <a:off x="271266" y="863666"/>
            <a:ext cx="114850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As operações de conjunto na LINQ referem-se a operações de consulta que geram um conjunto de resultados baseado </a:t>
            </a:r>
            <a:r>
              <a:rPr lang="pt-BR" sz="2400" dirty="0">
                <a:solidFill>
                  <a:srgbClr val="00B0F0"/>
                </a:solidFill>
              </a:rPr>
              <a:t>na presença ou ausência de elementos equivalentes </a:t>
            </a:r>
            <a:r>
              <a:rPr lang="pt-BR" sz="2400" dirty="0"/>
              <a:t>dentro da </a:t>
            </a:r>
            <a:r>
              <a:rPr lang="pt-BR" sz="2400" i="1" dirty="0"/>
              <a:t>mesma ou de coleções (ou conjuntos) separadas.</a:t>
            </a:r>
            <a:endParaRPr lang="pt-BR" sz="2400" i="1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Operações de conjunto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2343D7-BC84-4A92-3EB0-17801A2F3FFD}"/>
              </a:ext>
            </a:extLst>
          </p:cNvPr>
          <p:cNvSpPr txBox="1"/>
          <p:nvPr/>
        </p:nvSpPr>
        <p:spPr>
          <a:xfrm>
            <a:off x="271266" y="2449081"/>
            <a:ext cx="114850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Isso significa que essas operações são executadas em </a:t>
            </a:r>
            <a:r>
              <a:rPr lang="pt-BR" sz="2400" dirty="0">
                <a:solidFill>
                  <a:srgbClr val="00B0F0"/>
                </a:solidFill>
              </a:rPr>
              <a:t>uma única fonte de dados </a:t>
            </a:r>
            <a:r>
              <a:rPr lang="pt-BR" sz="2400" dirty="0"/>
              <a:t>ou em </a:t>
            </a:r>
            <a:r>
              <a:rPr lang="pt-BR" sz="2400" dirty="0">
                <a:solidFill>
                  <a:srgbClr val="00B0F0"/>
                </a:solidFill>
              </a:rPr>
              <a:t>várias fontes de dados , </a:t>
            </a:r>
            <a:r>
              <a:rPr lang="pt-BR" sz="2400" dirty="0"/>
              <a:t>e, na saída, alguns dos dados estão presentes e alguns estão ausentes. </a:t>
            </a:r>
            <a:endParaRPr lang="pt-BR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3305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3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5307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Operações de conjunto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FD99-3994-AE9E-F675-28E8316B868F}"/>
              </a:ext>
            </a:extLst>
          </p:cNvPr>
          <p:cNvSpPr txBox="1"/>
          <p:nvPr/>
        </p:nvSpPr>
        <p:spPr>
          <a:xfrm>
            <a:off x="353458" y="815508"/>
            <a:ext cx="11485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Temos 4 operadores usados nas consultas de LINQ para operações de conjunto :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E24224-A79C-84D9-3D00-82E27B8DC411}"/>
              </a:ext>
            </a:extLst>
          </p:cNvPr>
          <p:cNvSpPr txBox="1"/>
          <p:nvPr/>
        </p:nvSpPr>
        <p:spPr>
          <a:xfrm>
            <a:off x="353458" y="1510996"/>
            <a:ext cx="114850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1 -  </a:t>
            </a:r>
            <a:r>
              <a:rPr lang="pt-BR" sz="2400" dirty="0" err="1">
                <a:solidFill>
                  <a:srgbClr val="00B0F0"/>
                </a:solidFill>
              </a:rPr>
              <a:t>Distinct</a:t>
            </a:r>
            <a:r>
              <a:rPr lang="pt-BR" sz="2400" dirty="0">
                <a:solidFill>
                  <a:srgbClr val="00B0F0"/>
                </a:solidFill>
              </a:rPr>
              <a:t> ou </a:t>
            </a:r>
            <a:r>
              <a:rPr lang="pt-BR" sz="2400" dirty="0" err="1">
                <a:solidFill>
                  <a:srgbClr val="00B0F0"/>
                </a:solidFill>
              </a:rPr>
              <a:t>DistinctBy</a:t>
            </a:r>
            <a:r>
              <a:rPr lang="pt-BR" sz="2400" dirty="0">
                <a:solidFill>
                  <a:srgbClr val="00B0F0"/>
                </a:solidFill>
              </a:rPr>
              <a:t> - </a:t>
            </a:r>
            <a:r>
              <a:rPr lang="pt-BR" sz="2400" dirty="0"/>
              <a:t>Remove os valores duplicados de uma coleção.</a:t>
            </a:r>
            <a:endParaRPr lang="pt-BR" sz="2400" dirty="0">
              <a:solidFill>
                <a:srgbClr val="00B0F0"/>
              </a:solidFill>
            </a:endParaRPr>
          </a:p>
          <a:p>
            <a:br>
              <a:rPr lang="pt-BR" sz="2400" dirty="0"/>
            </a:br>
            <a:r>
              <a:rPr lang="pt-BR" sz="2400" dirty="0"/>
              <a:t>2 -  </a:t>
            </a:r>
            <a:r>
              <a:rPr lang="pt-BR" sz="2400" dirty="0" err="1">
                <a:solidFill>
                  <a:srgbClr val="00B0F0"/>
                </a:solidFill>
              </a:rPr>
              <a:t>Except</a:t>
            </a:r>
            <a:r>
              <a:rPr lang="pt-BR" sz="2400" dirty="0">
                <a:solidFill>
                  <a:srgbClr val="00B0F0"/>
                </a:solidFill>
              </a:rPr>
              <a:t> ou </a:t>
            </a:r>
            <a:r>
              <a:rPr lang="pt-BR" sz="2400" dirty="0" err="1">
                <a:solidFill>
                  <a:srgbClr val="00B0F0"/>
                </a:solidFill>
              </a:rPr>
              <a:t>ExceptBy</a:t>
            </a:r>
            <a:r>
              <a:rPr lang="pt-BR" sz="2400" dirty="0">
                <a:solidFill>
                  <a:srgbClr val="00B0F0"/>
                </a:solidFill>
              </a:rPr>
              <a:t> - </a:t>
            </a:r>
            <a:r>
              <a:rPr lang="pt-BR" sz="2400" dirty="0"/>
              <a:t>Retorna a diferença de conjunto, ou seja, </a:t>
            </a:r>
            <a:r>
              <a:rPr lang="pt-BR" sz="2400" i="1" dirty="0"/>
              <a:t>os elementos de uma coleção que não aparecem em uma segunda coleção</a:t>
            </a:r>
            <a:br>
              <a:rPr lang="pt-BR" sz="2400" dirty="0">
                <a:solidFill>
                  <a:srgbClr val="00B0F0"/>
                </a:solidFill>
              </a:rPr>
            </a:br>
            <a:br>
              <a:rPr lang="pt-BR" sz="2400" dirty="0">
                <a:solidFill>
                  <a:srgbClr val="00B0F0"/>
                </a:solidFill>
              </a:rPr>
            </a:br>
            <a:r>
              <a:rPr lang="pt-BR" sz="2400" dirty="0"/>
              <a:t>3 -  </a:t>
            </a:r>
            <a:r>
              <a:rPr lang="pt-BR" sz="2400" dirty="0" err="1">
                <a:solidFill>
                  <a:srgbClr val="00B0F0"/>
                </a:solidFill>
              </a:rPr>
              <a:t>Intersect</a:t>
            </a:r>
            <a:r>
              <a:rPr lang="pt-BR" sz="2400" dirty="0">
                <a:solidFill>
                  <a:srgbClr val="00B0F0"/>
                </a:solidFill>
              </a:rPr>
              <a:t> ou </a:t>
            </a:r>
            <a:r>
              <a:rPr lang="pt-BR" sz="2400" dirty="0" err="1">
                <a:solidFill>
                  <a:srgbClr val="00B0F0"/>
                </a:solidFill>
              </a:rPr>
              <a:t>IntersectBy</a:t>
            </a:r>
            <a:r>
              <a:rPr lang="pt-BR" sz="2400" dirty="0">
                <a:solidFill>
                  <a:srgbClr val="00B0F0"/>
                </a:solidFill>
              </a:rPr>
              <a:t> - </a:t>
            </a:r>
            <a:r>
              <a:rPr lang="pt-BR" sz="2400" dirty="0"/>
              <a:t>Retorna a interseção de conjunto, ou seja, </a:t>
            </a:r>
            <a:r>
              <a:rPr lang="pt-BR" sz="2400" i="1" dirty="0"/>
              <a:t>os elementos que aparecem em cada uma das duas coleções</a:t>
            </a:r>
            <a:br>
              <a:rPr lang="pt-BR" sz="2400" dirty="0"/>
            </a:br>
            <a:endParaRPr lang="pt-BR" sz="2400" dirty="0">
              <a:solidFill>
                <a:srgbClr val="00B0F0"/>
              </a:solidFill>
            </a:endParaRPr>
          </a:p>
          <a:p>
            <a:r>
              <a:rPr lang="pt-BR" sz="2400" dirty="0"/>
              <a:t>4 -  </a:t>
            </a:r>
            <a:r>
              <a:rPr lang="pt-BR" sz="2400" dirty="0">
                <a:solidFill>
                  <a:srgbClr val="00B0F0"/>
                </a:solidFill>
              </a:rPr>
              <a:t>Union ou </a:t>
            </a:r>
            <a:r>
              <a:rPr lang="pt-BR" sz="2400" dirty="0" err="1">
                <a:solidFill>
                  <a:srgbClr val="00B0F0"/>
                </a:solidFill>
              </a:rPr>
              <a:t>UnionBy</a:t>
            </a:r>
            <a:r>
              <a:rPr lang="pt-BR" sz="2400" dirty="0">
                <a:solidFill>
                  <a:srgbClr val="00B0F0"/>
                </a:solidFill>
              </a:rPr>
              <a:t> - </a:t>
            </a:r>
            <a:r>
              <a:rPr lang="pt-BR" sz="2400" dirty="0"/>
              <a:t>Retorna a união de conjunto, ou seja, </a:t>
            </a:r>
            <a:r>
              <a:rPr lang="pt-BR" sz="2400" i="1" dirty="0"/>
              <a:t>os elementos únicos que aparecem em qualquer uma das duas coleções</a:t>
            </a:r>
            <a:br>
              <a:rPr lang="pt-BR" sz="2400" dirty="0"/>
            </a:br>
            <a:endParaRPr lang="pt-BR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29655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4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8" y="58466"/>
            <a:ext cx="9499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Operações de conjunto – Utilização dos Operadores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E24224-A79C-84D9-3D00-82E27B8DC411}"/>
              </a:ext>
            </a:extLst>
          </p:cNvPr>
          <p:cNvSpPr txBox="1"/>
          <p:nvPr/>
        </p:nvSpPr>
        <p:spPr>
          <a:xfrm>
            <a:off x="353457" y="1069207"/>
            <a:ext cx="114850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1 -  </a:t>
            </a:r>
            <a:r>
              <a:rPr lang="pt-BR" sz="2400" dirty="0" err="1">
                <a:solidFill>
                  <a:srgbClr val="00B0F0"/>
                </a:solidFill>
              </a:rPr>
              <a:t>Distinct</a:t>
            </a:r>
            <a:r>
              <a:rPr lang="pt-BR" sz="2400" dirty="0">
                <a:solidFill>
                  <a:srgbClr val="00B0F0"/>
                </a:solidFill>
              </a:rPr>
              <a:t> ou </a:t>
            </a:r>
            <a:r>
              <a:rPr lang="pt-BR" sz="2400" dirty="0" err="1">
                <a:solidFill>
                  <a:srgbClr val="00B0F0"/>
                </a:solidFill>
              </a:rPr>
              <a:t>DistinctBy</a:t>
            </a:r>
            <a:r>
              <a:rPr lang="pt-BR" sz="2400" dirty="0">
                <a:solidFill>
                  <a:srgbClr val="00B0F0"/>
                </a:solidFill>
              </a:rPr>
              <a:t>   </a:t>
            </a:r>
          </a:p>
          <a:p>
            <a:endParaRPr lang="pt-BR" sz="2400" dirty="0">
              <a:solidFill>
                <a:srgbClr val="00B0F0"/>
              </a:solidFill>
            </a:endParaRPr>
          </a:p>
          <a:p>
            <a:r>
              <a:rPr lang="pt-BR" sz="2400" dirty="0"/>
              <a:t>Usado quando queremos remover os </a:t>
            </a:r>
            <a:r>
              <a:rPr lang="pt-BR" sz="2400" dirty="0">
                <a:solidFill>
                  <a:srgbClr val="00B0F0"/>
                </a:solidFill>
              </a:rPr>
              <a:t>dados ou registros duplicados </a:t>
            </a:r>
            <a:r>
              <a:rPr lang="pt-BR" sz="2400" dirty="0"/>
              <a:t>de uma fonte de dados. </a:t>
            </a:r>
            <a:r>
              <a:rPr lang="pt-BR" sz="2400" i="1" dirty="0"/>
              <a:t>Esse método opera em uma única fonte de dados.</a:t>
            </a:r>
            <a:endParaRPr lang="pt-BR" sz="2400" i="1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1F9C1D0-6056-EF14-8F4A-41F32B3FC82B}"/>
              </a:ext>
            </a:extLst>
          </p:cNvPr>
          <p:cNvSpPr txBox="1"/>
          <p:nvPr/>
        </p:nvSpPr>
        <p:spPr>
          <a:xfrm>
            <a:off x="353457" y="3103271"/>
            <a:ext cx="114850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2 -  </a:t>
            </a:r>
            <a:r>
              <a:rPr lang="pt-BR" sz="2400" dirty="0" err="1">
                <a:solidFill>
                  <a:srgbClr val="00B0F0"/>
                </a:solidFill>
              </a:rPr>
              <a:t>Except</a:t>
            </a:r>
            <a:r>
              <a:rPr lang="pt-BR" sz="2400" dirty="0">
                <a:solidFill>
                  <a:srgbClr val="00B0F0"/>
                </a:solidFill>
              </a:rPr>
              <a:t> ou </a:t>
            </a:r>
            <a:r>
              <a:rPr lang="pt-BR" sz="2400" dirty="0" err="1">
                <a:solidFill>
                  <a:srgbClr val="00B0F0"/>
                </a:solidFill>
              </a:rPr>
              <a:t>ExceptBy</a:t>
            </a:r>
            <a:r>
              <a:rPr lang="pt-BR" sz="2400" dirty="0">
                <a:solidFill>
                  <a:srgbClr val="00B0F0"/>
                </a:solidFill>
              </a:rPr>
              <a:t> </a:t>
            </a:r>
          </a:p>
          <a:p>
            <a:endParaRPr lang="pt-BR" sz="2400" dirty="0">
              <a:solidFill>
                <a:srgbClr val="00B0F0"/>
              </a:solidFill>
            </a:endParaRPr>
          </a:p>
          <a:p>
            <a:r>
              <a:rPr lang="pt-BR" sz="2400" dirty="0"/>
              <a:t>Usado quando queremos retornar todos os elementos da primeira fonte de dados </a:t>
            </a:r>
            <a:r>
              <a:rPr lang="pt-BR" sz="2400" dirty="0">
                <a:solidFill>
                  <a:srgbClr val="00B0F0"/>
                </a:solidFill>
              </a:rPr>
              <a:t>que não existem </a:t>
            </a:r>
            <a:r>
              <a:rPr lang="pt-BR" sz="2400" dirty="0"/>
              <a:t>na segunda fonte de dados. </a:t>
            </a:r>
            <a:r>
              <a:rPr lang="pt-BR" sz="2400" i="1" dirty="0"/>
              <a:t>Esse método opera em duas fontes de dados.</a:t>
            </a:r>
            <a:endParaRPr lang="pt-BR" sz="2400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103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5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8" y="58466"/>
            <a:ext cx="7085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Operadores de conjunto - Utilização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E24224-A79C-84D9-3D00-82E27B8DC411}"/>
              </a:ext>
            </a:extLst>
          </p:cNvPr>
          <p:cNvSpPr txBox="1"/>
          <p:nvPr/>
        </p:nvSpPr>
        <p:spPr>
          <a:xfrm>
            <a:off x="353457" y="997289"/>
            <a:ext cx="114850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3 -  </a:t>
            </a:r>
            <a:r>
              <a:rPr lang="pt-BR" sz="2400" dirty="0" err="1">
                <a:solidFill>
                  <a:srgbClr val="00B0F0"/>
                </a:solidFill>
              </a:rPr>
              <a:t>Intersect</a:t>
            </a:r>
            <a:r>
              <a:rPr lang="pt-BR" sz="2400" dirty="0">
                <a:solidFill>
                  <a:srgbClr val="00B0F0"/>
                </a:solidFill>
              </a:rPr>
              <a:t> ou </a:t>
            </a:r>
            <a:r>
              <a:rPr lang="pt-BR" sz="2400" dirty="0" err="1">
                <a:solidFill>
                  <a:srgbClr val="00B0F0"/>
                </a:solidFill>
              </a:rPr>
              <a:t>IntersectBy</a:t>
            </a:r>
            <a:br>
              <a:rPr lang="pt-BR" sz="2400" dirty="0">
                <a:solidFill>
                  <a:srgbClr val="00B0F0"/>
                </a:solidFill>
              </a:rPr>
            </a:br>
            <a:endParaRPr lang="pt-BR" sz="2400" dirty="0">
              <a:solidFill>
                <a:srgbClr val="00B0F0"/>
              </a:solidFill>
            </a:endParaRPr>
          </a:p>
          <a:p>
            <a:r>
              <a:rPr lang="pt-BR" sz="2400" dirty="0"/>
              <a:t>É usado para retornar os </a:t>
            </a:r>
            <a:r>
              <a:rPr lang="pt-BR" sz="2400" dirty="0">
                <a:solidFill>
                  <a:srgbClr val="00B0F0"/>
                </a:solidFill>
              </a:rPr>
              <a:t>elementos comuns de ambas as fontes </a:t>
            </a:r>
            <a:r>
              <a:rPr lang="pt-BR" sz="2400" dirty="0"/>
              <a:t>de dados, ou seja, os elementos que existem em ambos os conjuntos de dados retornarão como a saída.</a:t>
            </a:r>
            <a:endParaRPr lang="pt-BR" sz="24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1F9C1D0-6056-EF14-8F4A-41F32B3FC82B}"/>
              </a:ext>
            </a:extLst>
          </p:cNvPr>
          <p:cNvSpPr txBox="1"/>
          <p:nvPr/>
        </p:nvSpPr>
        <p:spPr>
          <a:xfrm>
            <a:off x="353457" y="3154079"/>
            <a:ext cx="114850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4 -  </a:t>
            </a:r>
            <a:r>
              <a:rPr lang="pt-BR" sz="2400" dirty="0">
                <a:solidFill>
                  <a:srgbClr val="00B0F0"/>
                </a:solidFill>
              </a:rPr>
              <a:t>Union ou </a:t>
            </a:r>
            <a:r>
              <a:rPr lang="pt-BR" sz="2400" dirty="0" err="1">
                <a:solidFill>
                  <a:srgbClr val="00B0F0"/>
                </a:solidFill>
              </a:rPr>
              <a:t>UnionBy</a:t>
            </a:r>
            <a:br>
              <a:rPr lang="pt-BR" sz="2400" dirty="0">
                <a:solidFill>
                  <a:srgbClr val="00B0F0"/>
                </a:solidFill>
              </a:rPr>
            </a:br>
            <a:endParaRPr lang="pt-BR" sz="2400" dirty="0">
              <a:solidFill>
                <a:srgbClr val="00B0F0"/>
              </a:solidFill>
            </a:endParaRPr>
          </a:p>
          <a:p>
            <a:r>
              <a:rPr lang="pt-BR" sz="2400" dirty="0"/>
              <a:t>É usado para retornar todos os elementos que estão presentes em qualquer uma das fontes de dados. Isso significa que ele </a:t>
            </a:r>
            <a:r>
              <a:rPr lang="pt-BR" sz="2400" dirty="0">
                <a:solidFill>
                  <a:srgbClr val="00B0F0"/>
                </a:solidFill>
              </a:rPr>
              <a:t>combina</a:t>
            </a:r>
            <a:r>
              <a:rPr lang="pt-BR" sz="2400" dirty="0"/>
              <a:t> os dados de ambas as fontes de dados e produz um único conjunto de resultados.</a:t>
            </a:r>
            <a:endParaRPr lang="pt-BR" sz="2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1772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6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353459" y="58466"/>
            <a:ext cx="9273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Distinct</a:t>
            </a:r>
            <a:r>
              <a:rPr lang="pt-BR" sz="2800" dirty="0">
                <a:solidFill>
                  <a:srgbClr val="00B0F0"/>
                </a:solidFill>
              </a:rPr>
              <a:t> / </a:t>
            </a:r>
            <a:r>
              <a:rPr lang="pt-BR" sz="2800" dirty="0" err="1">
                <a:solidFill>
                  <a:srgbClr val="00B0F0"/>
                </a:solidFill>
              </a:rPr>
              <a:t>DistinctBy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CAFD99-3994-AE9E-F675-28E8316B868F}"/>
              </a:ext>
            </a:extLst>
          </p:cNvPr>
          <p:cNvSpPr txBox="1"/>
          <p:nvPr/>
        </p:nvSpPr>
        <p:spPr>
          <a:xfrm>
            <a:off x="460333" y="1342281"/>
            <a:ext cx="10533477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400" dirty="0" err="1"/>
              <a:t>public</a:t>
            </a:r>
            <a:r>
              <a:rPr lang="pt-BR" sz="2400" dirty="0"/>
              <a:t> </a:t>
            </a:r>
            <a:r>
              <a:rPr lang="pt-BR" sz="2400" dirty="0" err="1"/>
              <a:t>static</a:t>
            </a:r>
            <a:r>
              <a:rPr lang="pt-BR" sz="2400" dirty="0"/>
              <a:t> </a:t>
            </a:r>
            <a:r>
              <a:rPr lang="pt-BR" sz="2400" dirty="0" err="1"/>
              <a:t>IEnumerable</a:t>
            </a:r>
            <a:r>
              <a:rPr lang="pt-BR" sz="2400" dirty="0"/>
              <a:t>&lt;T&gt; </a:t>
            </a:r>
            <a:r>
              <a:rPr lang="pt-BR" sz="2400" dirty="0" err="1"/>
              <a:t>Distinct</a:t>
            </a:r>
            <a:r>
              <a:rPr lang="pt-BR" sz="2400" dirty="0"/>
              <a:t>&lt;T&gt;(</a:t>
            </a:r>
            <a:r>
              <a:rPr lang="pt-BR" sz="2400" dirty="0" err="1"/>
              <a:t>this</a:t>
            </a:r>
            <a:r>
              <a:rPr lang="pt-BR" sz="2400" dirty="0"/>
              <a:t> </a:t>
            </a:r>
            <a:r>
              <a:rPr lang="pt-BR" sz="2400" dirty="0" err="1"/>
              <a:t>IEnumerable</a:t>
            </a:r>
            <a:r>
              <a:rPr lang="pt-BR" sz="2400" dirty="0"/>
              <a:t>&lt;T&gt; </a:t>
            </a:r>
            <a:r>
              <a:rPr lang="pt-BR" sz="2400" dirty="0" err="1"/>
              <a:t>source</a:t>
            </a:r>
            <a:r>
              <a:rPr lang="pt-BR" sz="2400" dirty="0"/>
              <a:t>);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AEEDB2-38CD-78BD-C889-A3645815F655}"/>
              </a:ext>
            </a:extLst>
          </p:cNvPr>
          <p:cNvSpPr txBox="1"/>
          <p:nvPr/>
        </p:nvSpPr>
        <p:spPr>
          <a:xfrm>
            <a:off x="460333" y="1964442"/>
            <a:ext cx="10533477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400" dirty="0" err="1"/>
              <a:t>public</a:t>
            </a:r>
            <a:r>
              <a:rPr lang="pt-BR" sz="2400" dirty="0"/>
              <a:t> </a:t>
            </a:r>
            <a:r>
              <a:rPr lang="pt-BR" sz="2400" dirty="0" err="1"/>
              <a:t>static</a:t>
            </a:r>
            <a:r>
              <a:rPr lang="pt-BR" sz="2400" dirty="0"/>
              <a:t> </a:t>
            </a:r>
            <a:r>
              <a:rPr lang="pt-BR" sz="2400" dirty="0" err="1"/>
              <a:t>IEnumerable</a:t>
            </a:r>
            <a:r>
              <a:rPr lang="pt-BR" sz="2400" dirty="0"/>
              <a:t>&lt;T&gt; </a:t>
            </a:r>
            <a:r>
              <a:rPr lang="pt-BR" sz="2400" dirty="0" err="1"/>
              <a:t>Distinct</a:t>
            </a:r>
            <a:r>
              <a:rPr lang="pt-BR" sz="2400" dirty="0"/>
              <a:t>&lt;T&gt;(</a:t>
            </a:r>
            <a:r>
              <a:rPr lang="pt-BR" sz="2400" dirty="0" err="1"/>
              <a:t>this</a:t>
            </a:r>
            <a:r>
              <a:rPr lang="pt-BR" sz="2400" dirty="0"/>
              <a:t> </a:t>
            </a:r>
            <a:r>
              <a:rPr lang="pt-BR" sz="2400" dirty="0" err="1"/>
              <a:t>IEnumerable</a:t>
            </a:r>
            <a:r>
              <a:rPr lang="pt-BR" sz="2400" dirty="0"/>
              <a:t>&lt;T&gt; </a:t>
            </a:r>
            <a:r>
              <a:rPr lang="pt-BR" sz="2400" dirty="0" err="1"/>
              <a:t>source</a:t>
            </a:r>
            <a:r>
              <a:rPr lang="pt-BR" sz="2400" dirty="0"/>
              <a:t>, </a:t>
            </a:r>
            <a:r>
              <a:rPr lang="pt-BR" sz="2400" dirty="0" err="1">
                <a:solidFill>
                  <a:srgbClr val="FFFF00"/>
                </a:solidFill>
              </a:rPr>
              <a:t>IEqualityComparer</a:t>
            </a:r>
            <a:r>
              <a:rPr lang="pt-BR" sz="2400" dirty="0">
                <a:solidFill>
                  <a:srgbClr val="FFFF00"/>
                </a:solidFill>
              </a:rPr>
              <a:t>&lt;T&gt; </a:t>
            </a:r>
            <a:r>
              <a:rPr lang="pt-BR" sz="2400" dirty="0" err="1">
                <a:solidFill>
                  <a:srgbClr val="FFFF00"/>
                </a:solidFill>
              </a:rPr>
              <a:t>comparer</a:t>
            </a:r>
            <a:r>
              <a:rPr lang="pt-BR" sz="2400" dirty="0"/>
              <a:t>);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81ABFC-091B-60B6-898D-03FEC15CF6A6}"/>
              </a:ext>
            </a:extLst>
          </p:cNvPr>
          <p:cNvSpPr txBox="1"/>
          <p:nvPr/>
        </p:nvSpPr>
        <p:spPr>
          <a:xfrm>
            <a:off x="353459" y="3823862"/>
            <a:ext cx="10533477" cy="193899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400" dirty="0" err="1"/>
              <a:t>public</a:t>
            </a:r>
            <a:r>
              <a:rPr lang="pt-BR" sz="2400" dirty="0"/>
              <a:t> </a:t>
            </a:r>
            <a:r>
              <a:rPr lang="pt-BR" sz="2400" dirty="0" err="1"/>
              <a:t>static</a:t>
            </a:r>
            <a:r>
              <a:rPr lang="pt-BR" sz="2400" dirty="0"/>
              <a:t> </a:t>
            </a:r>
            <a:r>
              <a:rPr lang="pt-BR" sz="2400" dirty="0" err="1"/>
              <a:t>IEnumerable</a:t>
            </a:r>
            <a:r>
              <a:rPr lang="pt-BR" sz="2400" dirty="0"/>
              <a:t>&lt;T&gt; </a:t>
            </a:r>
            <a:r>
              <a:rPr lang="pt-BR" sz="2400" dirty="0" err="1">
                <a:solidFill>
                  <a:srgbClr val="FFFF00"/>
                </a:solidFill>
              </a:rPr>
              <a:t>DistinctBy</a:t>
            </a:r>
            <a:r>
              <a:rPr lang="pt-BR" sz="2400" dirty="0"/>
              <a:t>&lt;T, Key&gt;(</a:t>
            </a:r>
            <a:r>
              <a:rPr lang="pt-BR" sz="2400" dirty="0" err="1"/>
              <a:t>this</a:t>
            </a:r>
            <a:r>
              <a:rPr lang="pt-BR" sz="2400" dirty="0"/>
              <a:t> </a:t>
            </a:r>
            <a:r>
              <a:rPr lang="pt-BR" sz="2400" dirty="0" err="1"/>
              <a:t>IEnumerable</a:t>
            </a:r>
            <a:r>
              <a:rPr lang="pt-BR" sz="2400" dirty="0"/>
              <a:t>&lt;T&gt; </a:t>
            </a:r>
            <a:r>
              <a:rPr lang="pt-BR" sz="2400" dirty="0" err="1"/>
              <a:t>source</a:t>
            </a:r>
            <a:r>
              <a:rPr lang="pt-BR" sz="2400" dirty="0"/>
              <a:t>, </a:t>
            </a:r>
            <a:r>
              <a:rPr lang="pt-BR" sz="2400" dirty="0" err="1">
                <a:solidFill>
                  <a:srgbClr val="FFFF00"/>
                </a:solidFill>
              </a:rPr>
              <a:t>Func</a:t>
            </a:r>
            <a:r>
              <a:rPr lang="pt-BR" sz="2400" dirty="0">
                <a:solidFill>
                  <a:srgbClr val="FFFF00"/>
                </a:solidFill>
              </a:rPr>
              <a:t>&lt;</a:t>
            </a:r>
            <a:r>
              <a:rPr lang="pt-BR" sz="2400" dirty="0" err="1">
                <a:solidFill>
                  <a:srgbClr val="FFFF00"/>
                </a:solidFill>
              </a:rPr>
              <a:t>T,Key</a:t>
            </a:r>
            <a:r>
              <a:rPr lang="pt-BR" sz="2400" dirty="0">
                <a:solidFill>
                  <a:srgbClr val="FFFF00"/>
                </a:solidFill>
              </a:rPr>
              <a:t>&gt; </a:t>
            </a:r>
            <a:r>
              <a:rPr lang="pt-BR" sz="2400" dirty="0" err="1">
                <a:solidFill>
                  <a:srgbClr val="FFFF00"/>
                </a:solidFill>
              </a:rPr>
              <a:t>property</a:t>
            </a:r>
            <a:r>
              <a:rPr lang="pt-BR" sz="2400" dirty="0">
                <a:solidFill>
                  <a:srgbClr val="FFFF00"/>
                </a:solidFill>
              </a:rPr>
              <a:t>)</a:t>
            </a:r>
            <a:br>
              <a:rPr lang="pt-BR" sz="2400" dirty="0">
                <a:solidFill>
                  <a:srgbClr val="FFFF00"/>
                </a:solidFill>
              </a:rPr>
            </a:br>
            <a:r>
              <a:rPr lang="pt-BR" sz="2400" dirty="0">
                <a:solidFill>
                  <a:srgbClr val="FFFF00"/>
                </a:solidFill>
              </a:rPr>
              <a:t>{</a:t>
            </a:r>
          </a:p>
          <a:p>
            <a:r>
              <a:rPr lang="pt-BR" sz="2400" dirty="0">
                <a:solidFill>
                  <a:srgbClr val="FFFF00"/>
                </a:solidFill>
              </a:rPr>
              <a:t>   </a:t>
            </a:r>
            <a:r>
              <a:rPr lang="pt-BR" sz="2400" dirty="0" err="1">
                <a:solidFill>
                  <a:srgbClr val="FFFF00"/>
                </a:solidFill>
              </a:rPr>
              <a:t>return</a:t>
            </a:r>
            <a:r>
              <a:rPr lang="pt-BR" sz="2400" dirty="0">
                <a:solidFill>
                  <a:srgbClr val="FFFF00"/>
                </a:solidFill>
              </a:rPr>
              <a:t> </a:t>
            </a:r>
            <a:r>
              <a:rPr lang="pt-BR" sz="2400" dirty="0" err="1">
                <a:solidFill>
                  <a:srgbClr val="FFFF00"/>
                </a:solidFill>
              </a:rPr>
              <a:t>source.GroupBy</a:t>
            </a:r>
            <a:r>
              <a:rPr lang="pt-BR" sz="2400" dirty="0">
                <a:solidFill>
                  <a:srgbClr val="FFFF00"/>
                </a:solidFill>
              </a:rPr>
              <a:t>(</a:t>
            </a:r>
            <a:r>
              <a:rPr lang="pt-BR" sz="2400" dirty="0" err="1">
                <a:solidFill>
                  <a:srgbClr val="FFFF00"/>
                </a:solidFill>
              </a:rPr>
              <a:t>property</a:t>
            </a:r>
            <a:r>
              <a:rPr lang="pt-BR" sz="2400" dirty="0">
                <a:solidFill>
                  <a:srgbClr val="FFFF00"/>
                </a:solidFill>
              </a:rPr>
              <a:t>).</a:t>
            </a:r>
            <a:r>
              <a:rPr lang="pt-BR" sz="2400" dirty="0" err="1">
                <a:solidFill>
                  <a:srgbClr val="FFFF00"/>
                </a:solidFill>
              </a:rPr>
              <a:t>Select</a:t>
            </a:r>
            <a:r>
              <a:rPr lang="pt-BR" sz="2400" dirty="0">
                <a:solidFill>
                  <a:srgbClr val="FFFF00"/>
                </a:solidFill>
              </a:rPr>
              <a:t>(x=&gt; </a:t>
            </a:r>
            <a:r>
              <a:rPr lang="pt-BR" sz="2400" dirty="0" err="1">
                <a:solidFill>
                  <a:srgbClr val="FFFF00"/>
                </a:solidFill>
              </a:rPr>
              <a:t>x.First</a:t>
            </a:r>
            <a:r>
              <a:rPr lang="pt-BR" sz="2400" dirty="0">
                <a:solidFill>
                  <a:srgbClr val="FFFF00"/>
                </a:solidFill>
              </a:rPr>
              <a:t>());</a:t>
            </a:r>
            <a:br>
              <a:rPr lang="pt-BR" sz="2400" dirty="0">
                <a:solidFill>
                  <a:srgbClr val="FFFF00"/>
                </a:solidFill>
              </a:rPr>
            </a:br>
            <a:r>
              <a:rPr lang="pt-BR" sz="2400" dirty="0">
                <a:solidFill>
                  <a:srgbClr val="FFFF00"/>
                </a:solidFill>
              </a:rPr>
              <a:t>}</a:t>
            </a:r>
            <a:r>
              <a:rPr lang="pt-BR" sz="2400" dirty="0"/>
              <a:t> </a:t>
            </a:r>
            <a:endParaRPr lang="pt-BR" sz="2400" dirty="0">
              <a:solidFill>
                <a:srgbClr val="FFFF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7650DF-5120-84C8-45F1-BDDF03C10519}"/>
              </a:ext>
            </a:extLst>
          </p:cNvPr>
          <p:cNvSpPr txBox="1"/>
          <p:nvPr/>
        </p:nvSpPr>
        <p:spPr>
          <a:xfrm>
            <a:off x="460333" y="822944"/>
            <a:ext cx="266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rgbClr val="00B0F0"/>
                </a:solidFill>
              </a:rPr>
              <a:t>Distinct</a:t>
            </a:r>
            <a:endParaRPr lang="pt-BR" sz="2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433FE7-C989-674D-8307-946BA8529B55}"/>
              </a:ext>
            </a:extLst>
          </p:cNvPr>
          <p:cNvSpPr txBox="1"/>
          <p:nvPr/>
        </p:nvSpPr>
        <p:spPr>
          <a:xfrm>
            <a:off x="353459" y="3235238"/>
            <a:ext cx="266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rgbClr val="00B0F0"/>
                </a:solidFill>
              </a:rPr>
              <a:t>DistinctBy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3416140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2" grpId="0" animBg="1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Distinct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A3BB08-4208-3BCF-D4BA-FA7F89201493}"/>
              </a:ext>
            </a:extLst>
          </p:cNvPr>
          <p:cNvSpPr txBox="1"/>
          <p:nvPr/>
        </p:nvSpPr>
        <p:spPr>
          <a:xfrm>
            <a:off x="452161" y="1067460"/>
            <a:ext cx="11287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var </a:t>
            </a:r>
            <a:r>
              <a:rPr lang="en-US" sz="2800" dirty="0" err="1"/>
              <a:t>idades</a:t>
            </a:r>
            <a:r>
              <a:rPr lang="en-US" sz="2800" dirty="0"/>
              <a:t> = new[ ] { 30, 33, 35, 36, 40, 30, 33, 36, 30, 40 };</a:t>
            </a:r>
            <a:endParaRPr lang="pt-BR" sz="2800" dirty="0">
              <a:solidFill>
                <a:srgbClr val="FFC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ED0C9B-7913-9D68-6F0F-A658E5FDC696}"/>
              </a:ext>
            </a:extLst>
          </p:cNvPr>
          <p:cNvSpPr txBox="1"/>
          <p:nvPr/>
        </p:nvSpPr>
        <p:spPr>
          <a:xfrm>
            <a:off x="452161" y="3521572"/>
            <a:ext cx="82557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foreach</a:t>
            </a:r>
            <a:r>
              <a:rPr lang="pt-BR" sz="2800" dirty="0"/>
              <a:t> (var idade in </a:t>
            </a:r>
            <a:r>
              <a:rPr lang="pt-BR" sz="2800" dirty="0" err="1"/>
              <a:t>idadesDistintas</a:t>
            </a:r>
            <a:r>
              <a:rPr lang="pt-BR" sz="2800" dirty="0"/>
              <a:t>)</a:t>
            </a:r>
          </a:p>
          <a:p>
            <a:r>
              <a:rPr lang="pt-BR" sz="2800" dirty="0"/>
              <a:t>{</a:t>
            </a:r>
          </a:p>
          <a:p>
            <a:r>
              <a:rPr lang="pt-BR" sz="2800" dirty="0"/>
              <a:t>    </a:t>
            </a:r>
            <a:r>
              <a:rPr lang="pt-BR" sz="2800" dirty="0" err="1"/>
              <a:t>Console.Write</a:t>
            </a:r>
            <a:r>
              <a:rPr lang="pt-BR" sz="2800" dirty="0"/>
              <a:t>($"{idade} ");</a:t>
            </a:r>
          </a:p>
          <a:p>
            <a:r>
              <a:rPr lang="pt-BR" sz="2800" dirty="0"/>
              <a:t>}</a:t>
            </a:r>
          </a:p>
        </p:txBody>
      </p:sp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D0101A8D-F27A-4069-0AFD-077529916FF1}"/>
              </a:ext>
            </a:extLst>
          </p:cNvPr>
          <p:cNvSpPr/>
          <p:nvPr/>
        </p:nvSpPr>
        <p:spPr>
          <a:xfrm>
            <a:off x="5186736" y="4282306"/>
            <a:ext cx="1222625" cy="6447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CDC77A0-A6E8-B103-6DB5-39215071C7BF}"/>
              </a:ext>
            </a:extLst>
          </p:cNvPr>
          <p:cNvSpPr txBox="1"/>
          <p:nvPr/>
        </p:nvSpPr>
        <p:spPr>
          <a:xfrm>
            <a:off x="6428100" y="4329942"/>
            <a:ext cx="2753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rgbClr val="00B0F0"/>
                </a:solidFill>
              </a:rPr>
              <a:t>30 33 35 36 40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7450881-747B-5850-B8F9-B37109B80A9C}"/>
              </a:ext>
            </a:extLst>
          </p:cNvPr>
          <p:cNvSpPr txBox="1"/>
          <p:nvPr/>
        </p:nvSpPr>
        <p:spPr>
          <a:xfrm>
            <a:off x="452161" y="1884044"/>
            <a:ext cx="77353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var </a:t>
            </a:r>
            <a:r>
              <a:rPr lang="pt-BR" sz="2800" dirty="0" err="1"/>
              <a:t>idadesDistintas</a:t>
            </a:r>
            <a:r>
              <a:rPr lang="pt-BR" sz="2800" dirty="0"/>
              <a:t> = </a:t>
            </a:r>
            <a:r>
              <a:rPr lang="pt-BR" sz="2800" dirty="0" err="1"/>
              <a:t>idades.</a:t>
            </a:r>
            <a:r>
              <a:rPr lang="pt-BR" sz="2800" dirty="0" err="1">
                <a:solidFill>
                  <a:srgbClr val="FFFF00"/>
                </a:solidFill>
              </a:rPr>
              <a:t>Distinct</a:t>
            </a:r>
            <a:r>
              <a:rPr lang="pt-BR" sz="2800" dirty="0">
                <a:solidFill>
                  <a:srgbClr val="FFFF00"/>
                </a:solidFill>
              </a:rPr>
              <a:t>()</a:t>
            </a:r>
            <a:r>
              <a:rPr lang="pt-BR" sz="2800" dirty="0"/>
              <a:t>.</a:t>
            </a:r>
            <a:r>
              <a:rPr lang="pt-BR" sz="2800" dirty="0" err="1"/>
              <a:t>ToArray</a:t>
            </a:r>
            <a:r>
              <a:rPr lang="pt-BR" sz="2800" dirty="0"/>
              <a:t>();</a:t>
            </a:r>
          </a:p>
          <a:p>
            <a:r>
              <a:rPr lang="pt-BR" sz="2800" dirty="0"/>
              <a:t>var </a:t>
            </a:r>
            <a:r>
              <a:rPr lang="pt-BR" sz="2800" dirty="0" err="1"/>
              <a:t>idadesDistintas</a:t>
            </a:r>
            <a:r>
              <a:rPr lang="pt-BR" sz="2800" dirty="0"/>
              <a:t> = </a:t>
            </a:r>
            <a:r>
              <a:rPr lang="pt-BR" sz="2800" dirty="0" err="1"/>
              <a:t>idades.</a:t>
            </a:r>
            <a:r>
              <a:rPr lang="pt-BR" sz="2800" dirty="0" err="1">
                <a:solidFill>
                  <a:srgbClr val="FFFF00"/>
                </a:solidFill>
              </a:rPr>
              <a:t>Distinct</a:t>
            </a:r>
            <a:r>
              <a:rPr lang="pt-BR" sz="2800" dirty="0">
                <a:solidFill>
                  <a:srgbClr val="FFFF00"/>
                </a:solidFill>
              </a:rPr>
              <a:t>()</a:t>
            </a:r>
            <a:r>
              <a:rPr lang="pt-BR" sz="2800" dirty="0"/>
              <a:t>.</a:t>
            </a:r>
            <a:r>
              <a:rPr lang="pt-BR" sz="2800" dirty="0" err="1"/>
              <a:t>ToList</a:t>
            </a:r>
            <a:r>
              <a:rPr lang="pt-BR" sz="2800" dirty="0"/>
              <a:t>();</a:t>
            </a:r>
          </a:p>
          <a:p>
            <a:r>
              <a:rPr lang="pt-BR" sz="2800" dirty="0"/>
              <a:t>var </a:t>
            </a:r>
            <a:r>
              <a:rPr lang="pt-BR" sz="2800" dirty="0" err="1"/>
              <a:t>idadesDistintas</a:t>
            </a:r>
            <a:r>
              <a:rPr lang="pt-BR" sz="2800" dirty="0"/>
              <a:t> = </a:t>
            </a:r>
            <a:r>
              <a:rPr lang="pt-BR" sz="2800" dirty="0" err="1"/>
              <a:t>idades.</a:t>
            </a:r>
            <a:r>
              <a:rPr lang="pt-BR" sz="2800" dirty="0" err="1">
                <a:solidFill>
                  <a:srgbClr val="FFFF00"/>
                </a:solidFill>
              </a:rPr>
              <a:t>Distinct</a:t>
            </a:r>
            <a:r>
              <a:rPr lang="pt-BR" sz="2800" dirty="0">
                <a:solidFill>
                  <a:srgbClr val="FFFF00"/>
                </a:solidFill>
              </a:rPr>
              <a:t>();</a:t>
            </a:r>
            <a:endParaRPr lang="pt-BR" sz="28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295989-6ED0-30E0-B8F3-4069F247525D}"/>
              </a:ext>
            </a:extLst>
          </p:cNvPr>
          <p:cNvSpPr txBox="1"/>
          <p:nvPr/>
        </p:nvSpPr>
        <p:spPr>
          <a:xfrm>
            <a:off x="6428100" y="5568078"/>
            <a:ext cx="5116530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var result = (from num in </a:t>
            </a:r>
            <a:r>
              <a:rPr lang="en-US" sz="2400" b="1" dirty="0" err="1"/>
              <a:t>idades</a:t>
            </a:r>
            <a:endParaRPr lang="en-US" sz="2400" b="1" dirty="0"/>
          </a:p>
          <a:p>
            <a:r>
              <a:rPr lang="en-US" sz="2400" b="1" dirty="0"/>
              <a:t>                    select num).</a:t>
            </a:r>
            <a:r>
              <a:rPr lang="en-US" sz="2400" b="1" dirty="0">
                <a:solidFill>
                  <a:srgbClr val="002060"/>
                </a:solidFill>
              </a:rPr>
              <a:t>Distinct</a:t>
            </a:r>
            <a:r>
              <a:rPr lang="en-US" sz="2400" b="1" dirty="0"/>
              <a:t>();</a:t>
            </a:r>
            <a:endParaRPr lang="pt-BR" sz="24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11C1DB9-4DEF-701B-26B4-AB9556C08B72}"/>
              </a:ext>
            </a:extLst>
          </p:cNvPr>
          <p:cNvSpPr txBox="1"/>
          <p:nvPr/>
        </p:nvSpPr>
        <p:spPr>
          <a:xfrm>
            <a:off x="6409361" y="5081011"/>
            <a:ext cx="3328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Sintaxe de Consulta</a:t>
            </a:r>
          </a:p>
        </p:txBody>
      </p:sp>
    </p:spTree>
    <p:extLst>
      <p:ext uri="{BB962C8B-B14F-4D97-AF65-F5344CB8AC3E}">
        <p14:creationId xmlns:p14="http://schemas.microsoft.com/office/powerpoint/2010/main" val="8644360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3" grpId="0" animBg="1"/>
      <p:bldP spid="4" grpId="0"/>
      <p:bldP spid="7" grpId="0"/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8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Distinct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A3BB08-4208-3BCF-D4BA-FA7F89201493}"/>
              </a:ext>
            </a:extLst>
          </p:cNvPr>
          <p:cNvSpPr txBox="1"/>
          <p:nvPr/>
        </p:nvSpPr>
        <p:spPr>
          <a:xfrm>
            <a:off x="380242" y="882526"/>
            <a:ext cx="11188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string[] </a:t>
            </a:r>
            <a:r>
              <a:rPr lang="en-US" sz="2400" dirty="0" err="1"/>
              <a:t>nomes</a:t>
            </a:r>
            <a:r>
              <a:rPr lang="en-US" sz="2400" dirty="0"/>
              <a:t> = {"Paulo", "MARIA", "</a:t>
            </a:r>
            <a:r>
              <a:rPr lang="en-US" sz="2400" dirty="0" err="1"/>
              <a:t>paulo</a:t>
            </a:r>
            <a:r>
              <a:rPr lang="en-US" sz="2400" dirty="0"/>
              <a:t>", "Amanda", "maria", “</a:t>
            </a:r>
            <a:r>
              <a:rPr lang="en-US" sz="2400" dirty="0" err="1"/>
              <a:t>amanda</a:t>
            </a:r>
            <a:r>
              <a:rPr lang="en-US" sz="2400" dirty="0"/>
              <a:t>" };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ED0C9B-7913-9D68-6F0F-A658E5FDC696}"/>
              </a:ext>
            </a:extLst>
          </p:cNvPr>
          <p:cNvSpPr txBox="1"/>
          <p:nvPr/>
        </p:nvSpPr>
        <p:spPr>
          <a:xfrm>
            <a:off x="503532" y="2521059"/>
            <a:ext cx="65521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foreach</a:t>
            </a:r>
            <a:r>
              <a:rPr lang="pt-BR" sz="2800" dirty="0"/>
              <a:t> (var nome in </a:t>
            </a:r>
            <a:r>
              <a:rPr lang="pt-BR" sz="2800" dirty="0" err="1"/>
              <a:t>nomesDistintos</a:t>
            </a:r>
            <a:r>
              <a:rPr lang="pt-BR" sz="2800" dirty="0"/>
              <a:t>)</a:t>
            </a:r>
          </a:p>
          <a:p>
            <a:r>
              <a:rPr lang="pt-BR" sz="2800" dirty="0"/>
              <a:t>{</a:t>
            </a:r>
          </a:p>
          <a:p>
            <a:r>
              <a:rPr lang="pt-BR" sz="2800" dirty="0"/>
              <a:t>    </a:t>
            </a:r>
            <a:r>
              <a:rPr lang="pt-BR" sz="2800" dirty="0" err="1"/>
              <a:t>Console.Write</a:t>
            </a:r>
            <a:r>
              <a:rPr lang="pt-BR" sz="2800" dirty="0"/>
              <a:t>($"{nome} ");</a:t>
            </a:r>
          </a:p>
          <a:p>
            <a:r>
              <a:rPr lang="pt-BR" sz="2800" dirty="0"/>
              <a:t>}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B55BFC2-AB7A-2E2C-60E0-B9C7AFFB96FE}"/>
              </a:ext>
            </a:extLst>
          </p:cNvPr>
          <p:cNvSpPr txBox="1"/>
          <p:nvPr/>
        </p:nvSpPr>
        <p:spPr>
          <a:xfrm>
            <a:off x="380242" y="1708348"/>
            <a:ext cx="11188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  <a:r>
              <a:rPr lang="pt-BR" sz="2400" dirty="0"/>
              <a:t>var </a:t>
            </a:r>
            <a:r>
              <a:rPr lang="pt-BR" sz="2400" dirty="0" err="1"/>
              <a:t>nomesDistintos</a:t>
            </a:r>
            <a:r>
              <a:rPr lang="pt-BR" sz="2400" dirty="0"/>
              <a:t> = </a:t>
            </a:r>
            <a:r>
              <a:rPr lang="pt-BR" sz="2400" dirty="0" err="1"/>
              <a:t>nomes.</a:t>
            </a:r>
            <a:r>
              <a:rPr lang="pt-BR" sz="2400" dirty="0" err="1">
                <a:solidFill>
                  <a:srgbClr val="FFFF00"/>
                </a:solidFill>
              </a:rPr>
              <a:t>Distinct</a:t>
            </a:r>
            <a:r>
              <a:rPr lang="pt-BR" sz="2400" dirty="0">
                <a:solidFill>
                  <a:srgbClr val="FFFF00"/>
                </a:solidFill>
              </a:rPr>
              <a:t>()</a:t>
            </a:r>
            <a:r>
              <a:rPr lang="pt-BR" sz="2400" dirty="0"/>
              <a:t>;</a:t>
            </a:r>
            <a:endParaRPr lang="en-US" sz="24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9C0E504-F166-65DE-AE55-C71F5DC74171}"/>
              </a:ext>
            </a:extLst>
          </p:cNvPr>
          <p:cNvSpPr txBox="1"/>
          <p:nvPr/>
        </p:nvSpPr>
        <p:spPr>
          <a:xfrm>
            <a:off x="3589876" y="4605150"/>
            <a:ext cx="8149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Paulo, MARIA, </a:t>
            </a:r>
            <a:r>
              <a:rPr lang="en-US" sz="2800" dirty="0" err="1"/>
              <a:t>paulo</a:t>
            </a:r>
            <a:r>
              <a:rPr lang="en-US" sz="2800" dirty="0"/>
              <a:t>, Amanda, maria , </a:t>
            </a:r>
            <a:r>
              <a:rPr lang="en-US" sz="2800" dirty="0" err="1"/>
              <a:t>amanda</a:t>
            </a:r>
            <a:endParaRPr lang="pt-BR" sz="2800" dirty="0">
              <a:solidFill>
                <a:srgbClr val="00B0F0"/>
              </a:solidFill>
            </a:endParaRP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796073B4-1D6C-E452-AA0F-4BA36E586AA3}"/>
              </a:ext>
            </a:extLst>
          </p:cNvPr>
          <p:cNvCxnSpPr/>
          <p:nvPr/>
        </p:nvCxnSpPr>
        <p:spPr>
          <a:xfrm>
            <a:off x="1742303" y="3917092"/>
            <a:ext cx="1668162" cy="951470"/>
          </a:xfrm>
          <a:prstGeom prst="bentConnector3">
            <a:avLst>
              <a:gd name="adj1" fmla="val -370"/>
            </a:avLst>
          </a:prstGeom>
          <a:ln w="1143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4683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1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9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Distinct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A3BB08-4208-3BCF-D4BA-FA7F89201493}"/>
              </a:ext>
            </a:extLst>
          </p:cNvPr>
          <p:cNvSpPr txBox="1"/>
          <p:nvPr/>
        </p:nvSpPr>
        <p:spPr>
          <a:xfrm>
            <a:off x="380242" y="882526"/>
            <a:ext cx="11188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string[] </a:t>
            </a:r>
            <a:r>
              <a:rPr lang="en-US" sz="2400" dirty="0" err="1"/>
              <a:t>nomes</a:t>
            </a:r>
            <a:r>
              <a:rPr lang="en-US" sz="2400" dirty="0"/>
              <a:t> = { “Paulo", “MARIA", “</a:t>
            </a:r>
            <a:r>
              <a:rPr lang="en-US" sz="2400" dirty="0" err="1"/>
              <a:t>paulo</a:t>
            </a:r>
            <a:r>
              <a:rPr lang="en-US" sz="2400" dirty="0"/>
              <a:t>", "Amanda",  “maria”, “Amanda" };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ED0C9B-7913-9D68-6F0F-A658E5FDC696}"/>
              </a:ext>
            </a:extLst>
          </p:cNvPr>
          <p:cNvSpPr txBox="1"/>
          <p:nvPr/>
        </p:nvSpPr>
        <p:spPr>
          <a:xfrm>
            <a:off x="503532" y="2521059"/>
            <a:ext cx="82557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foreach</a:t>
            </a:r>
            <a:r>
              <a:rPr lang="pt-BR" sz="2800" dirty="0"/>
              <a:t> (var nome in </a:t>
            </a:r>
            <a:r>
              <a:rPr lang="pt-BR" sz="2800" dirty="0" err="1"/>
              <a:t>nomesDistintos</a:t>
            </a:r>
            <a:r>
              <a:rPr lang="pt-BR" sz="2800" dirty="0"/>
              <a:t>)</a:t>
            </a:r>
          </a:p>
          <a:p>
            <a:r>
              <a:rPr lang="pt-BR" sz="2800" dirty="0"/>
              <a:t>{</a:t>
            </a:r>
          </a:p>
          <a:p>
            <a:r>
              <a:rPr lang="pt-BR" sz="2800" dirty="0"/>
              <a:t>    </a:t>
            </a:r>
            <a:r>
              <a:rPr lang="pt-BR" sz="2800" dirty="0" err="1"/>
              <a:t>Console.Write</a:t>
            </a:r>
            <a:r>
              <a:rPr lang="pt-BR" sz="2800" dirty="0"/>
              <a:t>($"{nome} ");</a:t>
            </a:r>
          </a:p>
          <a:p>
            <a:r>
              <a:rPr lang="pt-BR" sz="2800" dirty="0"/>
              <a:t>}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DA0D202-E7CB-55C6-87EB-CDA123FF8B1E}"/>
              </a:ext>
            </a:extLst>
          </p:cNvPr>
          <p:cNvSpPr txBox="1"/>
          <p:nvPr/>
        </p:nvSpPr>
        <p:spPr>
          <a:xfrm>
            <a:off x="380242" y="1701792"/>
            <a:ext cx="11188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 var </a:t>
            </a:r>
            <a:r>
              <a:rPr lang="pt-BR" sz="2400" dirty="0" err="1"/>
              <a:t>nomesDistintos</a:t>
            </a:r>
            <a:r>
              <a:rPr lang="pt-BR" sz="2400" dirty="0"/>
              <a:t> = </a:t>
            </a:r>
            <a:r>
              <a:rPr lang="pt-BR" sz="2400" dirty="0" err="1"/>
              <a:t>nomes.</a:t>
            </a:r>
            <a:r>
              <a:rPr lang="pt-BR" sz="2400" dirty="0" err="1">
                <a:solidFill>
                  <a:srgbClr val="FFFF00"/>
                </a:solidFill>
              </a:rPr>
              <a:t>Distinct</a:t>
            </a:r>
            <a:r>
              <a:rPr lang="pt-BR" sz="2400" dirty="0"/>
              <a:t>(</a:t>
            </a:r>
            <a:r>
              <a:rPr lang="pt-BR" sz="2400" dirty="0" err="1">
                <a:solidFill>
                  <a:srgbClr val="00B0F0"/>
                </a:solidFill>
              </a:rPr>
              <a:t>StringComparer.OrdinalIgnoreCase</a:t>
            </a:r>
            <a:r>
              <a:rPr lang="pt-BR" sz="2400" dirty="0"/>
              <a:t>);</a:t>
            </a:r>
            <a:endParaRPr lang="en-US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911452-D892-7EFC-2CFC-FDDB1EF2B49B}"/>
              </a:ext>
            </a:extLst>
          </p:cNvPr>
          <p:cNvSpPr txBox="1"/>
          <p:nvPr/>
        </p:nvSpPr>
        <p:spPr>
          <a:xfrm>
            <a:off x="3589876" y="4605150"/>
            <a:ext cx="3935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Paulo, MARIA, Amanda</a:t>
            </a:r>
            <a:endParaRPr lang="pt-BR" sz="2800" dirty="0">
              <a:solidFill>
                <a:srgbClr val="00B0F0"/>
              </a:solidFill>
            </a:endParaRPr>
          </a:p>
        </p:txBody>
      </p:sp>
      <p:cxnSp>
        <p:nvCxnSpPr>
          <p:cNvPr id="4" name="Conector: Angulado 3">
            <a:extLst>
              <a:ext uri="{FF2B5EF4-FFF2-40B4-BE49-F238E27FC236}">
                <a16:creationId xmlns:a16="http://schemas.microsoft.com/office/drawing/2014/main" id="{2B596036-EE21-6728-402F-45EF4856F0C3}"/>
              </a:ext>
            </a:extLst>
          </p:cNvPr>
          <p:cNvCxnSpPr/>
          <p:nvPr/>
        </p:nvCxnSpPr>
        <p:spPr>
          <a:xfrm>
            <a:off x="1742303" y="3917092"/>
            <a:ext cx="1668162" cy="951470"/>
          </a:xfrm>
          <a:prstGeom prst="bentConnector3">
            <a:avLst>
              <a:gd name="adj1" fmla="val -370"/>
            </a:avLst>
          </a:prstGeom>
          <a:ln w="1143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10A209D9-35BE-0E83-B15D-04EAD7894C93}"/>
              </a:ext>
            </a:extLst>
          </p:cNvPr>
          <p:cNvSpPr txBox="1"/>
          <p:nvPr/>
        </p:nvSpPr>
        <p:spPr>
          <a:xfrm>
            <a:off x="7664397" y="2641022"/>
            <a:ext cx="4118094" cy="1200329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rtlCol="0">
            <a:spAutoFit/>
          </a:bodyPr>
          <a:lstStyle/>
          <a:p>
            <a:r>
              <a:rPr lang="pt-BR" sz="2400" dirty="0"/>
              <a:t>Versão sobrecarregada que usa </a:t>
            </a:r>
            <a:r>
              <a:rPr lang="pt-BR" sz="2400" dirty="0" err="1">
                <a:solidFill>
                  <a:srgbClr val="00B0F0"/>
                </a:solidFill>
              </a:rPr>
              <a:t>IEqualityComparer</a:t>
            </a:r>
            <a:r>
              <a:rPr lang="pt-BR" sz="2400" dirty="0"/>
              <a:t> como argumento. 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D847DA8-A4CE-3E15-0C7F-35D5F03B8AB5}"/>
              </a:ext>
            </a:extLst>
          </p:cNvPr>
          <p:cNvCxnSpPr>
            <a:cxnSpLocks/>
          </p:cNvCxnSpPr>
          <p:nvPr/>
        </p:nvCxnSpPr>
        <p:spPr>
          <a:xfrm>
            <a:off x="4819135" y="2075935"/>
            <a:ext cx="2845262" cy="11503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2540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10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Except</a:t>
            </a:r>
            <a:r>
              <a:rPr lang="pt-BR" sz="2800" dirty="0">
                <a:solidFill>
                  <a:srgbClr val="00B0F0"/>
                </a:solidFill>
              </a:rPr>
              <a:t> / </a:t>
            </a:r>
            <a:r>
              <a:rPr lang="pt-BR" sz="2800" dirty="0" err="1">
                <a:solidFill>
                  <a:srgbClr val="00B0F0"/>
                </a:solidFill>
              </a:rPr>
              <a:t>ExceptBy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0F199FB-0E0D-8EA5-8D4E-1D46E87F6F43}"/>
              </a:ext>
            </a:extLst>
          </p:cNvPr>
          <p:cNvSpPr txBox="1"/>
          <p:nvPr/>
        </p:nvSpPr>
        <p:spPr>
          <a:xfrm>
            <a:off x="223049" y="807037"/>
            <a:ext cx="115687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Usado para retornar os elementos que estão presentes na </a:t>
            </a:r>
            <a:r>
              <a:rPr lang="pt-BR" sz="2800" dirty="0">
                <a:solidFill>
                  <a:srgbClr val="FFFF00"/>
                </a:solidFill>
              </a:rPr>
              <a:t>primeira fonte de dados</a:t>
            </a:r>
            <a:r>
              <a:rPr lang="pt-BR" sz="2800" dirty="0"/>
              <a:t>, mas </a:t>
            </a:r>
            <a:r>
              <a:rPr lang="pt-BR" sz="2800" dirty="0">
                <a:solidFill>
                  <a:srgbClr val="00B050"/>
                </a:solidFill>
              </a:rPr>
              <a:t>não</a:t>
            </a:r>
            <a:r>
              <a:rPr lang="pt-BR" sz="2800" dirty="0"/>
              <a:t> na </a:t>
            </a:r>
            <a:r>
              <a:rPr lang="pt-BR" sz="2800" dirty="0">
                <a:solidFill>
                  <a:srgbClr val="00B0F0"/>
                </a:solidFill>
              </a:rPr>
              <a:t>segunda fonte de dados</a:t>
            </a:r>
            <a:r>
              <a:rPr lang="pt-BR" sz="2800" dirty="0">
                <a:solidFill>
                  <a:srgbClr val="0070C0"/>
                </a:solidFill>
              </a:rPr>
              <a:t>.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2AE124A-3E1C-EDC3-5E0A-3C4172CCBEC2}"/>
              </a:ext>
            </a:extLst>
          </p:cNvPr>
          <p:cNvSpPr txBox="1"/>
          <p:nvPr/>
        </p:nvSpPr>
        <p:spPr>
          <a:xfrm>
            <a:off x="2187563" y="2201013"/>
            <a:ext cx="287912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1 2 3 4 5 6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65B2B0E-CFAF-7C20-0E04-11A1102E3C9A}"/>
              </a:ext>
            </a:extLst>
          </p:cNvPr>
          <p:cNvSpPr txBox="1"/>
          <p:nvPr/>
        </p:nvSpPr>
        <p:spPr>
          <a:xfrm>
            <a:off x="2187563" y="3090699"/>
            <a:ext cx="287912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1 3 5 8 9 10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A8D1725F-5746-10F4-5D36-F42AA2A2C4BE}"/>
              </a:ext>
            </a:extLst>
          </p:cNvPr>
          <p:cNvSpPr/>
          <p:nvPr/>
        </p:nvSpPr>
        <p:spPr>
          <a:xfrm>
            <a:off x="5412676" y="2493399"/>
            <a:ext cx="1890584" cy="11224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 err="1">
                <a:solidFill>
                  <a:schemeClr val="bg1"/>
                </a:solidFill>
              </a:rPr>
              <a:t>Except</a:t>
            </a:r>
            <a:endParaRPr lang="pt-BR" sz="2400" b="1" dirty="0">
              <a:solidFill>
                <a:schemeClr val="bg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AFE8B0D-1482-D8F1-BAE5-651967E6A9AB}"/>
              </a:ext>
            </a:extLst>
          </p:cNvPr>
          <p:cNvSpPr txBox="1"/>
          <p:nvPr/>
        </p:nvSpPr>
        <p:spPr>
          <a:xfrm>
            <a:off x="7582328" y="2756681"/>
            <a:ext cx="147045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 2  4  6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287795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1C8B19C-3B57-6B4A-F782-F37B39BBBD3F}"/>
              </a:ext>
            </a:extLst>
          </p:cNvPr>
          <p:cNvSpPr txBox="1"/>
          <p:nvPr/>
        </p:nvSpPr>
        <p:spPr>
          <a:xfrm>
            <a:off x="357591" y="4630362"/>
            <a:ext cx="10533477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/>
              <a:t>public</a:t>
            </a:r>
            <a:r>
              <a:rPr lang="pt-BR" sz="2000" dirty="0"/>
              <a:t> </a:t>
            </a:r>
            <a:r>
              <a:rPr lang="pt-BR" sz="2000" dirty="0" err="1"/>
              <a:t>static</a:t>
            </a:r>
            <a:r>
              <a:rPr lang="pt-BR" sz="2000" dirty="0"/>
              <a:t> </a:t>
            </a:r>
            <a:r>
              <a:rPr lang="pt-BR" sz="2000" dirty="0" err="1"/>
              <a:t>IEnumerable</a:t>
            </a:r>
            <a:r>
              <a:rPr lang="pt-BR" sz="2000" dirty="0"/>
              <a:t>&lt;T&gt; </a:t>
            </a:r>
            <a:r>
              <a:rPr lang="pt-BR" sz="2000" dirty="0" err="1"/>
              <a:t>Except</a:t>
            </a:r>
            <a:r>
              <a:rPr lang="pt-BR" sz="2000" dirty="0"/>
              <a:t>&lt;T&gt;(</a:t>
            </a:r>
            <a:r>
              <a:rPr lang="pt-BR" sz="2000" dirty="0" err="1"/>
              <a:t>this</a:t>
            </a:r>
            <a:r>
              <a:rPr lang="pt-BR" sz="2000" dirty="0"/>
              <a:t> </a:t>
            </a:r>
            <a:r>
              <a:rPr lang="pt-BR" sz="2000" dirty="0" err="1"/>
              <a:t>IEnumerable</a:t>
            </a:r>
            <a:r>
              <a:rPr lang="pt-BR" sz="2000" dirty="0"/>
              <a:t>&lt;T&gt; </a:t>
            </a:r>
            <a:r>
              <a:rPr lang="pt-BR" sz="2000" dirty="0" err="1"/>
              <a:t>first</a:t>
            </a:r>
            <a:r>
              <a:rPr lang="pt-BR" sz="2000" dirty="0"/>
              <a:t>, </a:t>
            </a:r>
            <a:r>
              <a:rPr lang="pt-BR" sz="2000" dirty="0" err="1"/>
              <a:t>IEnumerable</a:t>
            </a:r>
            <a:r>
              <a:rPr lang="pt-BR" sz="2000" dirty="0"/>
              <a:t>&lt;T&gt; </a:t>
            </a:r>
            <a:r>
              <a:rPr lang="pt-BR" sz="2000" dirty="0" err="1"/>
              <a:t>second</a:t>
            </a:r>
            <a:r>
              <a:rPr lang="pt-BR" sz="2000" dirty="0"/>
              <a:t> );</a:t>
            </a:r>
            <a:endParaRPr lang="pt-BR" sz="2000" dirty="0">
              <a:solidFill>
                <a:srgbClr val="FFFF0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70B1E02-817C-DABD-5208-FD8A0E7B4DE0}"/>
              </a:ext>
            </a:extLst>
          </p:cNvPr>
          <p:cNvSpPr txBox="1"/>
          <p:nvPr/>
        </p:nvSpPr>
        <p:spPr>
          <a:xfrm>
            <a:off x="357591" y="5252523"/>
            <a:ext cx="10533477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/>
              <a:t>public</a:t>
            </a:r>
            <a:r>
              <a:rPr lang="pt-BR" sz="2000" dirty="0"/>
              <a:t> </a:t>
            </a:r>
            <a:r>
              <a:rPr lang="pt-BR" sz="2000" dirty="0" err="1"/>
              <a:t>static</a:t>
            </a:r>
            <a:r>
              <a:rPr lang="pt-BR" sz="2000" dirty="0"/>
              <a:t> </a:t>
            </a:r>
            <a:r>
              <a:rPr lang="pt-BR" sz="2000" dirty="0" err="1"/>
              <a:t>IEnumerable</a:t>
            </a:r>
            <a:r>
              <a:rPr lang="pt-BR" sz="2000" dirty="0"/>
              <a:t>&lt;T&gt; </a:t>
            </a:r>
            <a:r>
              <a:rPr lang="pt-BR" sz="2000" dirty="0" err="1"/>
              <a:t>Distinct</a:t>
            </a:r>
            <a:r>
              <a:rPr lang="pt-BR" sz="2000" dirty="0"/>
              <a:t>&lt;T&gt;(</a:t>
            </a:r>
            <a:r>
              <a:rPr lang="pt-BR" sz="2000" dirty="0" err="1"/>
              <a:t>this</a:t>
            </a:r>
            <a:r>
              <a:rPr lang="pt-BR" sz="2000" dirty="0"/>
              <a:t> </a:t>
            </a:r>
            <a:r>
              <a:rPr lang="pt-BR" sz="2000" dirty="0" err="1"/>
              <a:t>IEnumerable</a:t>
            </a:r>
            <a:r>
              <a:rPr lang="pt-BR" sz="2000" dirty="0"/>
              <a:t>&lt;T&gt; </a:t>
            </a:r>
            <a:r>
              <a:rPr lang="pt-BR" sz="2000" dirty="0" err="1"/>
              <a:t>first</a:t>
            </a:r>
            <a:r>
              <a:rPr lang="pt-BR" sz="2000" dirty="0"/>
              <a:t>, </a:t>
            </a:r>
            <a:r>
              <a:rPr lang="pt-BR" sz="2000" dirty="0" err="1"/>
              <a:t>IEnumerable</a:t>
            </a:r>
            <a:r>
              <a:rPr lang="pt-BR" sz="2000" dirty="0"/>
              <a:t>&lt;T&gt; </a:t>
            </a:r>
            <a:r>
              <a:rPr lang="pt-BR" sz="2000" dirty="0" err="1"/>
              <a:t>second</a:t>
            </a:r>
            <a:r>
              <a:rPr lang="pt-BR" sz="2000" dirty="0"/>
              <a:t>, </a:t>
            </a:r>
            <a:r>
              <a:rPr lang="pt-BR" sz="2000" dirty="0" err="1">
                <a:solidFill>
                  <a:srgbClr val="FFFF00"/>
                </a:solidFill>
              </a:rPr>
              <a:t>IEqualityComparer</a:t>
            </a:r>
            <a:r>
              <a:rPr lang="pt-BR" sz="2000" dirty="0">
                <a:solidFill>
                  <a:srgbClr val="FFFF00"/>
                </a:solidFill>
              </a:rPr>
              <a:t>&lt;T&gt; </a:t>
            </a:r>
            <a:r>
              <a:rPr lang="pt-BR" sz="2000" dirty="0" err="1">
                <a:solidFill>
                  <a:srgbClr val="FFFF00"/>
                </a:solidFill>
              </a:rPr>
              <a:t>comparer</a:t>
            </a:r>
            <a:r>
              <a:rPr lang="pt-BR" sz="2000" dirty="0"/>
              <a:t>);</a:t>
            </a:r>
            <a:endParaRPr lang="pt-BR" sz="2000" dirty="0">
              <a:solidFill>
                <a:srgbClr val="FFFF00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9D5A550-9518-DE8E-0ED2-09582AE2F32A}"/>
              </a:ext>
            </a:extLst>
          </p:cNvPr>
          <p:cNvSpPr txBox="1"/>
          <p:nvPr/>
        </p:nvSpPr>
        <p:spPr>
          <a:xfrm>
            <a:off x="223049" y="4085621"/>
            <a:ext cx="2665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>
                <a:solidFill>
                  <a:srgbClr val="00B0F0"/>
                </a:solidFill>
              </a:rPr>
              <a:t>Except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39247805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4" grpId="0" animBg="1"/>
      <p:bldP spid="17" grpId="0" animBg="1"/>
      <p:bldP spid="18" grpId="0" animBg="1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11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Except</a:t>
            </a:r>
            <a:r>
              <a:rPr lang="pt-BR" sz="2800" dirty="0">
                <a:solidFill>
                  <a:srgbClr val="00B0F0"/>
                </a:solidFill>
              </a:rPr>
              <a:t> / </a:t>
            </a:r>
            <a:r>
              <a:rPr lang="pt-BR" sz="2800" dirty="0" err="1">
                <a:solidFill>
                  <a:srgbClr val="00B0F0"/>
                </a:solidFill>
              </a:rPr>
              <a:t>ExceptBy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316383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03C820A-36B1-6CE8-FAFD-DAF804D94BEB}"/>
              </a:ext>
            </a:extLst>
          </p:cNvPr>
          <p:cNvSpPr txBox="1"/>
          <p:nvPr/>
        </p:nvSpPr>
        <p:spPr>
          <a:xfrm>
            <a:off x="395415" y="829379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fonte1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1, 2, 3, 4, 5, 6 };</a:t>
            </a:r>
            <a:endParaRPr lang="pt-BR"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F72A0C-631A-CDE4-2326-AD25C0B24F96}"/>
              </a:ext>
            </a:extLst>
          </p:cNvPr>
          <p:cNvSpPr txBox="1"/>
          <p:nvPr/>
        </p:nvSpPr>
        <p:spPr>
          <a:xfrm>
            <a:off x="395415" y="1431834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fonte2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 { 1, 3, 5, 8, 9, 10 };</a:t>
            </a:r>
            <a:endParaRPr lang="pt-BR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22E6F4-2592-47B5-9B48-C88DC7F195AA}"/>
              </a:ext>
            </a:extLst>
          </p:cNvPr>
          <p:cNvSpPr txBox="1"/>
          <p:nvPr/>
        </p:nvSpPr>
        <p:spPr>
          <a:xfrm>
            <a:off x="395415" y="2034289"/>
            <a:ext cx="106515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fonte1.Except(fonte2).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528EC40-44BC-74FB-3939-9CF342298C6B}"/>
              </a:ext>
            </a:extLst>
          </p:cNvPr>
          <p:cNvSpPr txBox="1"/>
          <p:nvPr/>
        </p:nvSpPr>
        <p:spPr>
          <a:xfrm>
            <a:off x="395415" y="2811969"/>
            <a:ext cx="10651526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(var item </a:t>
            </a:r>
            <a:r>
              <a:rPr lang="pt-BR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(item);</a:t>
            </a:r>
          </a:p>
          <a:p>
            <a:r>
              <a:rPr lang="pt-BR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239436-D7EF-FA46-BD91-109978661B0C}"/>
              </a:ext>
            </a:extLst>
          </p:cNvPr>
          <p:cNvSpPr txBox="1"/>
          <p:nvPr/>
        </p:nvSpPr>
        <p:spPr>
          <a:xfrm>
            <a:off x="2388813" y="5281406"/>
            <a:ext cx="1470453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 2  4  6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7E9CC5DC-C152-8C4E-B561-447F45B3D11B}"/>
              </a:ext>
            </a:extLst>
          </p:cNvPr>
          <p:cNvSpPr/>
          <p:nvPr/>
        </p:nvSpPr>
        <p:spPr>
          <a:xfrm>
            <a:off x="2706131" y="4226419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B3B299-93B6-B7C9-5CC2-735B26E023A7}"/>
              </a:ext>
            </a:extLst>
          </p:cNvPr>
          <p:cNvSpPr txBox="1"/>
          <p:nvPr/>
        </p:nvSpPr>
        <p:spPr>
          <a:xfrm>
            <a:off x="5063317" y="5124874"/>
            <a:ext cx="6577820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(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num </a:t>
            </a:r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fonte1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num)  </a:t>
            </a:r>
            <a:b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Except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(fonte2).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4E69F0-CF7B-FC61-E855-84EEA72F51B6}"/>
              </a:ext>
            </a:extLst>
          </p:cNvPr>
          <p:cNvSpPr txBox="1"/>
          <p:nvPr/>
        </p:nvSpPr>
        <p:spPr>
          <a:xfrm>
            <a:off x="5063317" y="4645659"/>
            <a:ext cx="3328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Sintaxe de Consulta</a:t>
            </a:r>
          </a:p>
        </p:txBody>
      </p:sp>
    </p:spTree>
    <p:extLst>
      <p:ext uri="{BB962C8B-B14F-4D97-AF65-F5344CB8AC3E}">
        <p14:creationId xmlns:p14="http://schemas.microsoft.com/office/powerpoint/2010/main" val="2287607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7" grpId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12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Except</a:t>
            </a:r>
            <a:r>
              <a:rPr lang="pt-BR" sz="2800" dirty="0">
                <a:solidFill>
                  <a:srgbClr val="00B0F0"/>
                </a:solidFill>
              </a:rPr>
              <a:t> / </a:t>
            </a:r>
            <a:r>
              <a:rPr lang="pt-BR" sz="2800" dirty="0" err="1">
                <a:solidFill>
                  <a:srgbClr val="00B0F0"/>
                </a:solidFill>
              </a:rPr>
              <a:t>ExceptBy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287795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F2F63-CECA-0727-BD69-02FDD4200D95}"/>
              </a:ext>
            </a:extLst>
          </p:cNvPr>
          <p:cNvSpPr txBox="1"/>
          <p:nvPr/>
        </p:nvSpPr>
        <p:spPr>
          <a:xfrm>
            <a:off x="214044" y="963348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fonte1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Brasil"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"USA"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"UK"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"China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089447-13C6-8AE8-E583-EF60502EAB0F}"/>
              </a:ext>
            </a:extLst>
          </p:cNvPr>
          <p:cNvSpPr txBox="1"/>
          <p:nvPr/>
        </p:nvSpPr>
        <p:spPr>
          <a:xfrm>
            <a:off x="214044" y="1655985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fonte2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"Brasil"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uk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“França“,“Japão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”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A1BFA8-A3B5-33D7-2C07-D071E87FD2A7}"/>
              </a:ext>
            </a:extLst>
          </p:cNvPr>
          <p:cNvSpPr txBox="1"/>
          <p:nvPr/>
        </p:nvSpPr>
        <p:spPr>
          <a:xfrm>
            <a:off x="214044" y="2325751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fonte1.Except(fonte2).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1C172F-C232-E89E-4A73-A5AD1BE54DC7}"/>
              </a:ext>
            </a:extLst>
          </p:cNvPr>
          <p:cNvSpPr txBox="1"/>
          <p:nvPr/>
        </p:nvSpPr>
        <p:spPr>
          <a:xfrm>
            <a:off x="214044" y="3003839"/>
            <a:ext cx="11763912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(var pais </a:t>
            </a:r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{pais}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Console.ReadKey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AC61FB-0497-5771-F20B-E47AB9506483}"/>
              </a:ext>
            </a:extLst>
          </p:cNvPr>
          <p:cNvSpPr txBox="1"/>
          <p:nvPr/>
        </p:nvSpPr>
        <p:spPr>
          <a:xfrm>
            <a:off x="690102" y="5633042"/>
            <a:ext cx="359762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 USA UK China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A575FAE-3A9A-61A8-F942-9C1EE2E1F247}"/>
              </a:ext>
            </a:extLst>
          </p:cNvPr>
          <p:cNvSpPr/>
          <p:nvPr/>
        </p:nvSpPr>
        <p:spPr>
          <a:xfrm>
            <a:off x="2142924" y="4635055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12028088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13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106879" y="128326"/>
            <a:ext cx="7660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LINQ – </a:t>
            </a:r>
            <a:r>
              <a:rPr lang="pt-BR" sz="2800" dirty="0" err="1">
                <a:solidFill>
                  <a:srgbClr val="00B0F0"/>
                </a:solidFill>
              </a:rPr>
              <a:t>Except</a:t>
            </a:r>
            <a:r>
              <a:rPr lang="pt-BR" sz="2800" dirty="0">
                <a:solidFill>
                  <a:srgbClr val="00B0F0"/>
                </a:solidFill>
              </a:rPr>
              <a:t> / </a:t>
            </a:r>
            <a:r>
              <a:rPr lang="pt-BR" sz="2800" dirty="0" err="1">
                <a:solidFill>
                  <a:srgbClr val="00B0F0"/>
                </a:solidFill>
              </a:rPr>
              <a:t>ExceptBy</a:t>
            </a:r>
            <a:endParaRPr lang="pt-BR" sz="2800" dirty="0">
              <a:solidFill>
                <a:srgbClr val="00B0F0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00A8012-E13D-0E11-2AA1-573A1B66144F}"/>
              </a:ext>
            </a:extLst>
          </p:cNvPr>
          <p:cNvSpPr txBox="1"/>
          <p:nvPr/>
        </p:nvSpPr>
        <p:spPr>
          <a:xfrm>
            <a:off x="5721178" y="4287795"/>
            <a:ext cx="1767017" cy="518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F2F63-CECA-0727-BD69-02FDD4200D95}"/>
              </a:ext>
            </a:extLst>
          </p:cNvPr>
          <p:cNvSpPr txBox="1"/>
          <p:nvPr/>
        </p:nvSpPr>
        <p:spPr>
          <a:xfrm>
            <a:off x="214044" y="963348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fonte1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Brasil"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"USA"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"UK"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"China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089447-13C6-8AE8-E583-EF60502EAB0F}"/>
              </a:ext>
            </a:extLst>
          </p:cNvPr>
          <p:cNvSpPr txBox="1"/>
          <p:nvPr/>
        </p:nvSpPr>
        <p:spPr>
          <a:xfrm>
            <a:off x="214044" y="1655985"/>
            <a:ext cx="11763912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fonte2 = { 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"Brasil"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uk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Argentina"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pt-BR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“França“,“Japão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”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pt-BR" sz="20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0A1BFA8-A3B5-33D7-2C07-D071E87FD2A7}"/>
              </a:ext>
            </a:extLst>
          </p:cNvPr>
          <p:cNvSpPr txBox="1"/>
          <p:nvPr/>
        </p:nvSpPr>
        <p:spPr>
          <a:xfrm>
            <a:off x="214044" y="2325751"/>
            <a:ext cx="117639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 = fonte1.Except(fonte2, </a:t>
            </a:r>
            <a:r>
              <a:rPr lang="pt-BR" b="1" dirty="0" err="1">
                <a:solidFill>
                  <a:srgbClr val="002060"/>
                </a:solidFill>
                <a:latin typeface="Cascadia Mono" panose="020B0609020000020004" pitchFamily="49" charset="0"/>
              </a:rPr>
              <a:t>StringComparer.OrdinalIgnorecase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pt-BR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pt-BR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0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91C172F-C232-E89E-4A73-A5AD1BE54DC7}"/>
              </a:ext>
            </a:extLst>
          </p:cNvPr>
          <p:cNvSpPr txBox="1"/>
          <p:nvPr/>
        </p:nvSpPr>
        <p:spPr>
          <a:xfrm>
            <a:off x="214044" y="3003839"/>
            <a:ext cx="11763912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(var pais </a:t>
            </a:r>
            <a:r>
              <a:rPr lang="sv-SE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sv-SE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resultado)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{pais}</a:t>
            </a:r>
            <a:r>
              <a:rPr lang="pt-BR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pt-BR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Console.ReadKey</a:t>
            </a:r>
            <a:r>
              <a:rPr lang="pt-BR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pt-BR" sz="24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AC61FB-0497-5771-F20B-E47AB9506483}"/>
              </a:ext>
            </a:extLst>
          </p:cNvPr>
          <p:cNvSpPr txBox="1"/>
          <p:nvPr/>
        </p:nvSpPr>
        <p:spPr>
          <a:xfrm>
            <a:off x="1323663" y="5633042"/>
            <a:ext cx="233050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 USA China</a:t>
            </a:r>
          </a:p>
        </p:txBody>
      </p:sp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A575FAE-3A9A-61A8-F942-9C1EE2E1F247}"/>
              </a:ext>
            </a:extLst>
          </p:cNvPr>
          <p:cNvSpPr/>
          <p:nvPr/>
        </p:nvSpPr>
        <p:spPr>
          <a:xfrm>
            <a:off x="2142924" y="4635055"/>
            <a:ext cx="691978" cy="9512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36509224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3F8A62C8-5437-4C47-AC0F-0605F84C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pt-BR" smtClean="0"/>
              <a:pPr rtl="0"/>
              <a:t>14</a:t>
            </a:fld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2C9D293-3245-92D5-D60D-D7079C7C972B}"/>
              </a:ext>
            </a:extLst>
          </p:cNvPr>
          <p:cNvSpPr txBox="1"/>
          <p:nvPr/>
        </p:nvSpPr>
        <p:spPr>
          <a:xfrm>
            <a:off x="4113800" y="2216082"/>
            <a:ext cx="316030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dirty="0"/>
              <a:t>FIM</a:t>
            </a:r>
            <a:endParaRPr lang="pt-BR" sz="13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931022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4352.tgt.Office_50300831_TF33713516_Win32_OJ112196127" id="{5B02CB13-25F9-43E9-A3EC-2B08C0871AF2}" vid="{20DE5CB8-F2DD-40E1-8F79-272B0808BA1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{0813B0D7-9797-4010-B962-99818663E40B}tf33713516_win32</Template>
  <TotalTime>2178</TotalTime>
  <Words>1055</Words>
  <Application>Microsoft Office PowerPoint</Application>
  <PresentationFormat>Widescreen</PresentationFormat>
  <Paragraphs>118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Cascadia Mono</vt:lpstr>
      <vt:lpstr>Gill Sans MT</vt:lpstr>
      <vt:lpstr>Walbaum Display</vt:lpstr>
      <vt:lpstr>3DFloatVTI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365 365</dc:creator>
  <cp:lastModifiedBy>365 365</cp:lastModifiedBy>
  <cp:revision>30</cp:revision>
  <dcterms:created xsi:type="dcterms:W3CDTF">2022-09-06T13:49:28Z</dcterms:created>
  <dcterms:modified xsi:type="dcterms:W3CDTF">2022-09-27T17:17:46Z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