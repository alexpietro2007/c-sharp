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57" r:id="rId5"/>
    <p:sldId id="363" r:id="rId6"/>
    <p:sldId id="373" r:id="rId7"/>
    <p:sldId id="368" r:id="rId8"/>
    <p:sldId id="367" r:id="rId9"/>
    <p:sldId id="370" r:id="rId10"/>
    <p:sldId id="372" r:id="rId11"/>
    <p:sldId id="361" r:id="rId12"/>
    <p:sldId id="374" r:id="rId13"/>
    <p:sldId id="375" r:id="rId14"/>
    <p:sldId id="376" r:id="rId15"/>
    <p:sldId id="356" r:id="rId1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23" autoAdjust="0"/>
    <p:restoredTop sz="93725" autoAdjust="0"/>
  </p:normalViewPr>
  <p:slideViewPr>
    <p:cSldViewPr snapToGrid="0">
      <p:cViewPr varScale="1">
        <p:scale>
          <a:sx n="93" d="100"/>
          <a:sy n="93" d="100"/>
        </p:scale>
        <p:origin x="108" y="46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5FB956-6D4A-42A4-8922-04A0471F5626}" type="datetime1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414BCE-8E15-4FAC-ABEA-824CFE89BEEF}" type="datetime1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BR" smtClean="0"/>
              <a:t>1</a:t>
            </a:fld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C9253-D535-4381-869E-FE197FA2CA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A551632-2A86-4E22-BFB5-628C43F0EF2D}" type="datetime1">
              <a:rPr lang="pt-BR" smtClean="0"/>
              <a:t>23/04/2024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 sz="4800"/>
              <a:t>3DFloat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t-BR" sz="1600"/>
              <a:t>Clique para adicionar o texto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inha do tempo da Tabela d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t-BR"/>
              <a:t>Equipe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6" name="Espaço Reservado para Imagem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7" name="Espaço Reservado para Imagem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8" name="Espaço Reservado para Imagem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59" name="Espaço Reservado para Imagem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5" name="Espaço Reservado para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4" name="Espaço Reservado para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7" name="Espaço Reservado para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6" name="Espaço Reservado para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9" name="Espaço Reservado para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8" name="Espaço Reservado para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údo da coluna 2 (slide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luna do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7" name="Espaço Reservado para Conteú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</a:t>
            </a:r>
          </a:p>
        </p:txBody>
      </p:sp>
      <p:sp>
        <p:nvSpPr>
          <p:cNvPr id="21" name="Espaço Reservado para Conteú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Espaço Reservado para Imagem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2" name="Espaço Reservado para Imagem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3" y="1051551"/>
            <a:ext cx="3856255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pt-BR" dirty="0"/>
              <a:t> </a:t>
            </a:r>
          </a:p>
        </p:txBody>
      </p:sp>
      <p:pic>
        <p:nvPicPr>
          <p:cNvPr id="14" name="Espaço Reservado para Imagem 13" descr="Plano de fundo digital de pontos de dados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86410" cy="6858000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9848" y="3259939"/>
            <a:ext cx="3565524" cy="338122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Macoratti.net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C5A945-B50E-5399-883F-768906AFA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498" y="1195840"/>
            <a:ext cx="1949209" cy="20963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3111A99-29DF-8BAD-1905-35FD62F8AF2F}"/>
              </a:ext>
            </a:extLst>
          </p:cNvPr>
          <p:cNvSpPr txBox="1"/>
          <p:nvPr/>
        </p:nvSpPr>
        <p:spPr>
          <a:xfrm>
            <a:off x="1741013" y="1832204"/>
            <a:ext cx="379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F3A3DC-C703-ED9A-46C0-825FE57A6318}"/>
              </a:ext>
            </a:extLst>
          </p:cNvPr>
          <p:cNvSpPr txBox="1"/>
          <p:nvPr/>
        </p:nvSpPr>
        <p:spPr>
          <a:xfrm>
            <a:off x="1831460" y="3389846"/>
            <a:ext cx="74839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Fundamentos - </a:t>
            </a:r>
            <a:r>
              <a:rPr lang="pt-BR" sz="66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</a:t>
            </a:r>
            <a:endParaRPr lang="pt-BR" sz="800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8" y="58466"/>
            <a:ext cx="708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Operadores de conjunto - Utilização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E24224-A79C-84D9-3D00-82E27B8DC411}"/>
              </a:ext>
            </a:extLst>
          </p:cNvPr>
          <p:cNvSpPr txBox="1"/>
          <p:nvPr/>
        </p:nvSpPr>
        <p:spPr>
          <a:xfrm>
            <a:off x="353457" y="997289"/>
            <a:ext cx="114850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3 -  </a:t>
            </a:r>
            <a:r>
              <a:rPr lang="pt-BR" sz="2400" dirty="0" err="1">
                <a:solidFill>
                  <a:srgbClr val="00B0F0"/>
                </a:solidFill>
              </a:rPr>
              <a:t>Intersect</a:t>
            </a:r>
            <a:r>
              <a:rPr lang="pt-BR" sz="2400" dirty="0">
                <a:solidFill>
                  <a:srgbClr val="00B0F0"/>
                </a:solidFill>
              </a:rPr>
              <a:t> ou </a:t>
            </a:r>
            <a:r>
              <a:rPr lang="pt-BR" sz="2400" dirty="0" err="1">
                <a:solidFill>
                  <a:srgbClr val="00B0F0"/>
                </a:solidFill>
              </a:rPr>
              <a:t>IntersectBy</a:t>
            </a:r>
            <a:br>
              <a:rPr lang="pt-BR" sz="2400" dirty="0">
                <a:solidFill>
                  <a:srgbClr val="00B0F0"/>
                </a:solidFill>
              </a:rPr>
            </a:br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É usado para retornar os </a:t>
            </a:r>
            <a:r>
              <a:rPr lang="pt-BR" sz="2400" dirty="0">
                <a:solidFill>
                  <a:srgbClr val="00B0F0"/>
                </a:solidFill>
              </a:rPr>
              <a:t>elementos comuns de ambas as fontes </a:t>
            </a:r>
            <a:r>
              <a:rPr lang="pt-BR" sz="2400" dirty="0"/>
              <a:t>de dados, ou seja, os elementos que existem </a:t>
            </a:r>
            <a:r>
              <a:rPr lang="pt-BR" sz="2400" dirty="0">
                <a:solidFill>
                  <a:srgbClr val="FFFF00"/>
                </a:solidFill>
              </a:rPr>
              <a:t>em ambos os conjuntos </a:t>
            </a:r>
            <a:r>
              <a:rPr lang="pt-BR" sz="2400" dirty="0"/>
              <a:t>de dados retornarão como a saída.</a:t>
            </a:r>
            <a:endParaRPr lang="pt-BR" sz="2400" dirty="0">
              <a:solidFill>
                <a:srgbClr val="00B0F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6DA794-C74A-6FA7-FED7-AD095C25BFE8}"/>
              </a:ext>
            </a:extLst>
          </p:cNvPr>
          <p:cNvSpPr txBox="1"/>
          <p:nvPr/>
        </p:nvSpPr>
        <p:spPr>
          <a:xfrm>
            <a:off x="2033450" y="3445906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1 2 3 4 5 6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A8053D-FC0B-59E8-1AB1-93DAFED59FD2}"/>
              </a:ext>
            </a:extLst>
          </p:cNvPr>
          <p:cNvSpPr txBox="1"/>
          <p:nvPr/>
        </p:nvSpPr>
        <p:spPr>
          <a:xfrm>
            <a:off x="2033450" y="4617092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1 3 5 8 9 10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5AB57F2-7527-2DBF-FCD1-7EFD768BAB11}"/>
              </a:ext>
            </a:extLst>
          </p:cNvPr>
          <p:cNvSpPr/>
          <p:nvPr/>
        </p:nvSpPr>
        <p:spPr>
          <a:xfrm>
            <a:off x="5453771" y="3717967"/>
            <a:ext cx="2447055" cy="1525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err="1">
                <a:solidFill>
                  <a:schemeClr val="bg1"/>
                </a:solidFill>
              </a:rPr>
              <a:t>Intersect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A43C69-527B-C44B-7467-C0F02D64E8B5}"/>
              </a:ext>
            </a:extLst>
          </p:cNvPr>
          <p:cNvSpPr txBox="1"/>
          <p:nvPr/>
        </p:nvSpPr>
        <p:spPr>
          <a:xfrm>
            <a:off x="8167955" y="4188146"/>
            <a:ext cx="147045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 </a:t>
            </a:r>
            <a:r>
              <a:rPr lang="pt-BR" sz="3200" b="1" dirty="0">
                <a:solidFill>
                  <a:srgbClr val="FF0000"/>
                </a:solidFill>
              </a:rPr>
              <a:t>1  3  5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DE9200-2FF2-2335-2BCA-834DD6775021}"/>
              </a:ext>
            </a:extLst>
          </p:cNvPr>
          <p:cNvSpPr txBox="1"/>
          <p:nvPr/>
        </p:nvSpPr>
        <p:spPr>
          <a:xfrm>
            <a:off x="565079" y="3585681"/>
            <a:ext cx="12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Coleção1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D82ABC-F15E-D625-F48B-2CDDF25C6450}"/>
              </a:ext>
            </a:extLst>
          </p:cNvPr>
          <p:cNvSpPr txBox="1"/>
          <p:nvPr/>
        </p:nvSpPr>
        <p:spPr>
          <a:xfrm>
            <a:off x="576186" y="4772921"/>
            <a:ext cx="12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Coleção2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2D704EFE-C21F-F1A0-4A5C-A6BE65B669C7}"/>
              </a:ext>
            </a:extLst>
          </p:cNvPr>
          <p:cNvCxnSpPr>
            <a:cxnSpLocks/>
          </p:cNvCxnSpPr>
          <p:nvPr/>
        </p:nvCxnSpPr>
        <p:spPr>
          <a:xfrm>
            <a:off x="2239766" y="3955013"/>
            <a:ext cx="0" cy="817908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AB00A04-6F17-0257-45C4-EBF9E54EBDEE}"/>
              </a:ext>
            </a:extLst>
          </p:cNvPr>
          <p:cNvCxnSpPr>
            <a:cxnSpLocks/>
          </p:cNvCxnSpPr>
          <p:nvPr/>
        </p:nvCxnSpPr>
        <p:spPr>
          <a:xfrm flipH="1">
            <a:off x="2681555" y="3955013"/>
            <a:ext cx="236306" cy="817908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AA35CD3-DD2C-620A-4CAA-65367BD54C4E}"/>
              </a:ext>
            </a:extLst>
          </p:cNvPr>
          <p:cNvCxnSpPr>
            <a:cxnSpLocks/>
          </p:cNvCxnSpPr>
          <p:nvPr/>
        </p:nvCxnSpPr>
        <p:spPr>
          <a:xfrm flipH="1">
            <a:off x="3035562" y="3875001"/>
            <a:ext cx="590313" cy="897920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177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3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86331" y="39861"/>
            <a:ext cx="927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Intersect</a:t>
            </a:r>
            <a:r>
              <a:rPr lang="pt-BR" sz="2800" dirty="0">
                <a:solidFill>
                  <a:srgbClr val="00B0F0"/>
                </a:solidFill>
              </a:rPr>
              <a:t> / </a:t>
            </a:r>
            <a:r>
              <a:rPr lang="pt-BR" sz="2800" dirty="0" err="1">
                <a:solidFill>
                  <a:srgbClr val="00B0F0"/>
                </a:solidFill>
              </a:rPr>
              <a:t>IntersectBy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FD99-3994-AE9E-F675-28E8316B868F}"/>
              </a:ext>
            </a:extLst>
          </p:cNvPr>
          <p:cNvSpPr txBox="1"/>
          <p:nvPr/>
        </p:nvSpPr>
        <p:spPr>
          <a:xfrm>
            <a:off x="168523" y="1307439"/>
            <a:ext cx="11765914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>
                <a:solidFill>
                  <a:srgbClr val="00B0F0"/>
                </a:solidFill>
              </a:rPr>
              <a:t>Intersect</a:t>
            </a:r>
            <a:r>
              <a:rPr lang="pt-BR" sz="2000" b="1" dirty="0"/>
              <a:t>&lt;T&gt;(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first</a:t>
            </a:r>
            <a:r>
              <a:rPr lang="pt-BR" sz="2000" b="1" dirty="0"/>
              <a:t>. 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second</a:t>
            </a:r>
            <a:r>
              <a:rPr lang="pt-BR" sz="2000" b="1" dirty="0"/>
              <a:t>);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AEEDB2-38CD-78BD-C889-A3645815F655}"/>
              </a:ext>
            </a:extLst>
          </p:cNvPr>
          <p:cNvSpPr txBox="1"/>
          <p:nvPr/>
        </p:nvSpPr>
        <p:spPr>
          <a:xfrm>
            <a:off x="168523" y="1901083"/>
            <a:ext cx="1176591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>
                <a:solidFill>
                  <a:srgbClr val="00B0F0"/>
                </a:solidFill>
              </a:rPr>
              <a:t>Intersect</a:t>
            </a:r>
            <a:r>
              <a:rPr lang="pt-BR" sz="2000" b="1" dirty="0"/>
              <a:t>&lt;T&gt;(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first</a:t>
            </a:r>
            <a:r>
              <a:rPr lang="pt-BR" sz="2000" b="1" dirty="0"/>
              <a:t>. 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second</a:t>
            </a:r>
            <a:r>
              <a:rPr lang="pt-BR" sz="2000" b="1" dirty="0"/>
              <a:t> , </a:t>
            </a:r>
            <a:r>
              <a:rPr lang="pt-BR" sz="2000" b="1" dirty="0" err="1">
                <a:solidFill>
                  <a:srgbClr val="FFFF00"/>
                </a:solidFill>
              </a:rPr>
              <a:t>IEqualityComparer</a:t>
            </a:r>
            <a:r>
              <a:rPr lang="pt-BR" sz="2000" b="1" dirty="0">
                <a:solidFill>
                  <a:srgbClr val="FFFF00"/>
                </a:solidFill>
              </a:rPr>
              <a:t>&lt;T&gt; </a:t>
            </a:r>
            <a:r>
              <a:rPr lang="pt-BR" sz="2000" b="1" dirty="0" err="1">
                <a:solidFill>
                  <a:srgbClr val="FFFF00"/>
                </a:solidFill>
              </a:rPr>
              <a:t>comparer</a:t>
            </a:r>
            <a:r>
              <a:rPr lang="pt-BR" sz="2000" b="1" dirty="0"/>
              <a:t>);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81ABFC-091B-60B6-898D-03FEC15CF6A6}"/>
              </a:ext>
            </a:extLst>
          </p:cNvPr>
          <p:cNvSpPr txBox="1"/>
          <p:nvPr/>
        </p:nvSpPr>
        <p:spPr>
          <a:xfrm>
            <a:off x="168523" y="3354790"/>
            <a:ext cx="1176591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en-US" sz="2000" b="1" dirty="0" err="1">
                <a:solidFill>
                  <a:srgbClr val="FFFF00"/>
                </a:solidFill>
              </a:rPr>
              <a:t>IntersectBy</a:t>
            </a:r>
            <a:r>
              <a:rPr lang="en-US" sz="2000" b="1" dirty="0"/>
              <a:t>&lt;</a:t>
            </a:r>
            <a:r>
              <a:rPr lang="en-US" sz="2000" b="1" dirty="0" err="1"/>
              <a:t>T,Key</a:t>
            </a:r>
            <a:r>
              <a:rPr lang="en-US" sz="2000" b="1" dirty="0"/>
              <a:t>&gt;(</a:t>
            </a:r>
            <a:r>
              <a:rPr lang="en-US" sz="2000" b="1" dirty="0" err="1"/>
              <a:t>IEnumerable</a:t>
            </a:r>
            <a:r>
              <a:rPr lang="en-US" sz="2000" b="1" dirty="0"/>
              <a:t>&lt;T&gt;, </a:t>
            </a:r>
            <a:r>
              <a:rPr lang="en-US" sz="2000" b="1" dirty="0" err="1"/>
              <a:t>IEnumerable</a:t>
            </a:r>
            <a:r>
              <a:rPr lang="en-US" sz="2000" b="1" dirty="0"/>
              <a:t>&lt;Key&gt;, </a:t>
            </a:r>
            <a:r>
              <a:rPr lang="en-US" sz="2000" b="1" dirty="0" err="1"/>
              <a:t>Func</a:t>
            </a:r>
            <a:r>
              <a:rPr lang="en-US" sz="2000" b="1" dirty="0"/>
              <a:t>&lt;</a:t>
            </a:r>
            <a:r>
              <a:rPr lang="en-US" sz="2000" b="1" dirty="0" err="1"/>
              <a:t>T,Key</a:t>
            </a:r>
            <a:r>
              <a:rPr lang="en-US" sz="2000" b="1" dirty="0"/>
              <a:t>&gt;) 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7650DF-5120-84C8-45F1-BDDF03C10519}"/>
              </a:ext>
            </a:extLst>
          </p:cNvPr>
          <p:cNvSpPr txBox="1"/>
          <p:nvPr/>
        </p:nvSpPr>
        <p:spPr>
          <a:xfrm>
            <a:off x="168523" y="799352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Intersect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433FE7-C989-674D-8307-946BA8529B55}"/>
              </a:ext>
            </a:extLst>
          </p:cNvPr>
          <p:cNvSpPr txBox="1"/>
          <p:nvPr/>
        </p:nvSpPr>
        <p:spPr>
          <a:xfrm>
            <a:off x="124003" y="2802503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IntersectBy</a:t>
            </a:r>
            <a:endParaRPr lang="pt-BR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37F290-D380-1389-08A1-44B45BA3631F}"/>
              </a:ext>
            </a:extLst>
          </p:cNvPr>
          <p:cNvSpPr txBox="1"/>
          <p:nvPr/>
        </p:nvSpPr>
        <p:spPr>
          <a:xfrm>
            <a:off x="168523" y="4243919"/>
            <a:ext cx="1176591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>
                <a:solidFill>
                  <a:srgbClr val="FFFF00"/>
                </a:solidFill>
              </a:rPr>
              <a:t>IntersectBy</a:t>
            </a:r>
            <a:r>
              <a:rPr lang="pt-BR" sz="2000" b="1" dirty="0"/>
              <a:t>&lt;</a:t>
            </a:r>
            <a:r>
              <a:rPr lang="pt-BR" sz="2000" b="1" dirty="0" err="1"/>
              <a:t>T,Key</a:t>
            </a:r>
            <a:r>
              <a:rPr lang="pt-BR" sz="2000" b="1" dirty="0"/>
              <a:t>&gt;(</a:t>
            </a:r>
            <a:r>
              <a:rPr lang="pt-BR" sz="2000" b="1" dirty="0" err="1"/>
              <a:t>IEnumerable</a:t>
            </a:r>
            <a:r>
              <a:rPr lang="pt-BR" sz="2000" b="1" dirty="0"/>
              <a:t>&lt;T&gt;,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&lt;T&gt;, </a:t>
            </a:r>
            <a:r>
              <a:rPr lang="pt-BR" sz="2000" b="1" dirty="0" err="1"/>
              <a:t>Func</a:t>
            </a:r>
            <a:r>
              <a:rPr lang="pt-BR" sz="2000" b="1" dirty="0"/>
              <a:t>&lt;</a:t>
            </a:r>
            <a:r>
              <a:rPr lang="pt-BR" sz="2000" b="1" dirty="0" err="1"/>
              <a:t>T,Key</a:t>
            </a:r>
            <a:r>
              <a:rPr lang="pt-BR" sz="2000" b="1" dirty="0"/>
              <a:t>&gt;, </a:t>
            </a:r>
            <a:r>
              <a:rPr lang="pt-BR" sz="2000" b="1" dirty="0" err="1">
                <a:solidFill>
                  <a:srgbClr val="FFFF00"/>
                </a:solidFill>
              </a:rPr>
              <a:t>IEqualityComparer</a:t>
            </a:r>
            <a:r>
              <a:rPr lang="pt-BR" sz="2000" b="1" dirty="0">
                <a:solidFill>
                  <a:srgbClr val="FFFF00"/>
                </a:solidFill>
              </a:rPr>
              <a:t>&lt;Key&gt;</a:t>
            </a:r>
            <a:r>
              <a:rPr lang="pt-BR" sz="2000" b="1" dirty="0"/>
              <a:t>) 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62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2" grpId="0" animBg="1"/>
      <p:bldP spid="5" grpId="0"/>
      <p:bldP spid="6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4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Intersect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316383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3C820A-36B1-6CE8-FAFD-DAF804D94BEB}"/>
              </a:ext>
            </a:extLst>
          </p:cNvPr>
          <p:cNvSpPr txBox="1"/>
          <p:nvPr/>
        </p:nvSpPr>
        <p:spPr>
          <a:xfrm>
            <a:off x="395415" y="82937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2, 3, 4, 5, 6 };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F72A0C-631A-CDE4-2326-AD25C0B24F96}"/>
              </a:ext>
            </a:extLst>
          </p:cNvPr>
          <p:cNvSpPr txBox="1"/>
          <p:nvPr/>
        </p:nvSpPr>
        <p:spPr>
          <a:xfrm>
            <a:off x="395415" y="1431834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3, 5, 8, 9, 10 };</a:t>
            </a: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22E6F4-2592-47B5-9B48-C88DC7F195AA}"/>
              </a:ext>
            </a:extLst>
          </p:cNvPr>
          <p:cNvSpPr txBox="1"/>
          <p:nvPr/>
        </p:nvSpPr>
        <p:spPr>
          <a:xfrm>
            <a:off x="395415" y="203428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fonte1.Intersect(fonte2).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28EC40-44BC-74FB-3939-9CF342298C6B}"/>
              </a:ext>
            </a:extLst>
          </p:cNvPr>
          <p:cNvSpPr txBox="1"/>
          <p:nvPr/>
        </p:nvSpPr>
        <p:spPr>
          <a:xfrm>
            <a:off x="395415" y="2811969"/>
            <a:ext cx="1065152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item </a:t>
            </a:r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(item);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239436-D7EF-FA46-BD91-109978661B0C}"/>
              </a:ext>
            </a:extLst>
          </p:cNvPr>
          <p:cNvSpPr txBox="1"/>
          <p:nvPr/>
        </p:nvSpPr>
        <p:spPr>
          <a:xfrm>
            <a:off x="2316893" y="5211304"/>
            <a:ext cx="147045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1  3  5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7E9CC5DC-C152-8C4E-B561-447F45B3D11B}"/>
              </a:ext>
            </a:extLst>
          </p:cNvPr>
          <p:cNvSpPr/>
          <p:nvPr/>
        </p:nvSpPr>
        <p:spPr>
          <a:xfrm>
            <a:off x="2706131" y="4226419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B3B299-93B6-B7C9-5CC2-735B26E023A7}"/>
              </a:ext>
            </a:extLst>
          </p:cNvPr>
          <p:cNvSpPr txBox="1"/>
          <p:nvPr/>
        </p:nvSpPr>
        <p:spPr>
          <a:xfrm>
            <a:off x="4769708" y="5124874"/>
            <a:ext cx="6871429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(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 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fonte1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num)  </a:t>
            </a:r>
            <a:b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Intersect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4E69F0-CF7B-FC61-E855-84EEA72F51B6}"/>
              </a:ext>
            </a:extLst>
          </p:cNvPr>
          <p:cNvSpPr txBox="1"/>
          <p:nvPr/>
        </p:nvSpPr>
        <p:spPr>
          <a:xfrm>
            <a:off x="4769708" y="4663209"/>
            <a:ext cx="3328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Sintaxe de Consulta</a:t>
            </a:r>
          </a:p>
        </p:txBody>
      </p:sp>
    </p:spTree>
    <p:extLst>
      <p:ext uri="{BB962C8B-B14F-4D97-AF65-F5344CB8AC3E}">
        <p14:creationId xmlns:p14="http://schemas.microsoft.com/office/powerpoint/2010/main" val="2287607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7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5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Intersect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fonte1.Intersect(fonte2).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300383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690102" y="5633042"/>
            <a:ext cx="359762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Brasil  Argentina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1D03E1-23BC-6581-F653-6EE1575F70DD}"/>
              </a:ext>
            </a:extLst>
          </p:cNvPr>
          <p:cNvSpPr txBox="1"/>
          <p:nvPr/>
        </p:nvSpPr>
        <p:spPr>
          <a:xfrm>
            <a:off x="5003514" y="5697401"/>
            <a:ext cx="403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“UK”   é diferente de “</a:t>
            </a:r>
            <a:r>
              <a:rPr lang="pt-BR" sz="2400" b="1" dirty="0" err="1"/>
              <a:t>uk</a:t>
            </a:r>
            <a:r>
              <a:rPr lang="pt-BR" sz="2400" b="1" dirty="0"/>
              <a:t>”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4EFB55-0D05-098A-2B12-A85FD52ADA0C}"/>
              </a:ext>
            </a:extLst>
          </p:cNvPr>
          <p:cNvSpPr txBox="1"/>
          <p:nvPr/>
        </p:nvSpPr>
        <p:spPr>
          <a:xfrm>
            <a:off x="5075433" y="5235736"/>
            <a:ext cx="631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comparador padrão usado é case </a:t>
            </a:r>
            <a:r>
              <a:rPr lang="pt-BR" sz="2400" dirty="0" err="1"/>
              <a:t>sensitive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02808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Intersect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fonte1.Intersect(fonte2, </a:t>
            </a:r>
            <a:r>
              <a:rPr lang="pt-BR" b="1" dirty="0" err="1">
                <a:solidFill>
                  <a:srgbClr val="002060"/>
                </a:solidFill>
                <a:latin typeface="Cascadia Mono" panose="020B0609020000020004" pitchFamily="49" charset="0"/>
              </a:rPr>
              <a:t>StringComparer.OrdinalIgnorecase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0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300383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1323662" y="5633042"/>
            <a:ext cx="3885335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Brasil UK  Argentina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B88F18B-7B4F-55DA-5BEC-3754675EAA4B}"/>
              </a:ext>
            </a:extLst>
          </p:cNvPr>
          <p:cNvSpPr txBox="1"/>
          <p:nvPr/>
        </p:nvSpPr>
        <p:spPr>
          <a:xfrm>
            <a:off x="7315076" y="3310209"/>
            <a:ext cx="4118094" cy="120032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dirty="0"/>
              <a:t>Versão sobrecarregada que usa </a:t>
            </a:r>
            <a:r>
              <a:rPr lang="pt-BR" sz="2400" dirty="0" err="1">
                <a:solidFill>
                  <a:srgbClr val="00B0F0"/>
                </a:solidFill>
              </a:rPr>
              <a:t>IEqualityComparer</a:t>
            </a:r>
            <a:r>
              <a:rPr lang="pt-BR" sz="2400" dirty="0"/>
              <a:t> como argumento. 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10341A75-760E-8E28-0EF8-759FC7A19D61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7561780" y="2695083"/>
            <a:ext cx="1812343" cy="615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922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8" y="58466"/>
            <a:ext cx="708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Operadores de conjunto - Utilização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6DA794-C74A-6FA7-FED7-AD095C25BFE8}"/>
              </a:ext>
            </a:extLst>
          </p:cNvPr>
          <p:cNvSpPr txBox="1"/>
          <p:nvPr/>
        </p:nvSpPr>
        <p:spPr>
          <a:xfrm>
            <a:off x="2033450" y="3445906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1 2 3 4 5 6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A8053D-FC0B-59E8-1AB1-93DAFED59FD2}"/>
              </a:ext>
            </a:extLst>
          </p:cNvPr>
          <p:cNvSpPr txBox="1"/>
          <p:nvPr/>
        </p:nvSpPr>
        <p:spPr>
          <a:xfrm>
            <a:off x="2033450" y="4617092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1 3 5 8 9 10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5AB57F2-7527-2DBF-FCD1-7EFD768BAB11}"/>
              </a:ext>
            </a:extLst>
          </p:cNvPr>
          <p:cNvSpPr/>
          <p:nvPr/>
        </p:nvSpPr>
        <p:spPr>
          <a:xfrm>
            <a:off x="5453772" y="3717967"/>
            <a:ext cx="1825658" cy="15251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Union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A43C69-527B-C44B-7467-C0F02D64E8B5}"/>
              </a:ext>
            </a:extLst>
          </p:cNvPr>
          <p:cNvSpPr txBox="1"/>
          <p:nvPr/>
        </p:nvSpPr>
        <p:spPr>
          <a:xfrm>
            <a:off x="7438489" y="4188146"/>
            <a:ext cx="420264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 </a:t>
            </a:r>
            <a:r>
              <a:rPr lang="pt-BR" sz="3200" b="1" dirty="0">
                <a:solidFill>
                  <a:srgbClr val="FF0000"/>
                </a:solidFill>
              </a:rPr>
              <a:t>1 2 3 4 5 6 8 9 10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DE9200-2FF2-2335-2BCA-834DD6775021}"/>
              </a:ext>
            </a:extLst>
          </p:cNvPr>
          <p:cNvSpPr txBox="1"/>
          <p:nvPr/>
        </p:nvSpPr>
        <p:spPr>
          <a:xfrm>
            <a:off x="565079" y="3585681"/>
            <a:ext cx="12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Coleção1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D82ABC-F15E-D625-F48B-2CDDF25C6450}"/>
              </a:ext>
            </a:extLst>
          </p:cNvPr>
          <p:cNvSpPr txBox="1"/>
          <p:nvPr/>
        </p:nvSpPr>
        <p:spPr>
          <a:xfrm>
            <a:off x="576186" y="4772921"/>
            <a:ext cx="12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Coleção2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F7CE81-96D5-F4C3-9AE8-AF81837E1DC5}"/>
              </a:ext>
            </a:extLst>
          </p:cNvPr>
          <p:cNvSpPr txBox="1"/>
          <p:nvPr/>
        </p:nvSpPr>
        <p:spPr>
          <a:xfrm>
            <a:off x="353458" y="891317"/>
            <a:ext cx="114850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4 -  </a:t>
            </a:r>
            <a:r>
              <a:rPr lang="pt-BR" sz="2400" dirty="0">
                <a:solidFill>
                  <a:srgbClr val="00B0F0"/>
                </a:solidFill>
              </a:rPr>
              <a:t>Union ou </a:t>
            </a:r>
            <a:r>
              <a:rPr lang="pt-BR" sz="2400" dirty="0" err="1">
                <a:solidFill>
                  <a:srgbClr val="00B0F0"/>
                </a:solidFill>
              </a:rPr>
              <a:t>UnionBy</a:t>
            </a:r>
            <a:br>
              <a:rPr lang="pt-BR" sz="2400" dirty="0">
                <a:solidFill>
                  <a:srgbClr val="00B0F0"/>
                </a:solidFill>
              </a:rPr>
            </a:br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É usado para retornar todos os elementos que estão presentes em qualquer uma das fontes de dados. Isso significa que ele </a:t>
            </a:r>
            <a:r>
              <a:rPr lang="pt-BR" sz="2400" dirty="0">
                <a:solidFill>
                  <a:srgbClr val="00B0F0"/>
                </a:solidFill>
              </a:rPr>
              <a:t>combina</a:t>
            </a:r>
            <a:r>
              <a:rPr lang="pt-BR" sz="2400" dirty="0"/>
              <a:t> os dados de </a:t>
            </a:r>
            <a:r>
              <a:rPr lang="pt-BR" sz="2400" dirty="0">
                <a:solidFill>
                  <a:srgbClr val="FFFF00"/>
                </a:solidFill>
              </a:rPr>
              <a:t>ambas as fontes de dados </a:t>
            </a:r>
            <a:r>
              <a:rPr lang="pt-BR" sz="2400" dirty="0"/>
              <a:t>e produz um único conjunto de resultados.</a:t>
            </a:r>
            <a:endParaRPr lang="pt-BR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088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86331" y="39861"/>
            <a:ext cx="927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>
                <a:solidFill>
                  <a:srgbClr val="00B0F0"/>
                </a:solidFill>
              </a:rPr>
              <a:t>Union / </a:t>
            </a:r>
            <a:r>
              <a:rPr lang="pt-BR" sz="2800" dirty="0" err="1">
                <a:solidFill>
                  <a:srgbClr val="00B0F0"/>
                </a:solidFill>
              </a:rPr>
              <a:t>UnionBy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FD99-3994-AE9E-F675-28E8316B868F}"/>
              </a:ext>
            </a:extLst>
          </p:cNvPr>
          <p:cNvSpPr txBox="1"/>
          <p:nvPr/>
        </p:nvSpPr>
        <p:spPr>
          <a:xfrm>
            <a:off x="168523" y="1307439"/>
            <a:ext cx="11765914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>
                <a:solidFill>
                  <a:srgbClr val="00B0F0"/>
                </a:solidFill>
              </a:rPr>
              <a:t>Union</a:t>
            </a:r>
            <a:r>
              <a:rPr lang="pt-BR" sz="2000" b="1" dirty="0"/>
              <a:t>&lt;T&gt;(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first</a:t>
            </a:r>
            <a:r>
              <a:rPr lang="pt-BR" sz="2000" b="1" dirty="0"/>
              <a:t> 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second</a:t>
            </a:r>
            <a:r>
              <a:rPr lang="pt-BR" sz="2000" b="1" dirty="0"/>
              <a:t>);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AEEDB2-38CD-78BD-C889-A3645815F655}"/>
              </a:ext>
            </a:extLst>
          </p:cNvPr>
          <p:cNvSpPr txBox="1"/>
          <p:nvPr/>
        </p:nvSpPr>
        <p:spPr>
          <a:xfrm>
            <a:off x="168523" y="1901083"/>
            <a:ext cx="11765914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>
                <a:solidFill>
                  <a:srgbClr val="00B0F0"/>
                </a:solidFill>
              </a:rPr>
              <a:t>Union</a:t>
            </a:r>
            <a:r>
              <a:rPr lang="pt-BR" sz="2000" b="1" dirty="0"/>
              <a:t>&lt;T&gt;(</a:t>
            </a:r>
            <a:r>
              <a:rPr lang="pt-BR" sz="2000" b="1" dirty="0" err="1"/>
              <a:t>this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first</a:t>
            </a:r>
            <a:r>
              <a:rPr lang="pt-BR" sz="2000" b="1" dirty="0"/>
              <a:t> 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/>
              <a:t>second</a:t>
            </a:r>
            <a:r>
              <a:rPr lang="pt-BR" sz="2000" b="1" dirty="0"/>
              <a:t> , </a:t>
            </a:r>
            <a:r>
              <a:rPr lang="pt-BR" sz="2000" b="1" dirty="0" err="1">
                <a:solidFill>
                  <a:srgbClr val="FFFF00"/>
                </a:solidFill>
              </a:rPr>
              <a:t>IEqualityComparer</a:t>
            </a:r>
            <a:r>
              <a:rPr lang="pt-BR" sz="2000" b="1" dirty="0">
                <a:solidFill>
                  <a:srgbClr val="FFFF00"/>
                </a:solidFill>
              </a:rPr>
              <a:t>&lt;T&gt; </a:t>
            </a:r>
            <a:r>
              <a:rPr lang="pt-BR" sz="2000" b="1" dirty="0" err="1">
                <a:solidFill>
                  <a:srgbClr val="FFFF00"/>
                </a:solidFill>
              </a:rPr>
              <a:t>comparer</a:t>
            </a:r>
            <a:r>
              <a:rPr lang="pt-BR" sz="2000" b="1" dirty="0"/>
              <a:t>);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81ABFC-091B-60B6-898D-03FEC15CF6A6}"/>
              </a:ext>
            </a:extLst>
          </p:cNvPr>
          <p:cNvSpPr txBox="1"/>
          <p:nvPr/>
        </p:nvSpPr>
        <p:spPr>
          <a:xfrm>
            <a:off x="168522" y="3552970"/>
            <a:ext cx="11924161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en-US" sz="2000" b="1" dirty="0" err="1">
                <a:solidFill>
                  <a:srgbClr val="FFFF00"/>
                </a:solidFill>
              </a:rPr>
              <a:t>UnionBy</a:t>
            </a:r>
            <a:r>
              <a:rPr lang="en-US" sz="2000" b="1" dirty="0"/>
              <a:t>&lt;</a:t>
            </a:r>
            <a:r>
              <a:rPr lang="en-US" sz="2000" b="1" dirty="0" err="1"/>
              <a:t>T,Key</a:t>
            </a:r>
            <a:r>
              <a:rPr lang="en-US" sz="2000" b="1" dirty="0"/>
              <a:t>&gt;(</a:t>
            </a:r>
            <a:r>
              <a:rPr lang="en-US" sz="2000" b="1" dirty="0" err="1"/>
              <a:t>IEnumerable</a:t>
            </a:r>
            <a:r>
              <a:rPr lang="en-US" sz="2000" b="1" dirty="0"/>
              <a:t>&lt;T&gt;, </a:t>
            </a:r>
            <a:r>
              <a:rPr lang="en-US" sz="2000" b="1" dirty="0" err="1"/>
              <a:t>IEnumerable</a:t>
            </a:r>
            <a:r>
              <a:rPr lang="en-US" sz="2000" b="1" dirty="0"/>
              <a:t>&lt;T&gt;, </a:t>
            </a:r>
            <a:r>
              <a:rPr lang="en-US" sz="2000" b="1" dirty="0" err="1"/>
              <a:t>Func</a:t>
            </a:r>
            <a:r>
              <a:rPr lang="en-US" sz="2000" b="1" dirty="0"/>
              <a:t>&lt;</a:t>
            </a:r>
            <a:r>
              <a:rPr lang="en-US" sz="2000" b="1" dirty="0" err="1"/>
              <a:t>T,Key</a:t>
            </a:r>
            <a:r>
              <a:rPr lang="en-US" sz="2000" b="1" dirty="0"/>
              <a:t>&gt;) </a:t>
            </a:r>
            <a:endParaRPr lang="pt-BR" sz="2000" b="1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7650DF-5120-84C8-45F1-BDDF03C10519}"/>
              </a:ext>
            </a:extLst>
          </p:cNvPr>
          <p:cNvSpPr txBox="1"/>
          <p:nvPr/>
        </p:nvSpPr>
        <p:spPr>
          <a:xfrm>
            <a:off x="168523" y="799352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Union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433FE7-C989-674D-8307-946BA8529B55}"/>
              </a:ext>
            </a:extLst>
          </p:cNvPr>
          <p:cNvSpPr txBox="1"/>
          <p:nvPr/>
        </p:nvSpPr>
        <p:spPr>
          <a:xfrm>
            <a:off x="86331" y="3031298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UnionBy</a:t>
            </a:r>
            <a:endParaRPr lang="pt-BR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37F290-D380-1389-08A1-44B45BA3631F}"/>
              </a:ext>
            </a:extLst>
          </p:cNvPr>
          <p:cNvSpPr txBox="1"/>
          <p:nvPr/>
        </p:nvSpPr>
        <p:spPr>
          <a:xfrm>
            <a:off x="168523" y="4243919"/>
            <a:ext cx="11924160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 err="1"/>
              <a:t>public</a:t>
            </a:r>
            <a:r>
              <a:rPr lang="pt-BR" sz="2000" b="1" dirty="0"/>
              <a:t> </a:t>
            </a:r>
            <a:r>
              <a:rPr lang="pt-BR" sz="2000" b="1" dirty="0" err="1"/>
              <a:t>static</a:t>
            </a:r>
            <a:r>
              <a:rPr lang="pt-BR" sz="2000" b="1" dirty="0"/>
              <a:t> </a:t>
            </a:r>
            <a:r>
              <a:rPr lang="pt-BR" sz="2000" b="1" dirty="0" err="1"/>
              <a:t>IEnumerable</a:t>
            </a:r>
            <a:r>
              <a:rPr lang="pt-BR" sz="2000" b="1" dirty="0"/>
              <a:t>&lt;T&gt; </a:t>
            </a:r>
            <a:r>
              <a:rPr lang="pt-BR" sz="2000" b="1" dirty="0" err="1">
                <a:solidFill>
                  <a:srgbClr val="FFFF00"/>
                </a:solidFill>
              </a:rPr>
              <a:t>UnionBy</a:t>
            </a:r>
            <a:r>
              <a:rPr lang="pt-BR" sz="2000" b="1" dirty="0"/>
              <a:t>&lt;</a:t>
            </a:r>
            <a:r>
              <a:rPr lang="pt-BR" sz="2000" b="1" dirty="0" err="1"/>
              <a:t>T,Key</a:t>
            </a:r>
            <a:r>
              <a:rPr lang="pt-BR" sz="2000" b="1" dirty="0"/>
              <a:t>&gt;(</a:t>
            </a:r>
            <a:r>
              <a:rPr lang="pt-BR" sz="2000" b="1" dirty="0" err="1"/>
              <a:t>IEnumerable</a:t>
            </a:r>
            <a:r>
              <a:rPr lang="pt-BR" sz="2000" b="1" dirty="0"/>
              <a:t>&lt;T&gt;, </a:t>
            </a:r>
            <a:r>
              <a:rPr lang="pt-BR" sz="2000" b="1" dirty="0" err="1"/>
              <a:t>IEnumerable</a:t>
            </a:r>
            <a:r>
              <a:rPr lang="pt-BR" sz="2000" b="1" dirty="0"/>
              <a:t>&lt;T&gt;, </a:t>
            </a:r>
            <a:r>
              <a:rPr lang="pt-BR" sz="2000" b="1" dirty="0" err="1"/>
              <a:t>Func</a:t>
            </a:r>
            <a:r>
              <a:rPr lang="pt-BR" sz="2000" b="1" dirty="0"/>
              <a:t>&lt;</a:t>
            </a:r>
            <a:r>
              <a:rPr lang="pt-BR" sz="2000" b="1" dirty="0" err="1"/>
              <a:t>T,Key</a:t>
            </a:r>
            <a:r>
              <a:rPr lang="pt-BR" sz="2000" b="1" dirty="0"/>
              <a:t>&gt;, </a:t>
            </a:r>
            <a:r>
              <a:rPr lang="pt-BR" sz="2000" b="1" dirty="0" err="1">
                <a:solidFill>
                  <a:srgbClr val="FFFF00"/>
                </a:solidFill>
              </a:rPr>
              <a:t>IEqualityComparer</a:t>
            </a:r>
            <a:r>
              <a:rPr lang="pt-BR" sz="2000" b="1" dirty="0">
                <a:solidFill>
                  <a:srgbClr val="FFFF00"/>
                </a:solidFill>
              </a:rPr>
              <a:t>&lt;Key&gt;</a:t>
            </a:r>
            <a:r>
              <a:rPr lang="pt-BR" sz="2000" b="1" dirty="0"/>
              <a:t>) 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140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2" grpId="0" animBg="1"/>
      <p:bldP spid="5" grpId="0"/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9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>
                <a:solidFill>
                  <a:srgbClr val="00B0F0"/>
                </a:solidFill>
              </a:rPr>
              <a:t>Union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316383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3C820A-36B1-6CE8-FAFD-DAF804D94BEB}"/>
              </a:ext>
            </a:extLst>
          </p:cNvPr>
          <p:cNvSpPr txBox="1"/>
          <p:nvPr/>
        </p:nvSpPr>
        <p:spPr>
          <a:xfrm>
            <a:off x="395415" y="82937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2, 3, 4, 5, 6 };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F72A0C-631A-CDE4-2326-AD25C0B24F96}"/>
              </a:ext>
            </a:extLst>
          </p:cNvPr>
          <p:cNvSpPr txBox="1"/>
          <p:nvPr/>
        </p:nvSpPr>
        <p:spPr>
          <a:xfrm>
            <a:off x="395415" y="1431834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3, 5, 8, 9, 10 };</a:t>
            </a: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22E6F4-2592-47B5-9B48-C88DC7F195AA}"/>
              </a:ext>
            </a:extLst>
          </p:cNvPr>
          <p:cNvSpPr txBox="1"/>
          <p:nvPr/>
        </p:nvSpPr>
        <p:spPr>
          <a:xfrm>
            <a:off x="395415" y="203428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</a:t>
            </a:r>
            <a:r>
              <a:rPr lang="pt-BR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Union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(fonte2).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28EC40-44BC-74FB-3939-9CF342298C6B}"/>
              </a:ext>
            </a:extLst>
          </p:cNvPr>
          <p:cNvSpPr txBox="1"/>
          <p:nvPr/>
        </p:nvSpPr>
        <p:spPr>
          <a:xfrm>
            <a:off x="395415" y="2811969"/>
            <a:ext cx="1065152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item </a:t>
            </a:r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(item);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239436-D7EF-FA46-BD91-109978661B0C}"/>
              </a:ext>
            </a:extLst>
          </p:cNvPr>
          <p:cNvSpPr txBox="1"/>
          <p:nvPr/>
        </p:nvSpPr>
        <p:spPr>
          <a:xfrm>
            <a:off x="893852" y="5211304"/>
            <a:ext cx="3657599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1 2 3 4 5 6 8 9 10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7E9CC5DC-C152-8C4E-B561-447F45B3D11B}"/>
              </a:ext>
            </a:extLst>
          </p:cNvPr>
          <p:cNvSpPr/>
          <p:nvPr/>
        </p:nvSpPr>
        <p:spPr>
          <a:xfrm>
            <a:off x="2706131" y="4226419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B3B299-93B6-B7C9-5CC2-735B26E023A7}"/>
              </a:ext>
            </a:extLst>
          </p:cNvPr>
          <p:cNvSpPr txBox="1"/>
          <p:nvPr/>
        </p:nvSpPr>
        <p:spPr>
          <a:xfrm>
            <a:off x="5612190" y="5520789"/>
            <a:ext cx="6203092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(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 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fonte1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num)  </a:t>
            </a:r>
            <a:b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.Union(fonte2).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4E69F0-CF7B-FC61-E855-84EEA72F51B6}"/>
              </a:ext>
            </a:extLst>
          </p:cNvPr>
          <p:cNvSpPr txBox="1"/>
          <p:nvPr/>
        </p:nvSpPr>
        <p:spPr>
          <a:xfrm>
            <a:off x="5558111" y="5034142"/>
            <a:ext cx="3328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Sintaxe de Consulta</a:t>
            </a:r>
          </a:p>
        </p:txBody>
      </p:sp>
    </p:spTree>
    <p:extLst>
      <p:ext uri="{BB962C8B-B14F-4D97-AF65-F5344CB8AC3E}">
        <p14:creationId xmlns:p14="http://schemas.microsoft.com/office/powerpoint/2010/main" val="972751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7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10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>
                <a:solidFill>
                  <a:srgbClr val="00B0F0"/>
                </a:solidFill>
              </a:rPr>
              <a:t>Union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fonte1.Union(fonte2).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300383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690102" y="5633042"/>
            <a:ext cx="1040598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Brasil  USA  UK  Argentina China </a:t>
            </a:r>
            <a:r>
              <a:rPr lang="pt-BR" sz="2800" b="1" dirty="0" err="1">
                <a:solidFill>
                  <a:srgbClr val="00B050"/>
                </a:solidFill>
              </a:rPr>
              <a:t>uk</a:t>
            </a:r>
            <a:r>
              <a:rPr lang="pt-BR" sz="2800" b="1" dirty="0">
                <a:solidFill>
                  <a:srgbClr val="002060"/>
                </a:solidFill>
              </a:rPr>
              <a:t>  França  Japão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55DA063-F8B1-BB2E-DF94-7F08CD50F4DD}"/>
              </a:ext>
            </a:extLst>
          </p:cNvPr>
          <p:cNvSpPr txBox="1"/>
          <p:nvPr/>
        </p:nvSpPr>
        <p:spPr>
          <a:xfrm>
            <a:off x="4931595" y="5110702"/>
            <a:ext cx="403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“UK” é diferente de “</a:t>
            </a:r>
            <a:r>
              <a:rPr lang="pt-BR" sz="2400" b="1" dirty="0" err="1"/>
              <a:t>uk</a:t>
            </a:r>
            <a:r>
              <a:rPr lang="pt-BR" sz="2400" b="1" dirty="0"/>
              <a:t>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7CF67E-3545-8748-C8CF-C18D48CA9BBC}"/>
              </a:ext>
            </a:extLst>
          </p:cNvPr>
          <p:cNvSpPr txBox="1"/>
          <p:nvPr/>
        </p:nvSpPr>
        <p:spPr>
          <a:xfrm>
            <a:off x="5003514" y="4649037"/>
            <a:ext cx="631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comparador padrão usado é case </a:t>
            </a:r>
            <a:r>
              <a:rPr lang="pt-BR" sz="2400" dirty="0" err="1"/>
              <a:t>sensitive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58917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11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>
                <a:solidFill>
                  <a:srgbClr val="00B0F0"/>
                </a:solidFill>
              </a:rPr>
              <a:t>Union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fonte1.Union(fonte2, </a:t>
            </a:r>
            <a:r>
              <a:rPr lang="pt-BR" b="1" dirty="0" err="1">
                <a:solidFill>
                  <a:srgbClr val="002060"/>
                </a:solidFill>
                <a:latin typeface="Cascadia Mono" panose="020B0609020000020004" pitchFamily="49" charset="0"/>
              </a:rPr>
              <a:t>StringComparer.OrdinalIgnorecase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0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294260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690102" y="5633042"/>
            <a:ext cx="1040598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Brasil  USA  UK  Argentina China França  Japão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55DA063-F8B1-BB2E-DF94-7F08CD50F4DD}"/>
              </a:ext>
            </a:extLst>
          </p:cNvPr>
          <p:cNvSpPr txBox="1"/>
          <p:nvPr/>
        </p:nvSpPr>
        <p:spPr>
          <a:xfrm>
            <a:off x="4931595" y="5110702"/>
            <a:ext cx="403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“UK” é diferente de “</a:t>
            </a:r>
            <a:r>
              <a:rPr lang="pt-BR" sz="2400" b="1" dirty="0" err="1"/>
              <a:t>uk</a:t>
            </a:r>
            <a:r>
              <a:rPr lang="pt-BR" sz="2400" b="1" dirty="0"/>
              <a:t>”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7CF67E-3545-8748-C8CF-C18D48CA9BBC}"/>
              </a:ext>
            </a:extLst>
          </p:cNvPr>
          <p:cNvSpPr txBox="1"/>
          <p:nvPr/>
        </p:nvSpPr>
        <p:spPr>
          <a:xfrm>
            <a:off x="5003514" y="4649037"/>
            <a:ext cx="6318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comparador padrão usado é case </a:t>
            </a:r>
            <a:r>
              <a:rPr lang="pt-BR" sz="2400" dirty="0" err="1"/>
              <a:t>sensitive</a:t>
            </a: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A0E568-881E-8BD7-B888-468434BDA6E2}"/>
              </a:ext>
            </a:extLst>
          </p:cNvPr>
          <p:cNvSpPr txBox="1"/>
          <p:nvPr/>
        </p:nvSpPr>
        <p:spPr>
          <a:xfrm>
            <a:off x="7346111" y="3097758"/>
            <a:ext cx="4118094" cy="120032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dirty="0"/>
              <a:t>Versão sobrecarregada que usa </a:t>
            </a:r>
            <a:r>
              <a:rPr lang="pt-BR" sz="2400" dirty="0" err="1">
                <a:solidFill>
                  <a:srgbClr val="00B0F0"/>
                </a:solidFill>
              </a:rPr>
              <a:t>IEqualityComparer</a:t>
            </a:r>
            <a:r>
              <a:rPr lang="pt-BR" sz="2400" dirty="0"/>
              <a:t> como argumento. 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42FE56FA-3D87-26F6-0A84-931B1C9B5DD3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7767263" y="2695083"/>
            <a:ext cx="1637895" cy="402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067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4" grpId="0"/>
      <p:bldP spid="5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12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4113800" y="2216082"/>
            <a:ext cx="316030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/>
              <a:t>FIM</a:t>
            </a:r>
            <a:endParaRPr lang="pt-BR" sz="13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931022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352.tgt.Office_50300831_TF33713516_Win32_OJ112196127" id="{5B02CB13-25F9-43E9-A3EC-2B08C0871AF2}" vid="{20DE5CB8-F2DD-40E1-8F79-272B0808BA1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{0813B0D7-9797-4010-B962-99818663E40B}tf33713516_win32</Template>
  <TotalTime>2544</TotalTime>
  <Words>975</Words>
  <Application>Microsoft Office PowerPoint</Application>
  <PresentationFormat>Widescreen</PresentationFormat>
  <Paragraphs>122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Cascadia Mono</vt:lpstr>
      <vt:lpstr>Gill Sans MT</vt:lpstr>
      <vt:lpstr>Walbaum Display</vt:lpstr>
      <vt:lpstr>3DFloatVTI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365 365</dc:creator>
  <cp:lastModifiedBy>Jose Carlos Macoratti</cp:lastModifiedBy>
  <cp:revision>37</cp:revision>
  <dcterms:created xsi:type="dcterms:W3CDTF">2022-09-06T13:49:28Z</dcterms:created>
  <dcterms:modified xsi:type="dcterms:W3CDTF">2024-04-23T12:06:28Z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