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21"/>
  </p:notesMasterIdLst>
  <p:handoutMasterIdLst>
    <p:handoutMasterId r:id="rId22"/>
  </p:handoutMasterIdLst>
  <p:sldIdLst>
    <p:sldId id="257" r:id="rId5"/>
    <p:sldId id="278" r:id="rId6"/>
    <p:sldId id="318" r:id="rId7"/>
    <p:sldId id="319" r:id="rId8"/>
    <p:sldId id="320" r:id="rId9"/>
    <p:sldId id="321" r:id="rId10"/>
    <p:sldId id="322" r:id="rId11"/>
    <p:sldId id="272" r:id="rId12"/>
    <p:sldId id="323" r:id="rId13"/>
    <p:sldId id="324" r:id="rId14"/>
    <p:sldId id="327" r:id="rId15"/>
    <p:sldId id="325" r:id="rId16"/>
    <p:sldId id="329" r:id="rId17"/>
    <p:sldId id="326" r:id="rId18"/>
    <p:sldId id="328" r:id="rId19"/>
    <p:sldId id="330" r:id="rId20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35B"/>
    <a:srgbClr val="CCE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23" autoAdjust="0"/>
    <p:restoredTop sz="93725" autoAdjust="0"/>
  </p:normalViewPr>
  <p:slideViewPr>
    <p:cSldViewPr snapToGrid="0">
      <p:cViewPr varScale="1">
        <p:scale>
          <a:sx n="93" d="100"/>
          <a:sy n="93" d="100"/>
        </p:scale>
        <p:origin x="108" y="46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2709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D1471C2C-1567-47F4-803E-468024209D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58F5B09-2954-46C6-97BB-9E10649FE2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25FB956-6D4A-42A4-8922-04A0471F5626}" type="datetime1">
              <a:rPr lang="pt-BR" smtClean="0"/>
              <a:t>23/04/2024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39A204B-EBA9-4C6D-BFB2-A104F00C8E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55F72FC-4D2D-4E5B-A4DD-62E2C822FB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23CDBB5-5B4A-4483-935D-A73935186B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923779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8414BCE-8E15-4FAC-ABEA-824CFE89BEEF}" type="datetime1">
              <a:rPr lang="pt-BR" smtClean="0"/>
              <a:t>23/04/2024</a:t>
            </a:fld>
            <a:endParaRPr lang="pt-BR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7CCE34D-CFF1-4FFE-815B-D050E7ED2D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36288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pt-BR" smtClean="0"/>
              <a:t>1</a:t>
            </a:fld>
            <a:endParaRPr lang="pt-BR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6C9253-D535-4381-869E-FE197FA2CA2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1A551632-2A86-4E22-BFB5-628C43F0EF2D}" type="datetime1">
              <a:rPr lang="pt-BR" smtClean="0"/>
              <a:t>23/04/2024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0835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DC0559-D619-4E56-BF6F-3712370C2150}" type="slidenum">
              <a:rPr lang="pt-BR" smtClean="0"/>
              <a:t>8</a:t>
            </a:fld>
            <a:endParaRPr lang="pt-BR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11347F-1F60-469A-9FBE-C9E88363253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7925796F-FBC9-436D-B0E8-C30C3924F0EC}" type="datetime1">
              <a:rPr lang="pt-BR" smtClean="0"/>
              <a:t>23/04/2024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4541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9E68F591-F3C7-4872-BBA0-0693794F4F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99414" y="1051551"/>
            <a:ext cx="3565524" cy="2384898"/>
          </a:xfrm>
        </p:spPr>
        <p:txBody>
          <a:bodyPr rtlCol="0" anchor="b" anchorCtr="0">
            <a:noAutofit/>
          </a:bodyPr>
          <a:lstStyle/>
          <a:p>
            <a:pPr rtl="0"/>
            <a:r>
              <a:rPr lang="pt-BR" sz="4800"/>
              <a:t>3DFloat</a:t>
            </a:r>
          </a:p>
        </p:txBody>
      </p:sp>
      <p:sp>
        <p:nvSpPr>
          <p:cNvPr id="14" name="Espaço Reservado para Imagem 13">
            <a:extLst>
              <a:ext uri="{FF2B5EF4-FFF2-40B4-BE49-F238E27FC236}">
                <a16:creationId xmlns:a16="http://schemas.microsoft.com/office/drawing/2014/main" id="{967766A8-18D5-4391-8DB7-7BFF642763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452360" cy="685800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8AD48E-7D67-4BE9-97B6-DB64DE525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999413" y="445272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EB6FF8E2-165B-49EB-8120-14190F949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915300" y="5534727"/>
            <a:ext cx="667802" cy="631474"/>
            <a:chOff x="10478914" y="1506691"/>
            <a:chExt cx="667802" cy="631474"/>
          </a:xfrm>
        </p:grpSpPr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79B763A7-EE7D-4306-8306-01E8C86E6350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B3A935F-6844-4FCE-B0AE-5492715A58F1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B16EB97-6E8A-4B50-8701-7CB158044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99413" y="3568700"/>
            <a:ext cx="3565524" cy="1731963"/>
          </a:xfrm>
        </p:spPr>
        <p:txBody>
          <a:bodyPr rtlCol="0">
            <a:noAutofit/>
          </a:bodyPr>
          <a:lstStyle>
            <a:lvl1pPr>
              <a:buNone/>
              <a:defRPr sz="2000"/>
            </a:lvl1pPr>
            <a:lvl2pPr>
              <a:buNone/>
              <a:defRPr sz="2000"/>
            </a:lvl2pPr>
            <a:lvl3pPr>
              <a:buNone/>
              <a:defRPr sz="2000"/>
            </a:lvl3pPr>
            <a:lvl4pPr>
              <a:buNone/>
              <a:defRPr sz="2000"/>
            </a:lvl4pPr>
            <a:lvl5pPr>
              <a:buNone/>
              <a:defRPr sz="200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60094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C0923D16-1EC5-4C17-ABA8-B13A1256B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549275"/>
            <a:ext cx="3565524" cy="1997855"/>
          </a:xfrm>
        </p:spPr>
        <p:txBody>
          <a:bodyPr wrap="square" rtlCol="0" anchor="b" anchorCtr="0">
            <a:noAutofit/>
          </a:bodyPr>
          <a:lstStyle>
            <a:lvl1pPr>
              <a:defRPr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50294D8B-CF64-4C26-8C78-57A375E7D33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3" y="2677306"/>
            <a:ext cx="3565525" cy="3415519"/>
          </a:xfrm>
        </p:spPr>
        <p:txBody>
          <a:bodyPr rtlCol="0" anchor="t" anchorCtr="0">
            <a:noAutofit/>
          </a:bodyPr>
          <a:lstStyle>
            <a:lvl1pPr>
              <a:buNone/>
              <a:defRPr/>
            </a:lvl1pPr>
          </a:lstStyle>
          <a:p>
            <a:pPr rtl="0">
              <a:lnSpc>
                <a:spcPct val="120000"/>
              </a:lnSpc>
            </a:pPr>
            <a:r>
              <a:rPr lang="pt-BR" sz="1600"/>
              <a:t>Clique para adicionar o texto</a:t>
            </a:r>
          </a:p>
        </p:txBody>
      </p:sp>
      <p:sp>
        <p:nvSpPr>
          <p:cNvPr id="17" name="Espaço Reservado para Imagem 16">
            <a:extLst>
              <a:ext uri="{FF2B5EF4-FFF2-40B4-BE49-F238E27FC236}">
                <a16:creationId xmlns:a16="http://schemas.microsoft.com/office/drawing/2014/main" id="{67BCF456-426F-435B-8DF0-A32A44F5A8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08928" y="1596771"/>
            <a:ext cx="3448558" cy="3448558"/>
          </a:xfrm>
          <a:custGeom>
            <a:avLst/>
            <a:gdLst>
              <a:gd name="connsiteX0" fmla="*/ 1724279 w 3448558"/>
              <a:gd name="connsiteY0" fmla="*/ 0 h 3448558"/>
              <a:gd name="connsiteX1" fmla="*/ 3448558 w 3448558"/>
              <a:gd name="connsiteY1" fmla="*/ 1724279 h 3448558"/>
              <a:gd name="connsiteX2" fmla="*/ 1724279 w 3448558"/>
              <a:gd name="connsiteY2" fmla="*/ 3448558 h 3448558"/>
              <a:gd name="connsiteX3" fmla="*/ 0 w 3448558"/>
              <a:gd name="connsiteY3" fmla="*/ 1724279 h 3448558"/>
              <a:gd name="connsiteX4" fmla="*/ 1724279 w 3448558"/>
              <a:gd name="connsiteY4" fmla="*/ 0 h 3448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8558" h="3448558">
                <a:moveTo>
                  <a:pt x="1724279" y="0"/>
                </a:moveTo>
                <a:cubicBezTo>
                  <a:pt x="2676572" y="0"/>
                  <a:pt x="3448558" y="771986"/>
                  <a:pt x="3448558" y="1724279"/>
                </a:cubicBezTo>
                <a:cubicBezTo>
                  <a:pt x="3448558" y="2676572"/>
                  <a:pt x="2676572" y="3448558"/>
                  <a:pt x="1724279" y="3448558"/>
                </a:cubicBezTo>
                <a:cubicBezTo>
                  <a:pt x="771986" y="3448558"/>
                  <a:pt x="0" y="2676572"/>
                  <a:pt x="0" y="1724279"/>
                </a:cubicBezTo>
                <a:cubicBezTo>
                  <a:pt x="0" y="771986"/>
                  <a:pt x="771986" y="0"/>
                  <a:pt x="1724279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2" name="Espaço Reservado para Imagem 21">
            <a:extLst>
              <a:ext uri="{FF2B5EF4-FFF2-40B4-BE49-F238E27FC236}">
                <a16:creationId xmlns:a16="http://schemas.microsoft.com/office/drawing/2014/main" id="{4813A609-7079-46D5-9C1D-52004ABDAC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18575" y="596392"/>
            <a:ext cx="2263776" cy="2263776"/>
          </a:xfrm>
          <a:custGeom>
            <a:avLst/>
            <a:gdLst>
              <a:gd name="connsiteX0" fmla="*/ 1131888 w 2263776"/>
              <a:gd name="connsiteY0" fmla="*/ 0 h 2263776"/>
              <a:gd name="connsiteX1" fmla="*/ 2263776 w 2263776"/>
              <a:gd name="connsiteY1" fmla="*/ 1131888 h 2263776"/>
              <a:gd name="connsiteX2" fmla="*/ 1131888 w 2263776"/>
              <a:gd name="connsiteY2" fmla="*/ 2263776 h 2263776"/>
              <a:gd name="connsiteX3" fmla="*/ 0 w 2263776"/>
              <a:gd name="connsiteY3" fmla="*/ 1131888 h 2263776"/>
              <a:gd name="connsiteX4" fmla="*/ 1131888 w 2263776"/>
              <a:gd name="connsiteY4" fmla="*/ 0 h 226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3776" h="2263776">
                <a:moveTo>
                  <a:pt x="1131888" y="0"/>
                </a:moveTo>
                <a:cubicBezTo>
                  <a:pt x="1757012" y="0"/>
                  <a:pt x="2263776" y="506764"/>
                  <a:pt x="2263776" y="1131888"/>
                </a:cubicBezTo>
                <a:cubicBezTo>
                  <a:pt x="2263776" y="1757012"/>
                  <a:pt x="1757012" y="2263776"/>
                  <a:pt x="1131888" y="2263776"/>
                </a:cubicBezTo>
                <a:cubicBezTo>
                  <a:pt x="506764" y="2263776"/>
                  <a:pt x="0" y="1757012"/>
                  <a:pt x="0" y="1131888"/>
                </a:cubicBezTo>
                <a:cubicBezTo>
                  <a:pt x="0" y="506764"/>
                  <a:pt x="506764" y="0"/>
                  <a:pt x="113188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A14F21DF-D5E0-4C6C-BA2C-D69D65DBB18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91612" y="3324733"/>
            <a:ext cx="2936876" cy="2936876"/>
          </a:xfrm>
          <a:custGeom>
            <a:avLst/>
            <a:gdLst>
              <a:gd name="connsiteX0" fmla="*/ 1468438 w 2936876"/>
              <a:gd name="connsiteY0" fmla="*/ 0 h 2936876"/>
              <a:gd name="connsiteX1" fmla="*/ 2936876 w 2936876"/>
              <a:gd name="connsiteY1" fmla="*/ 1468438 h 2936876"/>
              <a:gd name="connsiteX2" fmla="*/ 1468438 w 2936876"/>
              <a:gd name="connsiteY2" fmla="*/ 2936876 h 2936876"/>
              <a:gd name="connsiteX3" fmla="*/ 0 w 2936876"/>
              <a:gd name="connsiteY3" fmla="*/ 1468438 h 2936876"/>
              <a:gd name="connsiteX4" fmla="*/ 1468438 w 2936876"/>
              <a:gd name="connsiteY4" fmla="*/ 0 h 293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6876" h="2936876">
                <a:moveTo>
                  <a:pt x="1468438" y="0"/>
                </a:moveTo>
                <a:cubicBezTo>
                  <a:pt x="2279434" y="0"/>
                  <a:pt x="2936876" y="657442"/>
                  <a:pt x="2936876" y="1468438"/>
                </a:cubicBezTo>
                <a:cubicBezTo>
                  <a:pt x="2936876" y="2279434"/>
                  <a:pt x="2279434" y="2936876"/>
                  <a:pt x="1468438" y="2936876"/>
                </a:cubicBezTo>
                <a:cubicBezTo>
                  <a:pt x="657442" y="2936876"/>
                  <a:pt x="0" y="2279434"/>
                  <a:pt x="0" y="1468438"/>
                </a:cubicBezTo>
                <a:cubicBezTo>
                  <a:pt x="0" y="657442"/>
                  <a:pt x="657442" y="0"/>
                  <a:pt x="146843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2FF63B4-C261-4597-9EE0-811D250B9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548755" y="850167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F92CF088-7F97-4A11-8A81-0EF641F69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02297" y="5691007"/>
            <a:ext cx="667802" cy="631474"/>
            <a:chOff x="3409557" y="4940429"/>
            <a:chExt cx="667802" cy="631474"/>
          </a:xfrm>
        </p:grpSpPr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165B23B7-CE74-4974-ABD8-BFA31D583416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3537358" y="4940429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F99BB1F-6C9D-4972-9EF4-98ACD7BE71E5}"/>
                </a:ext>
              </a:extLst>
            </p:cNvPr>
            <p:cNvSpPr/>
            <p:nvPr/>
          </p:nvSpPr>
          <p:spPr>
            <a:xfrm rot="13500000">
              <a:off x="3544558" y="4858365"/>
              <a:ext cx="270000" cy="540001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428412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du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458B3A1-C77D-4AFC-B2C8-79520B53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7200"/>
            <a:ext cx="4500562" cy="1562959"/>
          </a:xfrm>
        </p:spPr>
        <p:txBody>
          <a:bodyPr wrap="square" rtlCol="0" anchor="t" anchorCtr="0">
            <a:noAutofit/>
          </a:bodyPr>
          <a:lstStyle/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F551DA26-B267-4F28-B4D0-65B3EF6E11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8" name="Espaço Reservado para Imagem 11">
            <a:extLst>
              <a:ext uri="{FF2B5EF4-FFF2-40B4-BE49-F238E27FC236}">
                <a16:creationId xmlns:a16="http://schemas.microsoft.com/office/drawing/2014/main" id="{95544A62-DA23-4840-99DE-09AFC8F4DC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4096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9" name="Espaço Reservado para Imagem 11">
            <a:extLst>
              <a:ext uri="{FF2B5EF4-FFF2-40B4-BE49-F238E27FC236}">
                <a16:creationId xmlns:a16="http://schemas.microsoft.com/office/drawing/2014/main" id="{0C91AF30-C5BB-4601-BDEB-E60C93A169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83808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0" name="Espaço Reservado para Imagem 11">
            <a:extLst>
              <a:ext uri="{FF2B5EF4-FFF2-40B4-BE49-F238E27FC236}">
                <a16:creationId xmlns:a16="http://schemas.microsoft.com/office/drawing/2014/main" id="{5B625AA5-EA5B-4115-A461-DA2C7087D83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37904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Espaço Reservado para Conteúdo 6">
            <a:extLst>
              <a:ext uri="{FF2B5EF4-FFF2-40B4-BE49-F238E27FC236}">
                <a16:creationId xmlns:a16="http://schemas.microsoft.com/office/drawing/2014/main" id="{1B1AE41C-3196-4E6F-A3A8-313A92677F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 rtlCol="0">
            <a:noAutofit/>
          </a:bodyPr>
          <a:lstStyle>
            <a:lvl1pPr marL="228600" indent="-2286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57026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Quebra de se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accent5"/>
          </a:solid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0517979-166D-4AAA-ABBC-0C3E5C2EC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E111559-B769-4E2A-A891-97B3C4AA6BAC}"/>
              </a:ext>
            </a:extLst>
          </p:cNvPr>
          <p:cNvSpPr/>
          <p:nvPr userDrawn="1"/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 anchor="b" anchorCtr="0">
            <a:noAutofit/>
          </a:bodyPr>
          <a:lstStyle>
            <a:lvl1pPr>
              <a:defRPr sz="64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16724"/>
            <a:ext cx="5437187" cy="2265216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</a:lstStyle>
          <a:p>
            <a:pPr rtl="0"/>
            <a:r>
              <a:rPr lang="pt-BR">
                <a:solidFill>
                  <a:schemeClr val="tx1">
                    <a:alpha val="60000"/>
                  </a:schemeClr>
                </a:solidFill>
              </a:rPr>
              <a:t>Clique para editar o estilo do subtítulo Mestre</a:t>
            </a:r>
            <a:endParaRPr lang="pt-BR" dirty="0">
              <a:solidFill>
                <a:schemeClr val="tx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429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Quebra de se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57281"/>
            <a:ext cx="6640285" cy="3300719"/>
          </a:xfrm>
          <a:gradFill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60000"/>
                </a:schemeClr>
              </a:gs>
            </a:gsLst>
            <a:lin ang="10800000" scaled="1"/>
          </a:gradFill>
        </p:spPr>
        <p:txBody>
          <a:bodyPr rtlCol="0">
            <a:noAutofit/>
          </a:bodyPr>
          <a:lstStyle>
            <a:lvl1pPr marL="548640" indent="0">
              <a:lnSpc>
                <a:spcPct val="200000"/>
              </a:lnSpc>
              <a:buNone/>
              <a:defRPr/>
            </a:lvl1pPr>
          </a:lstStyle>
          <a:p>
            <a:pPr rtl="0"/>
            <a:r>
              <a:rPr lang="pt-BR">
                <a:solidFill>
                  <a:schemeClr val="tx1">
                    <a:alpha val="60000"/>
                  </a:schemeClr>
                </a:solidFill>
              </a:rPr>
              <a:t>Clique para editar o estilo do subtítulo Mestre</a:t>
            </a:r>
            <a:endParaRPr lang="pt-BR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640285" cy="3535509"/>
          </a:xfrm>
          <a:gradFill flip="none" rotWithShape="1"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70000"/>
                </a:schemeClr>
              </a:gs>
            </a:gsLst>
            <a:lin ang="10800000" scaled="1"/>
            <a:tileRect/>
          </a:gradFill>
        </p:spPr>
        <p:txBody>
          <a:bodyPr rtlCol="0" anchor="b" anchorCtr="0">
            <a:noAutofit/>
          </a:bodyPr>
          <a:lstStyle>
            <a:lvl1pPr marL="548640">
              <a:spcAft>
                <a:spcPts val="1200"/>
              </a:spcAft>
              <a:defRPr sz="64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9304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Linha do tempo da Tabela do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pt-BR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 rtlCol="0">
            <a:no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7062BF5C-3876-4161-B4FF-14CA94D32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6160" cy="3384550"/>
          </a:xfrm>
        </p:spPr>
        <p:txBody>
          <a:bodyPr wrap="square" rtlCol="0" anchor="b" anchorCtr="0">
            <a:noAutofit/>
          </a:bodyPr>
          <a:lstStyle>
            <a:lvl1pPr>
              <a:defRPr sz="40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B17C5C60-EC4D-410B-9997-0B7328960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9" name="Forma Livre 5">
              <a:extLst>
                <a:ext uri="{FF2B5EF4-FFF2-40B4-BE49-F238E27FC236}">
                  <a16:creationId xmlns:a16="http://schemas.microsoft.com/office/drawing/2014/main" id="{0573155C-3428-4F4F-AE66-A519D777EAAE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0" name="Forma Livre 6">
              <a:extLst>
                <a:ext uri="{FF2B5EF4-FFF2-40B4-BE49-F238E27FC236}">
                  <a16:creationId xmlns:a16="http://schemas.microsoft.com/office/drawing/2014/main" id="{1853496C-159E-4D47-94B5-0835FB6511B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1" name="Forma Livre 8">
              <a:extLst>
                <a:ext uri="{FF2B5EF4-FFF2-40B4-BE49-F238E27FC236}">
                  <a16:creationId xmlns:a16="http://schemas.microsoft.com/office/drawing/2014/main" id="{CE93E330-715B-44E8-84D9-CE166D428D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80A2FA6F-99B7-4984-A80C-570644889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17" name="Espaço Reservado para Conteúdo 16">
            <a:extLst>
              <a:ext uri="{FF2B5EF4-FFF2-40B4-BE49-F238E27FC236}">
                <a16:creationId xmlns:a16="http://schemas.microsoft.com/office/drawing/2014/main" id="{439C8C03-81B3-4DE8-B96A-78258E4467C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0863" y="4097338"/>
            <a:ext cx="3565524" cy="2351087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15" name="Espaço Reservado para Imagem 14">
            <a:extLst>
              <a:ext uri="{FF2B5EF4-FFF2-40B4-BE49-F238E27FC236}">
                <a16:creationId xmlns:a16="http://schemas.microsoft.com/office/drawing/2014/main" id="{C1FBB56D-C8B1-4ED9-A5DB-72BA636DAD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35809" y="65663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3087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E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E38C6F9E-A74F-4F54-9409-B6B93DF8C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60000"/>
                </a:schemeClr>
              </a:gs>
              <a:gs pos="40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pt-BR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F0F71C5-78A4-4793-9BD4-3DF0EE3E3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288775" y="7626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40" name="Título 5">
            <a:extLst>
              <a:ext uri="{FF2B5EF4-FFF2-40B4-BE49-F238E27FC236}">
                <a16:creationId xmlns:a16="http://schemas.microsoft.com/office/drawing/2014/main" id="{36F60F77-4CC9-4F86-B70A-85012C6588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548640"/>
            <a:ext cx="8281987" cy="1253041"/>
          </a:xfrm>
        </p:spPr>
        <p:txBody>
          <a:bodyPr rtlCol="0">
            <a:noAutofit/>
          </a:bodyPr>
          <a:lstStyle/>
          <a:p>
            <a:pPr rtl="0"/>
            <a:r>
              <a:rPr lang="pt-BR"/>
              <a:t>Equipe</a:t>
            </a:r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E6093F87-C1F6-4FAB-B891-6F7D7FC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800565" y="4518946"/>
            <a:ext cx="1980001" cy="1363916"/>
            <a:chOff x="4879602" y="3781429"/>
            <a:chExt cx="1980001" cy="1363916"/>
          </a:xfrm>
        </p:grpSpPr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E1A4FD5C-1E5B-46D1-BA9D-99928D19AF04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B7DF0ED5-A971-408F-A055-C7E5D7A623C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A81F353-4C5B-4A37-9846-2C1E2D0FC25F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2B74EA3-11CE-4D3F-99AD-162563447653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56" name="Espaço Reservado para Imagem 55">
            <a:extLst>
              <a:ext uri="{FF2B5EF4-FFF2-40B4-BE49-F238E27FC236}">
                <a16:creationId xmlns:a16="http://schemas.microsoft.com/office/drawing/2014/main" id="{8F41896B-6DDA-4F82-9F74-3EBF93A3CD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8992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57" name="Espaço Reservado para Imagem 55">
            <a:extLst>
              <a:ext uri="{FF2B5EF4-FFF2-40B4-BE49-F238E27FC236}">
                <a16:creationId xmlns:a16="http://schemas.microsoft.com/office/drawing/2014/main" id="{EF85499B-C29A-4C8B-922C-7CE4771E35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38384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58" name="Espaço Reservado para Imagem 55">
            <a:extLst>
              <a:ext uri="{FF2B5EF4-FFF2-40B4-BE49-F238E27FC236}">
                <a16:creationId xmlns:a16="http://schemas.microsoft.com/office/drawing/2014/main" id="{F82A1DB8-0AE7-4E17-B07B-FCF45B85EE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61976" y="1993392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59" name="Espaço Reservado para Imagem 55">
            <a:extLst>
              <a:ext uri="{FF2B5EF4-FFF2-40B4-BE49-F238E27FC236}">
                <a16:creationId xmlns:a16="http://schemas.microsoft.com/office/drawing/2014/main" id="{A83EEB6C-83B7-471D-B5A4-4071534048D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85568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63" name="Espaço Reservado para Texto 62">
            <a:extLst>
              <a:ext uri="{FF2B5EF4-FFF2-40B4-BE49-F238E27FC236}">
                <a16:creationId xmlns:a16="http://schemas.microsoft.com/office/drawing/2014/main" id="{17A96A8C-F792-485A-9BB9-4DEDCA0CE6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9500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BR"/>
              <a:t>Nome</a:t>
            </a:r>
          </a:p>
        </p:txBody>
      </p:sp>
      <p:sp>
        <p:nvSpPr>
          <p:cNvPr id="61" name="Espaço Reservado para Texto 60">
            <a:extLst>
              <a:ext uri="{FF2B5EF4-FFF2-40B4-BE49-F238E27FC236}">
                <a16:creationId xmlns:a16="http://schemas.microsoft.com/office/drawing/2014/main" id="{6C65AE07-519E-4E3B-8521-621C834391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78733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BR"/>
              <a:t>Título</a:t>
            </a:r>
          </a:p>
        </p:txBody>
      </p:sp>
      <p:sp>
        <p:nvSpPr>
          <p:cNvPr id="65" name="Espaço Reservado para Texto 62">
            <a:extLst>
              <a:ext uri="{FF2B5EF4-FFF2-40B4-BE49-F238E27FC236}">
                <a16:creationId xmlns:a16="http://schemas.microsoft.com/office/drawing/2014/main" id="{FB878318-C287-428B-8105-429BC4B03F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39151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BR"/>
              <a:t>Nome</a:t>
            </a:r>
          </a:p>
        </p:txBody>
      </p:sp>
      <p:sp>
        <p:nvSpPr>
          <p:cNvPr id="64" name="Espaço Reservado para Texto 60">
            <a:extLst>
              <a:ext uri="{FF2B5EF4-FFF2-40B4-BE49-F238E27FC236}">
                <a16:creationId xmlns:a16="http://schemas.microsoft.com/office/drawing/2014/main" id="{1465E516-2CEF-4F9E-9375-7D41DCFCBB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38384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BR"/>
              <a:t>Título</a:t>
            </a:r>
          </a:p>
        </p:txBody>
      </p:sp>
      <p:sp>
        <p:nvSpPr>
          <p:cNvPr id="67" name="Espaço Reservado para Texto 62">
            <a:extLst>
              <a:ext uri="{FF2B5EF4-FFF2-40B4-BE49-F238E27FC236}">
                <a16:creationId xmlns:a16="http://schemas.microsoft.com/office/drawing/2014/main" id="{FE012CE3-36AA-4016-A88E-27BCFFEFD6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62743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BR"/>
              <a:t>Nome</a:t>
            </a:r>
          </a:p>
        </p:txBody>
      </p:sp>
      <p:sp>
        <p:nvSpPr>
          <p:cNvPr id="66" name="Espaço Reservado para Texto 60">
            <a:extLst>
              <a:ext uri="{FF2B5EF4-FFF2-40B4-BE49-F238E27FC236}">
                <a16:creationId xmlns:a16="http://schemas.microsoft.com/office/drawing/2014/main" id="{8D5671AF-0137-4226-8A84-2784817E51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61976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BR"/>
              <a:t>Título</a:t>
            </a:r>
          </a:p>
        </p:txBody>
      </p:sp>
      <p:sp>
        <p:nvSpPr>
          <p:cNvPr id="69" name="Espaço Reservado para Texto 62">
            <a:extLst>
              <a:ext uri="{FF2B5EF4-FFF2-40B4-BE49-F238E27FC236}">
                <a16:creationId xmlns:a16="http://schemas.microsoft.com/office/drawing/2014/main" id="{DA1587F0-23BF-4FB8-B06C-2B0AA928E9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3112" y="3787288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BR"/>
              <a:t>Nome</a:t>
            </a:r>
          </a:p>
        </p:txBody>
      </p:sp>
      <p:sp>
        <p:nvSpPr>
          <p:cNvPr id="68" name="Espaço Reservado para Texto 60">
            <a:extLst>
              <a:ext uri="{FF2B5EF4-FFF2-40B4-BE49-F238E27FC236}">
                <a16:creationId xmlns:a16="http://schemas.microsoft.com/office/drawing/2014/main" id="{565C0B22-B5E7-44BB-A17C-7FB5BB5D82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32345" y="4238812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BR"/>
              <a:t>Título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577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Conteúdo da coluna 2 (slide de comparaçã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pt-BR" sz="4800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5437186" cy="535354"/>
          </a:xfrm>
        </p:spPr>
        <p:txBody>
          <a:bodyPr rtlCol="0" anchor="b">
            <a:no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427370"/>
            <a:ext cx="5429114" cy="3515555"/>
          </a:xfrm>
        </p:spPr>
        <p:txBody>
          <a:bodyPr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731375"/>
            <a:ext cx="5436392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pt-BR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427370"/>
            <a:ext cx="5436391" cy="3515555"/>
          </a:xfrm>
        </p:spPr>
        <p:txBody>
          <a:bodyPr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039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luna do conteú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upo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7931" y="5260967"/>
            <a:ext cx="1980001" cy="1363916"/>
            <a:chOff x="4879602" y="3781429"/>
            <a:chExt cx="1980001" cy="1363916"/>
          </a:xfrm>
        </p:grpSpPr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10834944" y="17126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10849344" y="51834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EBCCE83C-72C8-4181-8D03-7CFB23A6F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pt-BR" sz="4800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editar o título Mestre</a:t>
            </a:r>
          </a:p>
        </p:txBody>
      </p:sp>
      <p:sp>
        <p:nvSpPr>
          <p:cNvPr id="16" name="Espaço Reservado para Texto 2">
            <a:extLst>
              <a:ext uri="{FF2B5EF4-FFF2-40B4-BE49-F238E27FC236}">
                <a16:creationId xmlns:a16="http://schemas.microsoft.com/office/drawing/2014/main" id="{C6FCDFCC-38D1-43A4-918F-491DBA6B2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3563936" cy="535354"/>
          </a:xfrm>
        </p:spPr>
        <p:txBody>
          <a:bodyPr rtlCol="0" anchor="b">
            <a:noAutofit/>
          </a:bodyPr>
          <a:lstStyle>
            <a:lvl1pPr marL="0" indent="0">
              <a:buNone/>
              <a:defRPr sz="20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17" name="Espaço Reservado para Conteúdo 3">
            <a:extLst>
              <a:ext uri="{FF2B5EF4-FFF2-40B4-BE49-F238E27FC236}">
                <a16:creationId xmlns:a16="http://schemas.microsoft.com/office/drawing/2014/main" id="{8A9CB740-8581-4D62-8481-7ECBBEDA7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476" y="2432304"/>
            <a:ext cx="3563936" cy="3515555"/>
          </a:xfrm>
        </p:spPr>
        <p:txBody>
          <a:bodyPr rtlCol="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2" name="Espaço Reservado para Texto 4">
            <a:extLst>
              <a:ext uri="{FF2B5EF4-FFF2-40B4-BE49-F238E27FC236}">
                <a16:creationId xmlns:a16="http://schemas.microsoft.com/office/drawing/2014/main" id="{AB16E493-D962-46EC-BBB8-D7E68A6404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1573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pt-BR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pt-BR"/>
              <a:t>Clique para editar os estilos de texto Mestres</a:t>
            </a:r>
          </a:p>
        </p:txBody>
      </p:sp>
      <p:sp>
        <p:nvSpPr>
          <p:cNvPr id="23" name="Espaço Reservado para Conteúdo 5">
            <a:extLst>
              <a:ext uri="{FF2B5EF4-FFF2-40B4-BE49-F238E27FC236}">
                <a16:creationId xmlns:a16="http://schemas.microsoft.com/office/drawing/2014/main" id="{88CC7C67-1BA6-42A6-B9D3-8EDF70A3DB3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41573" y="2427370"/>
            <a:ext cx="3508755" cy="3515555"/>
          </a:xfrm>
        </p:spPr>
        <p:txBody>
          <a:bodyPr rtlCol="0"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C17092A6-D0E6-4EF2-B3B8-AE35438D4D7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139659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pt-BR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pt-BR"/>
              <a:t>Clique para EDITAR</a:t>
            </a:r>
          </a:p>
        </p:txBody>
      </p:sp>
      <p:sp>
        <p:nvSpPr>
          <p:cNvPr id="21" name="Espaço Reservado para Conteúdo 5">
            <a:extLst>
              <a:ext uri="{FF2B5EF4-FFF2-40B4-BE49-F238E27FC236}">
                <a16:creationId xmlns:a16="http://schemas.microsoft.com/office/drawing/2014/main" id="{4534254A-2561-400F-87CB-18A8D3538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39659" y="2427370"/>
            <a:ext cx="3508755" cy="3515555"/>
          </a:xfrm>
        </p:spPr>
        <p:txBody>
          <a:bodyPr rtlCol="0"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2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949202B-67AE-417A-A336-DF5257FF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8500"/>
            <a:ext cx="4500562" cy="1562959"/>
          </a:xfrm>
        </p:spPr>
        <p:txBody>
          <a:bodyPr wrap="square" rtlCol="0" anchor="t" anchorCtr="0">
            <a:noAutofit/>
          </a:bodyPr>
          <a:lstStyle/>
          <a:p>
            <a:pPr rtl="0"/>
            <a:r>
              <a:rPr lang="pt-BR"/>
              <a:t>Clique para editar o título Mestre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1786D546-2834-435F-950F-DCEFE654B3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3BD763BD-EAC5-4DB8-81AF-9743BB6A957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 rtlCol="0">
            <a:noAutofit/>
          </a:bodyPr>
          <a:lstStyle>
            <a:lvl1pPr marL="0" indent="0">
              <a:buNone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46AF837-10C6-44A5-B8D6-960A57487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5477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Fech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ítulo 1">
            <a:extLst>
              <a:ext uri="{FF2B5EF4-FFF2-40B4-BE49-F238E27FC236}">
                <a16:creationId xmlns:a16="http://schemas.microsoft.com/office/drawing/2014/main" id="{97246E34-E6EE-4BF3-A0D3-A20868B5A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 anchor="b" anchorCtr="0">
            <a:noAutofit/>
          </a:bodyPr>
          <a:lstStyle/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1" name="Subtítulo 2">
            <a:extLst>
              <a:ext uri="{FF2B5EF4-FFF2-40B4-BE49-F238E27FC236}">
                <a16:creationId xmlns:a16="http://schemas.microsoft.com/office/drawing/2014/main" id="{45BE5FFB-47D1-4474-B6CA-C3C936DF2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</a:lstStyle>
          <a:p>
            <a:pPr rtl="0"/>
            <a:r>
              <a:rPr lang="pt-BR">
                <a:solidFill>
                  <a:schemeClr val="tx1">
                    <a:alpha val="60000"/>
                  </a:schemeClr>
                </a:solidFill>
              </a:rPr>
              <a:t>Clique para editar o estilo do subtítulo Mestre</a:t>
            </a:r>
            <a:endParaRPr lang="pt-BR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40" name="Espaço Reservado para Imagem 39">
            <a:extLst>
              <a:ext uri="{FF2B5EF4-FFF2-40B4-BE49-F238E27FC236}">
                <a16:creationId xmlns:a16="http://schemas.microsoft.com/office/drawing/2014/main" id="{008D9209-1A62-4AC3-BF92-94348A9BC0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56248" y="548640"/>
            <a:ext cx="5084064" cy="288036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42" name="Espaço Reservado para Imagem 41">
            <a:extLst>
              <a:ext uri="{FF2B5EF4-FFF2-40B4-BE49-F238E27FC236}">
                <a16:creationId xmlns:a16="http://schemas.microsoft.com/office/drawing/2014/main" id="{FADBFB6B-1787-4549-91B6-D748C66B13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56248" y="3429000"/>
            <a:ext cx="5084064" cy="288036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grpSp>
        <p:nvGrpSpPr>
          <p:cNvPr id="43" name="Grupo 42">
            <a:extLst>
              <a:ext uri="{FF2B5EF4-FFF2-40B4-BE49-F238E27FC236}">
                <a16:creationId xmlns:a16="http://schemas.microsoft.com/office/drawing/2014/main" id="{06966E3E-9B30-4375-AC9A-23256CC87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161347" y="125399"/>
            <a:ext cx="1404698" cy="1155641"/>
            <a:chOff x="11161347" y="125399"/>
            <a:chExt cx="1404698" cy="1155641"/>
          </a:xfrm>
        </p:grpSpPr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4EBBC5A2-A37E-47DF-9230-9A75067F188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161347" y="125399"/>
              <a:ext cx="1341675" cy="926985"/>
            </a:xfrm>
            <a:custGeom>
              <a:avLst/>
              <a:gdLst>
                <a:gd name="connsiteX0" fmla="*/ 1049126 w 1341675"/>
                <a:gd name="connsiteY0" fmla="*/ 8962 h 926985"/>
                <a:gd name="connsiteX1" fmla="*/ 1341675 w 1341675"/>
                <a:gd name="connsiteY1" fmla="*/ 301511 h 926985"/>
                <a:gd name="connsiteX2" fmla="*/ 1130649 w 1341675"/>
                <a:gd name="connsiteY2" fmla="*/ 512537 h 926985"/>
                <a:gd name="connsiteX3" fmla="*/ 1107397 w 1341675"/>
                <a:gd name="connsiteY3" fmla="*/ 499917 h 926985"/>
                <a:gd name="connsiteX4" fmla="*/ 926985 w 1341675"/>
                <a:gd name="connsiteY4" fmla="*/ 463493 h 926985"/>
                <a:gd name="connsiteX5" fmla="*/ 463493 w 1341675"/>
                <a:gd name="connsiteY5" fmla="*/ 926985 h 926985"/>
                <a:gd name="connsiteX6" fmla="*/ 0 w 1341675"/>
                <a:gd name="connsiteY6" fmla="*/ 926985 h 926985"/>
                <a:gd name="connsiteX7" fmla="*/ 926985 w 1341675"/>
                <a:gd name="connsiteY7" fmla="*/ 0 h 926985"/>
                <a:gd name="connsiteX8" fmla="*/ 1021763 w 1341675"/>
                <a:gd name="connsiteY8" fmla="*/ 4786 h 92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1675" h="926985">
                  <a:moveTo>
                    <a:pt x="1049126" y="8962"/>
                  </a:moveTo>
                  <a:lnTo>
                    <a:pt x="1341675" y="301511"/>
                  </a:lnTo>
                  <a:lnTo>
                    <a:pt x="1130649" y="512537"/>
                  </a:lnTo>
                  <a:lnTo>
                    <a:pt x="1107397" y="499917"/>
                  </a:lnTo>
                  <a:cubicBezTo>
                    <a:pt x="1051945" y="476462"/>
                    <a:pt x="990979" y="463493"/>
                    <a:pt x="926985" y="463493"/>
                  </a:cubicBezTo>
                  <a:cubicBezTo>
                    <a:pt x="671005" y="463493"/>
                    <a:pt x="463493" y="671005"/>
                    <a:pt x="463493" y="926985"/>
                  </a:cubicBezTo>
                  <a:lnTo>
                    <a:pt x="0" y="926985"/>
                  </a:lnTo>
                  <a:cubicBezTo>
                    <a:pt x="0" y="415026"/>
                    <a:pt x="415025" y="0"/>
                    <a:pt x="926985" y="0"/>
                  </a:cubicBezTo>
                  <a:cubicBezTo>
                    <a:pt x="958982" y="0"/>
                    <a:pt x="990601" y="1621"/>
                    <a:pt x="1021763" y="478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54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1781B9A-C230-4FFC-90A8-E0571B1DEDA7}"/>
                </a:ext>
              </a:extLst>
            </p:cNvPr>
            <p:cNvSpPr/>
            <p:nvPr/>
          </p:nvSpPr>
          <p:spPr>
            <a:xfrm rot="2700000">
              <a:off x="11798454" y="994196"/>
              <a:ext cx="107098" cy="4665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254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3295925C-3570-40F1-B3CE-07D947ED464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228590" y="129580"/>
              <a:ext cx="1337455" cy="1042921"/>
            </a:xfrm>
            <a:custGeom>
              <a:avLst/>
              <a:gdLst>
                <a:gd name="connsiteX0" fmla="*/ 1084058 w 1337455"/>
                <a:gd name="connsiteY0" fmla="*/ 16081 h 1042921"/>
                <a:gd name="connsiteX1" fmla="*/ 1337455 w 1337455"/>
                <a:gd name="connsiteY1" fmla="*/ 269477 h 1042921"/>
                <a:gd name="connsiteX2" fmla="*/ 1060775 w 1337455"/>
                <a:gd name="connsiteY2" fmla="*/ 546158 h 1042921"/>
                <a:gd name="connsiteX3" fmla="*/ 1020394 w 1337455"/>
                <a:gd name="connsiteY3" fmla="*/ 532055 h 1042921"/>
                <a:gd name="connsiteX4" fmla="*/ 926985 w 1337455"/>
                <a:gd name="connsiteY4" fmla="*/ 521461 h 1042921"/>
                <a:gd name="connsiteX5" fmla="*/ 463492 w 1337455"/>
                <a:gd name="connsiteY5" fmla="*/ 1042921 h 1042921"/>
                <a:gd name="connsiteX6" fmla="*/ 0 w 1337455"/>
                <a:gd name="connsiteY6" fmla="*/ 1042921 h 1042921"/>
                <a:gd name="connsiteX7" fmla="*/ 926984 w 1337455"/>
                <a:gd name="connsiteY7" fmla="*/ 0 h 1042921"/>
                <a:gd name="connsiteX8" fmla="*/ 1021763 w 1337455"/>
                <a:gd name="connsiteY8" fmla="*/ 5384 h 104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7455" h="1042921">
                  <a:moveTo>
                    <a:pt x="1084058" y="16081"/>
                  </a:moveTo>
                  <a:lnTo>
                    <a:pt x="1337455" y="269477"/>
                  </a:lnTo>
                  <a:lnTo>
                    <a:pt x="1060775" y="546158"/>
                  </a:lnTo>
                  <a:lnTo>
                    <a:pt x="1020394" y="532055"/>
                  </a:lnTo>
                  <a:cubicBezTo>
                    <a:pt x="990222" y="525109"/>
                    <a:pt x="958982" y="521461"/>
                    <a:pt x="926985" y="521461"/>
                  </a:cubicBezTo>
                  <a:cubicBezTo>
                    <a:pt x="671005" y="521461"/>
                    <a:pt x="463493" y="754927"/>
                    <a:pt x="463492" y="1042921"/>
                  </a:cubicBezTo>
                  <a:lnTo>
                    <a:pt x="0" y="1042921"/>
                  </a:lnTo>
                  <a:cubicBezTo>
                    <a:pt x="0" y="466932"/>
                    <a:pt x="415025" y="0"/>
                    <a:pt x="926984" y="0"/>
                  </a:cubicBezTo>
                  <a:cubicBezTo>
                    <a:pt x="958982" y="0"/>
                    <a:pt x="990600" y="1824"/>
                    <a:pt x="1021763" y="5384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pt-BR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394664AE-6DC5-428F-9AC4-5A8F67571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8288F304-7DF7-42FB-BD6F-D575128A1DDE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04835D9-7DE9-4DDD-A6C2-1C526822700A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3C43C1C-00B3-40E0-B073-B8C56206D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7319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do subtítulo Mestre</a:t>
            </a:r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 rtlCol="0">
            <a:no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rtlCol="0" anchor="t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 rtlCol="0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356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 rtl="0">
              <a:lnSpc>
                <a:spcPct val="100000"/>
              </a:lnSpc>
            </a:pPr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r>
              <a:rPr lang="pt-BR"/>
              <a:t>Terça-feira, 2 de fevereiro, 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r>
              <a:rPr lang="pt-BR"/>
              <a:t>Amostra de Texto de Rodapé</a:t>
            </a:r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fld id="{DBA1B0FB-D917-4C8C-928F-313BD683BF39}" type="slidenum">
              <a:rPr lang="pt-BR" smtClean="0"/>
              <a:pPr rtl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33" r:id="rId3"/>
    <p:sldLayoutId id="2147483687" r:id="rId4"/>
    <p:sldLayoutId id="2147483734" r:id="rId5"/>
    <p:sldLayoutId id="2147483686" r:id="rId6"/>
    <p:sldLayoutId id="2147483696" r:id="rId7"/>
    <p:sldLayoutId id="2147483707" r:id="rId8"/>
    <p:sldLayoutId id="2147483689" r:id="rId9"/>
    <p:sldLayoutId id="2147483697" r:id="rId10"/>
    <p:sldLayoutId id="2147483731" r:id="rId11"/>
    <p:sldLayoutId id="2147483693" r:id="rId12"/>
    <p:sldLayoutId id="2147483685" r:id="rId13"/>
    <p:sldLayoutId id="2147483688" r:id="rId14"/>
    <p:sldLayoutId id="2147483691" r:id="rId15"/>
    <p:sldLayoutId id="2147483692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6E938C-9D94-4B05-979A-D39FFC45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99413" y="1051551"/>
            <a:ext cx="3856255" cy="2384898"/>
          </a:xfrm>
        </p:spPr>
        <p:txBody>
          <a:bodyPr rtlCol="0" anchor="b" anchorCtr="0">
            <a:normAutofit/>
          </a:bodyPr>
          <a:lstStyle/>
          <a:p>
            <a:pPr rtl="0"/>
            <a:r>
              <a:rPr lang="pt-BR" dirty="0"/>
              <a:t> </a:t>
            </a:r>
          </a:p>
        </p:txBody>
      </p:sp>
      <p:pic>
        <p:nvPicPr>
          <p:cNvPr id="14" name="Espaço Reservado para Imagem 13" descr="Plano de fundo digital de pontos de dados">
            <a:extLst>
              <a:ext uri="{FF2B5EF4-FFF2-40B4-BE49-F238E27FC236}">
                <a16:creationId xmlns:a16="http://schemas.microsoft.com/office/drawing/2014/main" id="{9A8AD548-922D-4E1D-B19C-5F6E808B816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86410" cy="6858000"/>
          </a:xfr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D9A11267-FC52-4990-8D98-010AFABA55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49848" y="3259939"/>
            <a:ext cx="3565524" cy="338122"/>
          </a:xfrm>
        </p:spPr>
        <p:txBody>
          <a:bodyPr rtlCol="0">
            <a:normAutofit/>
          </a:bodyPr>
          <a:lstStyle/>
          <a:p>
            <a:pPr algn="ctr" rtl="0"/>
            <a:r>
              <a:rPr lang="pt-BR" dirty="0"/>
              <a:t>Macoratti.net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4C5A945-B50E-5399-883F-768906AFA6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498" y="1195840"/>
            <a:ext cx="1949209" cy="209631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3111A99-29DF-8BAD-1905-35FD62F8AF2F}"/>
              </a:ext>
            </a:extLst>
          </p:cNvPr>
          <p:cNvSpPr txBox="1"/>
          <p:nvPr/>
        </p:nvSpPr>
        <p:spPr>
          <a:xfrm>
            <a:off x="1741013" y="1832204"/>
            <a:ext cx="37958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LINQ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0F3A3DC-C703-ED9A-46C0-825FE57A6318}"/>
              </a:ext>
            </a:extLst>
          </p:cNvPr>
          <p:cNvSpPr txBox="1"/>
          <p:nvPr/>
        </p:nvSpPr>
        <p:spPr>
          <a:xfrm>
            <a:off x="1831461" y="3389846"/>
            <a:ext cx="72457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Fundamentos </a:t>
            </a:r>
          </a:p>
        </p:txBody>
      </p:sp>
    </p:spTree>
    <p:extLst>
      <p:ext uri="{BB962C8B-B14F-4D97-AF65-F5344CB8AC3E}">
        <p14:creationId xmlns:p14="http://schemas.microsoft.com/office/powerpoint/2010/main" val="752814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2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DD38F91-B5A1-31F0-E4D0-A99755692054}"/>
              </a:ext>
            </a:extLst>
          </p:cNvPr>
          <p:cNvSpPr txBox="1"/>
          <p:nvPr/>
        </p:nvSpPr>
        <p:spPr>
          <a:xfrm>
            <a:off x="353459" y="1490156"/>
            <a:ext cx="114850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rgbClr val="FFFF00"/>
                </a:solidFill>
              </a:rPr>
              <a:t>Language-Integrated</a:t>
            </a:r>
            <a:r>
              <a:rPr lang="pt-BR" sz="2800" dirty="0">
                <a:solidFill>
                  <a:srgbClr val="FFFF00"/>
                </a:solidFill>
              </a:rPr>
              <a:t> Query (LINQ) </a:t>
            </a:r>
            <a:r>
              <a:rPr lang="pt-BR" sz="2800" dirty="0"/>
              <a:t>é um poderoso conjunto de tecnologias baseado na integração de recursos de consulta na linguagem C#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239E9F8-3AC1-944D-251A-0A937350F0DF}"/>
              </a:ext>
            </a:extLst>
          </p:cNvPr>
          <p:cNvSpPr txBox="1"/>
          <p:nvPr/>
        </p:nvSpPr>
        <p:spPr>
          <a:xfrm>
            <a:off x="353459" y="3363007"/>
            <a:ext cx="116775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/>
              <a:t>A LINQ fornece uma experiência de consulta consistente para consultar objetos,  bancos de dados relacionais, XML, entidades e outras fontes de dados</a:t>
            </a:r>
            <a:endParaRPr lang="pt-BR" sz="28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353459" y="58466"/>
            <a:ext cx="5307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-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2496947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3</a:t>
            </a:fld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A885C32-99F5-D9B0-DAB8-5399DBB58A41}"/>
              </a:ext>
            </a:extLst>
          </p:cNvPr>
          <p:cNvSpPr/>
          <p:nvPr/>
        </p:nvSpPr>
        <p:spPr>
          <a:xfrm>
            <a:off x="1924493" y="2534372"/>
            <a:ext cx="946298" cy="166931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LINQ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A211AE28-54E7-69BB-7966-12219EFD064D}"/>
              </a:ext>
            </a:extLst>
          </p:cNvPr>
          <p:cNvSpPr/>
          <p:nvPr/>
        </p:nvSpPr>
        <p:spPr>
          <a:xfrm>
            <a:off x="4976036" y="769367"/>
            <a:ext cx="2753833" cy="850605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Object</a:t>
            </a:r>
            <a:r>
              <a:rPr lang="pt-BR" dirty="0"/>
              <a:t> </a:t>
            </a:r>
            <a:r>
              <a:rPr lang="pt-BR" dirty="0" err="1"/>
              <a:t>Collection</a:t>
            </a:r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714DF5F7-EA9A-A744-ADA3-36F172EFE018}"/>
              </a:ext>
            </a:extLst>
          </p:cNvPr>
          <p:cNvSpPr/>
          <p:nvPr/>
        </p:nvSpPr>
        <p:spPr>
          <a:xfrm>
            <a:off x="4976036" y="1709285"/>
            <a:ext cx="2753833" cy="850605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ADO.NET </a:t>
            </a:r>
            <a:r>
              <a:rPr lang="pt-BR" dirty="0" err="1"/>
              <a:t>DataSet</a:t>
            </a:r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0015A046-9110-AA11-0A68-B9D3C86D297A}"/>
              </a:ext>
            </a:extLst>
          </p:cNvPr>
          <p:cNvSpPr/>
          <p:nvPr/>
        </p:nvSpPr>
        <p:spPr>
          <a:xfrm>
            <a:off x="4976036" y="2649203"/>
            <a:ext cx="2753833" cy="850605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Entity</a:t>
            </a:r>
            <a:r>
              <a:rPr lang="pt-BR" dirty="0"/>
              <a:t> Framework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79729E5-EBCA-117E-288C-4D8EA173158C}"/>
              </a:ext>
            </a:extLst>
          </p:cNvPr>
          <p:cNvSpPr/>
          <p:nvPr/>
        </p:nvSpPr>
        <p:spPr>
          <a:xfrm>
            <a:off x="4976036" y="3589121"/>
            <a:ext cx="2753833" cy="850605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XML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E0FB8E5-6881-5690-9461-8FDC8C1A00B7}"/>
              </a:ext>
            </a:extLst>
          </p:cNvPr>
          <p:cNvSpPr/>
          <p:nvPr/>
        </p:nvSpPr>
        <p:spPr>
          <a:xfrm>
            <a:off x="4976035" y="4529039"/>
            <a:ext cx="2753833" cy="850605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SQL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E53B21ED-2368-93BD-C7AE-39E7D5E71E68}"/>
              </a:ext>
            </a:extLst>
          </p:cNvPr>
          <p:cNvSpPr/>
          <p:nvPr/>
        </p:nvSpPr>
        <p:spPr>
          <a:xfrm>
            <a:off x="4976035" y="5468959"/>
            <a:ext cx="2753833" cy="850605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Outras fontes de dados...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F70180B-C1EA-95AB-C5C0-D961AF8A17B4}"/>
              </a:ext>
            </a:extLst>
          </p:cNvPr>
          <p:cNvSpPr/>
          <p:nvPr/>
        </p:nvSpPr>
        <p:spPr>
          <a:xfrm>
            <a:off x="7506586" y="1009660"/>
            <a:ext cx="2753833" cy="55289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LINQ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Objects</a:t>
            </a:r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BCC8108-9D0A-303B-B22A-16E542EFABB6}"/>
              </a:ext>
            </a:extLst>
          </p:cNvPr>
          <p:cNvSpPr/>
          <p:nvPr/>
        </p:nvSpPr>
        <p:spPr>
          <a:xfrm>
            <a:off x="7506586" y="1886852"/>
            <a:ext cx="2753833" cy="55289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LINQ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DataSet</a:t>
            </a:r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7DB3315-D5D7-61D5-F2C2-E53AF3C7A07D}"/>
              </a:ext>
            </a:extLst>
          </p:cNvPr>
          <p:cNvSpPr/>
          <p:nvPr/>
        </p:nvSpPr>
        <p:spPr>
          <a:xfrm>
            <a:off x="7506585" y="2826770"/>
            <a:ext cx="2753833" cy="55289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LINQ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Entities</a:t>
            </a:r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0124A6A-FD92-1E54-532B-A7BB11981BFB}"/>
              </a:ext>
            </a:extLst>
          </p:cNvPr>
          <p:cNvSpPr/>
          <p:nvPr/>
        </p:nvSpPr>
        <p:spPr>
          <a:xfrm>
            <a:off x="7513674" y="3771472"/>
            <a:ext cx="2753833" cy="55289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LINQ </a:t>
            </a:r>
            <a:r>
              <a:rPr lang="pt-BR" dirty="0" err="1"/>
              <a:t>to</a:t>
            </a:r>
            <a:r>
              <a:rPr lang="pt-BR" dirty="0"/>
              <a:t> XML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2B05AE8-B0A9-59D8-3774-A31F3BF203C7}"/>
              </a:ext>
            </a:extLst>
          </p:cNvPr>
          <p:cNvSpPr/>
          <p:nvPr/>
        </p:nvSpPr>
        <p:spPr>
          <a:xfrm>
            <a:off x="7506584" y="4711390"/>
            <a:ext cx="2753833" cy="55289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LINQ </a:t>
            </a:r>
            <a:r>
              <a:rPr lang="pt-BR" dirty="0" err="1"/>
              <a:t>to</a:t>
            </a:r>
            <a:r>
              <a:rPr lang="pt-BR" dirty="0"/>
              <a:t> SQL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885FF39-3D85-BB38-DB5D-DB5389E9D816}"/>
              </a:ext>
            </a:extLst>
          </p:cNvPr>
          <p:cNvSpPr/>
          <p:nvPr/>
        </p:nvSpPr>
        <p:spPr>
          <a:xfrm>
            <a:off x="7513674" y="5627387"/>
            <a:ext cx="2753833" cy="55289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Implementação de </a:t>
            </a:r>
            <a:r>
              <a:rPr lang="pt-BR" dirty="0" err="1"/>
              <a:t>IQueryable</a:t>
            </a:r>
            <a:endParaRPr lang="pt-BR" dirty="0"/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FC0C79F6-F05E-7B19-7E83-42CDD6A24B68}"/>
              </a:ext>
            </a:extLst>
          </p:cNvPr>
          <p:cNvCxnSpPr>
            <a:stCxn id="2" idx="3"/>
            <a:endCxn id="3" idx="1"/>
          </p:cNvCxnSpPr>
          <p:nvPr/>
        </p:nvCxnSpPr>
        <p:spPr>
          <a:xfrm flipV="1">
            <a:off x="2870791" y="1194670"/>
            <a:ext cx="2105245" cy="21743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A04DDD39-C44A-7DEF-BF3D-1E3A343BFC5B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 flipV="1">
            <a:off x="2870791" y="2134588"/>
            <a:ext cx="2105245" cy="12344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8296BBA6-D8C0-503F-A539-BB3756BD6CBB}"/>
              </a:ext>
            </a:extLst>
          </p:cNvPr>
          <p:cNvCxnSpPr>
            <a:cxnSpLocks/>
          </p:cNvCxnSpPr>
          <p:nvPr/>
        </p:nvCxnSpPr>
        <p:spPr>
          <a:xfrm flipV="1">
            <a:off x="2870790" y="3063077"/>
            <a:ext cx="2105245" cy="2945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B8FB47A5-1862-B5A3-1E53-1514F82B7716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2870791" y="3369028"/>
            <a:ext cx="2105245" cy="6453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D473D62E-3A58-BD88-C857-73C25E904B87}"/>
              </a:ext>
            </a:extLst>
          </p:cNvPr>
          <p:cNvCxnSpPr>
            <a:cxnSpLocks/>
            <a:stCxn id="2" idx="3"/>
            <a:endCxn id="7" idx="1"/>
          </p:cNvCxnSpPr>
          <p:nvPr/>
        </p:nvCxnSpPr>
        <p:spPr>
          <a:xfrm>
            <a:off x="2870791" y="3369028"/>
            <a:ext cx="2105244" cy="1585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53CC8B67-45B8-B888-C3B5-289D60514A85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2870791" y="3369028"/>
            <a:ext cx="2105243" cy="2590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6A31AD21-4D99-347A-440D-42E27DEE6909}"/>
              </a:ext>
            </a:extLst>
          </p:cNvPr>
          <p:cNvSpPr txBox="1"/>
          <p:nvPr/>
        </p:nvSpPr>
        <p:spPr>
          <a:xfrm>
            <a:off x="236306" y="150291"/>
            <a:ext cx="117991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FFFF00"/>
                </a:solidFill>
              </a:rPr>
              <a:t>LINQ</a:t>
            </a:r>
            <a:r>
              <a:rPr lang="pt-BR" sz="2000" dirty="0"/>
              <a:t> recupera informações de Coleções,  ADO.NET,  XML, banco de dados, etc...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AE901684-093A-D8C9-7C6E-04555C610A59}"/>
              </a:ext>
            </a:extLst>
          </p:cNvPr>
          <p:cNvSpPr txBox="1"/>
          <p:nvPr/>
        </p:nvSpPr>
        <p:spPr>
          <a:xfrm>
            <a:off x="421201" y="4444230"/>
            <a:ext cx="30365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Possui uma sintaxe de consulta estruturada usando C# 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63FA63CE-8BC8-A1A8-F17D-DD54D1E35740}"/>
              </a:ext>
            </a:extLst>
          </p:cNvPr>
          <p:cNvSpPr/>
          <p:nvPr/>
        </p:nvSpPr>
        <p:spPr>
          <a:xfrm>
            <a:off x="333152" y="2793675"/>
            <a:ext cx="1160979" cy="115070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C#</a:t>
            </a:r>
            <a:endParaRPr lang="pt-BR" dirty="0"/>
          </a:p>
        </p:txBody>
      </p: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ED03C408-C746-4F21-770B-2413807D2F0D}"/>
              </a:ext>
            </a:extLst>
          </p:cNvPr>
          <p:cNvCxnSpPr>
            <a:stCxn id="36" idx="6"/>
            <a:endCxn id="2" idx="1"/>
          </p:cNvCxnSpPr>
          <p:nvPr/>
        </p:nvCxnSpPr>
        <p:spPr>
          <a:xfrm>
            <a:off x="1494131" y="3369028"/>
            <a:ext cx="43036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95CAEBC5-8A95-CA09-A53F-32E3CD8AB411}"/>
              </a:ext>
            </a:extLst>
          </p:cNvPr>
          <p:cNvSpPr txBox="1"/>
          <p:nvPr/>
        </p:nvSpPr>
        <p:spPr>
          <a:xfrm>
            <a:off x="8256589" y="6290069"/>
            <a:ext cx="1692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Provedores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9F3EA9F8-D59C-BDB8-4FEA-A54515C63486}"/>
              </a:ext>
            </a:extLst>
          </p:cNvPr>
          <p:cNvSpPr txBox="1"/>
          <p:nvPr/>
        </p:nvSpPr>
        <p:spPr>
          <a:xfrm>
            <a:off x="5506814" y="6290069"/>
            <a:ext cx="1692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Fonte de dados</a:t>
            </a:r>
          </a:p>
        </p:txBody>
      </p:sp>
    </p:spTree>
    <p:extLst>
      <p:ext uri="{BB962C8B-B14F-4D97-AF65-F5344CB8AC3E}">
        <p14:creationId xmlns:p14="http://schemas.microsoft.com/office/powerpoint/2010/main" val="2224860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4</a:t>
            </a:fld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4CF1883-B1AB-F114-77BF-76BEA5322BB4}"/>
              </a:ext>
            </a:extLst>
          </p:cNvPr>
          <p:cNvSpPr txBox="1"/>
          <p:nvPr/>
        </p:nvSpPr>
        <p:spPr>
          <a:xfrm>
            <a:off x="3294581" y="2703493"/>
            <a:ext cx="4027470" cy="76944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4400" dirty="0"/>
              <a:t>Consulta LINQ</a:t>
            </a:r>
          </a:p>
        </p:txBody>
      </p:sp>
      <p:sp>
        <p:nvSpPr>
          <p:cNvPr id="3" name="Fluxograma: Disco Magnético 2">
            <a:extLst>
              <a:ext uri="{FF2B5EF4-FFF2-40B4-BE49-F238E27FC236}">
                <a16:creationId xmlns:a16="http://schemas.microsoft.com/office/drawing/2014/main" id="{FE933D45-3845-5EEF-B7C2-7C0A6836F762}"/>
              </a:ext>
            </a:extLst>
          </p:cNvPr>
          <p:cNvSpPr/>
          <p:nvPr/>
        </p:nvSpPr>
        <p:spPr>
          <a:xfrm>
            <a:off x="9268998" y="2424703"/>
            <a:ext cx="2313399" cy="1318264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Fonte de dados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6ABCAA08-82AF-9813-F814-6839CF502D50}"/>
              </a:ext>
            </a:extLst>
          </p:cNvPr>
          <p:cNvCxnSpPr>
            <a:cxnSpLocks/>
          </p:cNvCxnSpPr>
          <p:nvPr/>
        </p:nvCxnSpPr>
        <p:spPr>
          <a:xfrm>
            <a:off x="7448764" y="2828231"/>
            <a:ext cx="1679825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56FFE6AC-7586-D0FC-E155-673C604C15CC}"/>
              </a:ext>
            </a:extLst>
          </p:cNvPr>
          <p:cNvCxnSpPr>
            <a:cxnSpLocks/>
          </p:cNvCxnSpPr>
          <p:nvPr/>
        </p:nvCxnSpPr>
        <p:spPr>
          <a:xfrm flipH="1">
            <a:off x="7438490" y="3321390"/>
            <a:ext cx="1690099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Seta: para a Esquerda 9">
            <a:extLst>
              <a:ext uri="{FF2B5EF4-FFF2-40B4-BE49-F238E27FC236}">
                <a16:creationId xmlns:a16="http://schemas.microsoft.com/office/drawing/2014/main" id="{67FFD9E1-FC0D-C0A5-DBBC-F451FFF3D6A8}"/>
              </a:ext>
            </a:extLst>
          </p:cNvPr>
          <p:cNvSpPr/>
          <p:nvPr/>
        </p:nvSpPr>
        <p:spPr>
          <a:xfrm>
            <a:off x="2157573" y="2703493"/>
            <a:ext cx="1003444" cy="644703"/>
          </a:xfrm>
          <a:prstGeom prst="lef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9513EDB-71EB-7FEE-F509-D0753A9C2F95}"/>
              </a:ext>
            </a:extLst>
          </p:cNvPr>
          <p:cNvSpPr txBox="1"/>
          <p:nvPr/>
        </p:nvSpPr>
        <p:spPr>
          <a:xfrm>
            <a:off x="7493284" y="2384236"/>
            <a:ext cx="1705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Executa Query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41EB268-06EE-315E-DBE1-191F6FBC4D81}"/>
              </a:ext>
            </a:extLst>
          </p:cNvPr>
          <p:cNvSpPr txBox="1"/>
          <p:nvPr/>
        </p:nvSpPr>
        <p:spPr>
          <a:xfrm>
            <a:off x="7344734" y="3395878"/>
            <a:ext cx="2002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Retorna Resultado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11A9F0E-43DE-01B9-A950-BEA9F43CF55D}"/>
              </a:ext>
            </a:extLst>
          </p:cNvPr>
          <p:cNvSpPr txBox="1"/>
          <p:nvPr/>
        </p:nvSpPr>
        <p:spPr>
          <a:xfrm>
            <a:off x="517127" y="2798170"/>
            <a:ext cx="1506882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800" dirty="0"/>
              <a:t>Objetos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D9944AA-3399-0173-76A1-AF27030BCCAD}"/>
              </a:ext>
            </a:extLst>
          </p:cNvPr>
          <p:cNvSpPr txBox="1"/>
          <p:nvPr/>
        </p:nvSpPr>
        <p:spPr>
          <a:xfrm>
            <a:off x="1698715" y="1081652"/>
            <a:ext cx="8250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As consultas LINQ retornam resultados como objetos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6A0A2CE-8AAF-C9CD-9387-A22B4FD9D3A6}"/>
              </a:ext>
            </a:extLst>
          </p:cNvPr>
          <p:cNvSpPr txBox="1"/>
          <p:nvPr/>
        </p:nvSpPr>
        <p:spPr>
          <a:xfrm>
            <a:off x="85618" y="4508214"/>
            <a:ext cx="120207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Permite usar uma abordagem orientada a objetos no conjunto de resultados sem se preocupar em transformar diferentes formatos de resultados em objetos.</a:t>
            </a:r>
          </a:p>
        </p:txBody>
      </p:sp>
    </p:spTree>
    <p:extLst>
      <p:ext uri="{BB962C8B-B14F-4D97-AF65-F5344CB8AC3E}">
        <p14:creationId xmlns:p14="http://schemas.microsoft.com/office/powerpoint/2010/main" val="3411826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0" grpId="0" animBg="1"/>
      <p:bldP spid="11" grpId="0"/>
      <p:bldP spid="12" grpId="0"/>
      <p:bldP spid="15" grpId="0" animBg="1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5</a:t>
            </a:fld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D9944AA-3399-0173-76A1-AF27030BCCAD}"/>
              </a:ext>
            </a:extLst>
          </p:cNvPr>
          <p:cNvSpPr txBox="1"/>
          <p:nvPr/>
        </p:nvSpPr>
        <p:spPr>
          <a:xfrm>
            <a:off x="442172" y="1087350"/>
            <a:ext cx="11472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Fornece uma sintaxe de consulta comum para consultar diferentes fontes de dados.     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6A0A2CE-8AAF-C9CD-9387-A22B4FD9D3A6}"/>
              </a:ext>
            </a:extLst>
          </p:cNvPr>
          <p:cNvSpPr txBox="1"/>
          <p:nvPr/>
        </p:nvSpPr>
        <p:spPr>
          <a:xfrm>
            <a:off x="442172" y="3735635"/>
            <a:ext cx="120207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Fornece muitos métodos embutidos que podemos usar para realizar diferentes operações, como filtragem, ordenação, agrupamento, etc.,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4283316-049F-F85F-C997-EEAAE47AF8DA}"/>
              </a:ext>
            </a:extLst>
          </p:cNvPr>
          <p:cNvSpPr txBox="1"/>
          <p:nvPr/>
        </p:nvSpPr>
        <p:spPr>
          <a:xfrm>
            <a:off x="442172" y="1847001"/>
            <a:ext cx="11472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Utiliza menos código em comparação com a abordagem tradicional de consulta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BC47779-C859-9231-493F-0F21AB9ECDFE}"/>
              </a:ext>
            </a:extLst>
          </p:cNvPr>
          <p:cNvSpPr txBox="1"/>
          <p:nvPr/>
        </p:nvSpPr>
        <p:spPr>
          <a:xfrm>
            <a:off x="442172" y="2606652"/>
            <a:ext cx="114727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Fornece verificação de erros em tempo de compilação, bem como suporte de inteligência no Visual Studio evitando erros em tempo de execução.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E7D3994-7E24-8E13-E7ED-F451D6170B0B}"/>
              </a:ext>
            </a:extLst>
          </p:cNvPr>
          <p:cNvSpPr txBox="1"/>
          <p:nvPr/>
        </p:nvSpPr>
        <p:spPr>
          <a:xfrm>
            <a:off x="442172" y="4864617"/>
            <a:ext cx="12020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Permite a reutilização de consultas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EB43817-32D0-D8CD-51A9-8A7A320BC402}"/>
              </a:ext>
            </a:extLst>
          </p:cNvPr>
          <p:cNvSpPr txBox="1"/>
          <p:nvPr/>
        </p:nvSpPr>
        <p:spPr>
          <a:xfrm>
            <a:off x="353459" y="58466"/>
            <a:ext cx="5307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FFF00"/>
                </a:solidFill>
              </a:rPr>
              <a:t>LINQ - Vantagens</a:t>
            </a:r>
          </a:p>
        </p:txBody>
      </p:sp>
    </p:spTree>
    <p:extLst>
      <p:ext uri="{BB962C8B-B14F-4D97-AF65-F5344CB8AC3E}">
        <p14:creationId xmlns:p14="http://schemas.microsoft.com/office/powerpoint/2010/main" val="1570011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6</a:t>
            </a:fld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D9944AA-3399-0173-76A1-AF27030BCCAD}"/>
              </a:ext>
            </a:extLst>
          </p:cNvPr>
          <p:cNvSpPr txBox="1"/>
          <p:nvPr/>
        </p:nvSpPr>
        <p:spPr>
          <a:xfrm>
            <a:off x="442172" y="1087350"/>
            <a:ext cx="11472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Consultas muito complexas são difíceis de escrever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6A0A2CE-8AAF-C9CD-9387-A22B4FD9D3A6}"/>
              </a:ext>
            </a:extLst>
          </p:cNvPr>
          <p:cNvSpPr txBox="1"/>
          <p:nvPr/>
        </p:nvSpPr>
        <p:spPr>
          <a:xfrm>
            <a:off x="442172" y="3082176"/>
            <a:ext cx="12020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Consultas mal escritas tendem a ter um desempenho pior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4283316-049F-F85F-C997-EEAAE47AF8DA}"/>
              </a:ext>
            </a:extLst>
          </p:cNvPr>
          <p:cNvSpPr txBox="1"/>
          <p:nvPr/>
        </p:nvSpPr>
        <p:spPr>
          <a:xfrm>
            <a:off x="442172" y="1900097"/>
            <a:ext cx="114727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dirty="0"/>
              <a:t>Não aproveita ao máximo os recursos da SQL, como o plano de execução em cache para o procedimento armazenado.</a:t>
            </a:r>
            <a:endParaRPr lang="pt-BR" sz="24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BC47779-C859-9231-493F-0F21AB9ECDFE}"/>
              </a:ext>
            </a:extLst>
          </p:cNvPr>
          <p:cNvSpPr txBox="1"/>
          <p:nvPr/>
        </p:nvSpPr>
        <p:spPr>
          <a:xfrm>
            <a:off x="442172" y="3894922"/>
            <a:ext cx="11472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Alterações nas consultam exigem recompilar a aplicação e refazer o </a:t>
            </a:r>
            <a:r>
              <a:rPr lang="pt-BR" sz="2400" dirty="0" err="1"/>
              <a:t>deploy</a:t>
            </a:r>
            <a:endParaRPr lang="pt-BR" sz="24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EB43817-32D0-D8CD-51A9-8A7A320BC402}"/>
              </a:ext>
            </a:extLst>
          </p:cNvPr>
          <p:cNvSpPr txBox="1"/>
          <p:nvPr/>
        </p:nvSpPr>
        <p:spPr>
          <a:xfrm>
            <a:off x="353459" y="58466"/>
            <a:ext cx="5307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FFF00"/>
                </a:solidFill>
              </a:rPr>
              <a:t>LINQ</a:t>
            </a:r>
            <a:r>
              <a:rPr lang="pt-BR" sz="2800" dirty="0"/>
              <a:t> - </a:t>
            </a:r>
            <a:r>
              <a:rPr lang="pt-BR" sz="2800" dirty="0">
                <a:solidFill>
                  <a:srgbClr val="FFFF00"/>
                </a:solidFill>
              </a:rPr>
              <a:t>Desvantagens</a:t>
            </a:r>
          </a:p>
        </p:txBody>
      </p:sp>
    </p:spTree>
    <p:extLst>
      <p:ext uri="{BB962C8B-B14F-4D97-AF65-F5344CB8AC3E}">
        <p14:creationId xmlns:p14="http://schemas.microsoft.com/office/powerpoint/2010/main" val="3325911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7</a:t>
            </a:fld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D9944AA-3399-0173-76A1-AF27030BCCAD}"/>
              </a:ext>
            </a:extLst>
          </p:cNvPr>
          <p:cNvSpPr txBox="1"/>
          <p:nvPr/>
        </p:nvSpPr>
        <p:spPr>
          <a:xfrm>
            <a:off x="271783" y="871593"/>
            <a:ext cx="11369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As consultas LINQ usam </a:t>
            </a:r>
            <a:r>
              <a:rPr lang="pt-BR" sz="2400" i="1" dirty="0"/>
              <a:t>métodos de extensão </a:t>
            </a:r>
            <a:r>
              <a:rPr lang="pt-BR" sz="2400" dirty="0"/>
              <a:t>para classes que implementam a interface </a:t>
            </a:r>
            <a:r>
              <a:rPr lang="pt-BR" sz="2400" dirty="0" err="1">
                <a:solidFill>
                  <a:srgbClr val="FFFF00"/>
                </a:solidFill>
              </a:rPr>
              <a:t>IEnumerable</a:t>
            </a:r>
            <a:r>
              <a:rPr lang="pt-BR" sz="2400" dirty="0">
                <a:solidFill>
                  <a:srgbClr val="FFFF00"/>
                </a:solidFill>
              </a:rPr>
              <a:t> ou </a:t>
            </a:r>
            <a:r>
              <a:rPr lang="pt-BR" sz="2400" dirty="0" err="1">
                <a:solidFill>
                  <a:srgbClr val="FFFF00"/>
                </a:solidFill>
              </a:rPr>
              <a:t>IQueryable</a:t>
            </a:r>
            <a:r>
              <a:rPr lang="pt-BR" sz="2400" dirty="0">
                <a:solidFill>
                  <a:srgbClr val="FFFF00"/>
                </a:solidFill>
              </a:rPr>
              <a:t>. 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EB43817-32D0-D8CD-51A9-8A7A320BC402}"/>
              </a:ext>
            </a:extLst>
          </p:cNvPr>
          <p:cNvSpPr txBox="1"/>
          <p:nvPr/>
        </p:nvSpPr>
        <p:spPr>
          <a:xfrm>
            <a:off x="271783" y="99563"/>
            <a:ext cx="5307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FFF00"/>
                </a:solidFill>
              </a:rPr>
              <a:t>LINQ - API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3359407-71C7-A15B-EF3C-72F9681982AA}"/>
              </a:ext>
            </a:extLst>
          </p:cNvPr>
          <p:cNvSpPr txBox="1"/>
          <p:nvPr/>
        </p:nvSpPr>
        <p:spPr>
          <a:xfrm>
            <a:off x="271783" y="2171920"/>
            <a:ext cx="11369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err="1">
                <a:solidFill>
                  <a:srgbClr val="FFFF00"/>
                </a:solidFill>
              </a:rPr>
              <a:t>Enumerable</a:t>
            </a:r>
            <a:r>
              <a:rPr lang="pt-BR" sz="2400" dirty="0">
                <a:solidFill>
                  <a:srgbClr val="FFFF00"/>
                </a:solidFill>
              </a:rPr>
              <a:t> e </a:t>
            </a:r>
            <a:r>
              <a:rPr lang="pt-BR" sz="2400" dirty="0" err="1">
                <a:solidFill>
                  <a:srgbClr val="FFFF00"/>
                </a:solidFill>
              </a:rPr>
              <a:t>Queryable</a:t>
            </a:r>
            <a:r>
              <a:rPr lang="pt-BR" sz="2400" dirty="0"/>
              <a:t> são duas </a:t>
            </a:r>
            <a:r>
              <a:rPr lang="pt-BR" sz="2400" i="1" dirty="0"/>
              <a:t>classes estáticas </a:t>
            </a:r>
            <a:r>
              <a:rPr lang="pt-BR" sz="2400" dirty="0"/>
              <a:t>que contêm métodos de extensão para escrever consultas LINQ.</a:t>
            </a:r>
            <a:endParaRPr lang="pt-BR" sz="2400" dirty="0">
              <a:solidFill>
                <a:srgbClr val="FFFF00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DE18947-477D-11BB-66CC-93DA310C1BEC}"/>
              </a:ext>
            </a:extLst>
          </p:cNvPr>
          <p:cNvSpPr txBox="1"/>
          <p:nvPr/>
        </p:nvSpPr>
        <p:spPr>
          <a:xfrm>
            <a:off x="271783" y="3794001"/>
            <a:ext cx="11451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Isso significa que podemos chamar qualquer método LINQ em qualquer objeto que implemente </a:t>
            </a:r>
            <a:r>
              <a:rPr lang="pt-BR" sz="2000" dirty="0" err="1">
                <a:solidFill>
                  <a:srgbClr val="FFFF00"/>
                </a:solidFill>
              </a:rPr>
              <a:t>IEnumerable</a:t>
            </a:r>
            <a:r>
              <a:rPr lang="pt-BR" sz="2000" dirty="0">
                <a:solidFill>
                  <a:srgbClr val="FFFF00"/>
                </a:solidFill>
              </a:rPr>
              <a:t>&lt;T&gt;  e </a:t>
            </a:r>
            <a:r>
              <a:rPr lang="pt-BR" sz="2000" dirty="0" err="1">
                <a:solidFill>
                  <a:srgbClr val="FFFF00"/>
                </a:solidFill>
              </a:rPr>
              <a:t>IQueryable</a:t>
            </a:r>
            <a:r>
              <a:rPr lang="pt-BR" sz="2000" dirty="0">
                <a:solidFill>
                  <a:srgbClr val="FFFF00"/>
                </a:solidFill>
              </a:rPr>
              <a:t>&lt;T&gt;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BA45272-88D6-A431-0307-22D6FC5E2798}"/>
              </a:ext>
            </a:extLst>
          </p:cNvPr>
          <p:cNvSpPr txBox="1"/>
          <p:nvPr/>
        </p:nvSpPr>
        <p:spPr>
          <a:xfrm>
            <a:off x="271783" y="4694218"/>
            <a:ext cx="114510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Podemos criar classes que implementam essas interfaces que vão ‘</a:t>
            </a:r>
            <a:r>
              <a:rPr lang="pt-BR" sz="2000" i="1" dirty="0"/>
              <a:t>herdar</a:t>
            </a:r>
            <a:r>
              <a:rPr lang="pt-BR" sz="2000" dirty="0"/>
              <a:t>’ todas as funcionalidades da LINQ</a:t>
            </a:r>
            <a:endParaRPr lang="pt-BR" sz="2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986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CA045A40-278C-F51E-BE5D-5A0C9F70A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06" y="164473"/>
            <a:ext cx="9160298" cy="6529054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A1BA7315-F7FE-2213-7F30-D9C97621C4F2}"/>
              </a:ext>
            </a:extLst>
          </p:cNvPr>
          <p:cNvSpPr txBox="1"/>
          <p:nvPr/>
        </p:nvSpPr>
        <p:spPr>
          <a:xfrm>
            <a:off x="9296504" y="164473"/>
            <a:ext cx="27592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Classes e interfaces do </a:t>
            </a:r>
            <a:r>
              <a:rPr lang="pt-BR" sz="2400" dirty="0" err="1"/>
              <a:t>namespace</a:t>
            </a:r>
            <a:endParaRPr lang="pt-BR" sz="2400" dirty="0"/>
          </a:p>
          <a:p>
            <a:r>
              <a:rPr lang="pt-BR" sz="2400" dirty="0" err="1">
                <a:solidFill>
                  <a:srgbClr val="FFFF00"/>
                </a:solidFill>
              </a:rPr>
              <a:t>System.Linq</a:t>
            </a:r>
            <a:endParaRPr lang="pt-BR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4630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9</a:t>
            </a:fld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D9944AA-3399-0173-76A1-AF27030BCCAD}"/>
              </a:ext>
            </a:extLst>
          </p:cNvPr>
          <p:cNvSpPr txBox="1"/>
          <p:nvPr/>
        </p:nvSpPr>
        <p:spPr>
          <a:xfrm>
            <a:off x="497813" y="1035979"/>
            <a:ext cx="8009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1.</a:t>
            </a:r>
            <a:r>
              <a:rPr lang="en-US" sz="2800" dirty="0">
                <a:solidFill>
                  <a:srgbClr val="FFFF00"/>
                </a:solidFill>
              </a:rPr>
              <a:t>Query Syntax </a:t>
            </a:r>
            <a:r>
              <a:rPr lang="en-US" sz="2800" dirty="0" err="1"/>
              <a:t>ou</a:t>
            </a:r>
            <a:r>
              <a:rPr lang="en-US" sz="2800" dirty="0"/>
              <a:t> Query Expression Syntax 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EB43817-32D0-D8CD-51A9-8A7A320BC402}"/>
              </a:ext>
            </a:extLst>
          </p:cNvPr>
          <p:cNvSpPr txBox="1"/>
          <p:nvPr/>
        </p:nvSpPr>
        <p:spPr>
          <a:xfrm>
            <a:off x="271783" y="99563"/>
            <a:ext cx="5307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FFF00"/>
                </a:solidFill>
              </a:rPr>
              <a:t>Sintaxe de consultas LINQ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3359407-71C7-A15B-EF3C-72F9681982AA}"/>
              </a:ext>
            </a:extLst>
          </p:cNvPr>
          <p:cNvSpPr txBox="1"/>
          <p:nvPr/>
        </p:nvSpPr>
        <p:spPr>
          <a:xfrm>
            <a:off x="497814" y="2060531"/>
            <a:ext cx="10351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2.</a:t>
            </a:r>
            <a:r>
              <a:rPr lang="en-US" sz="2800" dirty="0">
                <a:solidFill>
                  <a:srgbClr val="FFFF00"/>
                </a:solidFill>
              </a:rPr>
              <a:t>Method Syntax </a:t>
            </a:r>
            <a:r>
              <a:rPr lang="en-US" sz="2800" dirty="0" err="1"/>
              <a:t>ou</a:t>
            </a:r>
            <a:r>
              <a:rPr lang="en-US" sz="2800" dirty="0"/>
              <a:t> Method Extension Syntax </a:t>
            </a:r>
            <a:r>
              <a:rPr lang="en-US" sz="2800" dirty="0" err="1"/>
              <a:t>ou</a:t>
            </a:r>
            <a:r>
              <a:rPr lang="en-US" sz="2800" dirty="0"/>
              <a:t> Fluent Syntax</a:t>
            </a:r>
          </a:p>
        </p:txBody>
      </p:sp>
    </p:spTree>
    <p:extLst>
      <p:ext uri="{BB962C8B-B14F-4D97-AF65-F5344CB8AC3E}">
        <p14:creationId xmlns:p14="http://schemas.microsoft.com/office/powerpoint/2010/main" val="1910695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10</a:t>
            </a:fld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D9944AA-3399-0173-76A1-AF27030BCCAD}"/>
              </a:ext>
            </a:extLst>
          </p:cNvPr>
          <p:cNvSpPr txBox="1"/>
          <p:nvPr/>
        </p:nvSpPr>
        <p:spPr>
          <a:xfrm>
            <a:off x="271783" y="1022283"/>
            <a:ext cx="5436127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FROM</a:t>
            </a:r>
            <a:r>
              <a:rPr lang="en-US" sz="2800" b="1" dirty="0"/>
              <a:t> object in </a:t>
            </a:r>
            <a:r>
              <a:rPr lang="en-US" sz="2800" b="1" dirty="0" err="1"/>
              <a:t>DataSource</a:t>
            </a:r>
            <a:endParaRPr lang="en-US" sz="2800" b="1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EB43817-32D0-D8CD-51A9-8A7A320BC402}"/>
              </a:ext>
            </a:extLst>
          </p:cNvPr>
          <p:cNvSpPr txBox="1"/>
          <p:nvPr/>
        </p:nvSpPr>
        <p:spPr>
          <a:xfrm>
            <a:off x="271783" y="99563"/>
            <a:ext cx="6426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FFF00"/>
                </a:solidFill>
              </a:rPr>
              <a:t>Query </a:t>
            </a:r>
            <a:r>
              <a:rPr lang="pt-BR" sz="2800" dirty="0" err="1">
                <a:solidFill>
                  <a:srgbClr val="FFFF00"/>
                </a:solidFill>
              </a:rPr>
              <a:t>Syntax</a:t>
            </a:r>
            <a:r>
              <a:rPr lang="pt-BR" sz="2800" dirty="0">
                <a:solidFill>
                  <a:srgbClr val="FFFF00"/>
                </a:solidFill>
              </a:rPr>
              <a:t> ou Sintaxe de Consulta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4E655BC-AD9F-1C29-808D-9FDF59B79E7C}"/>
              </a:ext>
            </a:extLst>
          </p:cNvPr>
          <p:cNvSpPr txBox="1"/>
          <p:nvPr/>
        </p:nvSpPr>
        <p:spPr>
          <a:xfrm>
            <a:off x="271783" y="1697089"/>
            <a:ext cx="5436127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Where</a:t>
            </a:r>
            <a:r>
              <a:rPr lang="en-US" sz="2800" b="1" dirty="0"/>
              <a:t> condition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8758E49-8682-4DA9-64E8-B330783CF3F8}"/>
              </a:ext>
            </a:extLst>
          </p:cNvPr>
          <p:cNvSpPr txBox="1"/>
          <p:nvPr/>
        </p:nvSpPr>
        <p:spPr>
          <a:xfrm>
            <a:off x="271783" y="2349636"/>
            <a:ext cx="5436127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Select</a:t>
            </a:r>
            <a:r>
              <a:rPr lang="en-US" sz="2800" b="1" dirty="0"/>
              <a:t> object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751E452-7293-F89F-980C-0752A3B9B44B}"/>
              </a:ext>
            </a:extLst>
          </p:cNvPr>
          <p:cNvSpPr txBox="1"/>
          <p:nvPr/>
        </p:nvSpPr>
        <p:spPr>
          <a:xfrm>
            <a:off x="5794625" y="1061668"/>
            <a:ext cx="2095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FFF00"/>
                </a:solidFill>
              </a:rPr>
              <a:t>Inicialização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3DC87FB-8C64-8F6F-E2E8-F3890F9E9166}"/>
              </a:ext>
            </a:extLst>
          </p:cNvPr>
          <p:cNvSpPr txBox="1"/>
          <p:nvPr/>
        </p:nvSpPr>
        <p:spPr>
          <a:xfrm>
            <a:off x="5794625" y="1709074"/>
            <a:ext cx="2095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FFF00"/>
                </a:solidFill>
              </a:rPr>
              <a:t>Condição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DD823AD-5F06-AEF2-81CF-83623CD26F69}"/>
              </a:ext>
            </a:extLst>
          </p:cNvPr>
          <p:cNvSpPr txBox="1"/>
          <p:nvPr/>
        </p:nvSpPr>
        <p:spPr>
          <a:xfrm>
            <a:off x="5794625" y="2349636"/>
            <a:ext cx="2095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FFF00"/>
                </a:solidFill>
              </a:rPr>
              <a:t>Seleção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C2347FD-180F-179C-8EF8-00660D1355B1}"/>
              </a:ext>
            </a:extLst>
          </p:cNvPr>
          <p:cNvSpPr txBox="1"/>
          <p:nvPr/>
        </p:nvSpPr>
        <p:spPr>
          <a:xfrm>
            <a:off x="7798086" y="1022283"/>
            <a:ext cx="3708970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pt-BR" sz="2400" b="1" dirty="0" err="1">
                <a:ln/>
                <a:solidFill>
                  <a:schemeClr val="accent3"/>
                </a:solidFill>
              </a:rPr>
              <a:t>IEnumerable</a:t>
            </a:r>
            <a:r>
              <a:rPr lang="pt-BR" sz="2400" b="1" dirty="0">
                <a:ln/>
                <a:solidFill>
                  <a:schemeClr val="accent3"/>
                </a:solidFill>
              </a:rPr>
              <a:t>/</a:t>
            </a:r>
            <a:r>
              <a:rPr lang="pt-BR" sz="2400" b="1" dirty="0" err="1">
                <a:ln/>
                <a:solidFill>
                  <a:schemeClr val="accent3"/>
                </a:solidFill>
              </a:rPr>
              <a:t>IQueryable</a:t>
            </a:r>
            <a:endParaRPr lang="pt-BR" sz="2400" b="1" dirty="0">
              <a:ln/>
              <a:solidFill>
                <a:schemeClr val="accent3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943F085-0E82-F361-3609-EB79CBE16375}"/>
              </a:ext>
            </a:extLst>
          </p:cNvPr>
          <p:cNvSpPr txBox="1"/>
          <p:nvPr/>
        </p:nvSpPr>
        <p:spPr>
          <a:xfrm>
            <a:off x="7798086" y="1697089"/>
            <a:ext cx="3708970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pt-BR" sz="2400" b="1" dirty="0">
                <a:ln/>
                <a:solidFill>
                  <a:schemeClr val="accent3"/>
                </a:solidFill>
              </a:rPr>
              <a:t>Operadores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702B652-7D31-A5E7-0F6A-0933070CC11B}"/>
              </a:ext>
            </a:extLst>
          </p:cNvPr>
          <p:cNvSpPr txBox="1"/>
          <p:nvPr/>
        </p:nvSpPr>
        <p:spPr>
          <a:xfrm>
            <a:off x="7798086" y="2375600"/>
            <a:ext cx="3708970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pt-BR" sz="2400" b="1" dirty="0" err="1">
                <a:ln/>
                <a:solidFill>
                  <a:schemeClr val="accent3"/>
                </a:solidFill>
              </a:rPr>
              <a:t>GroupBy</a:t>
            </a:r>
            <a:endParaRPr lang="pt-BR" sz="2400" b="1" dirty="0">
              <a:ln/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81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11</a:t>
            </a:fld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EB43817-32D0-D8CD-51A9-8A7A320BC402}"/>
              </a:ext>
            </a:extLst>
          </p:cNvPr>
          <p:cNvSpPr txBox="1"/>
          <p:nvPr/>
        </p:nvSpPr>
        <p:spPr>
          <a:xfrm>
            <a:off x="271783" y="99563"/>
            <a:ext cx="6426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FFF00"/>
                </a:solidFill>
              </a:rPr>
              <a:t>Query </a:t>
            </a:r>
            <a:r>
              <a:rPr lang="pt-BR" sz="2800" dirty="0" err="1">
                <a:solidFill>
                  <a:srgbClr val="FFFF00"/>
                </a:solidFill>
              </a:rPr>
              <a:t>Syntax</a:t>
            </a:r>
            <a:r>
              <a:rPr lang="pt-BR" sz="2800" dirty="0">
                <a:solidFill>
                  <a:srgbClr val="FFFF00"/>
                </a:solidFill>
              </a:rPr>
              <a:t> ou Sintaxe de Consulta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21828C9-66A7-845E-C04A-29F2D57FC966}"/>
              </a:ext>
            </a:extLst>
          </p:cNvPr>
          <p:cNvSpPr txBox="1"/>
          <p:nvPr/>
        </p:nvSpPr>
        <p:spPr>
          <a:xfrm>
            <a:off x="121577" y="974024"/>
            <a:ext cx="1194884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IList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 frutas =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List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&gt;(){ 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"Banana"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"Maça"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"Pera"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"Laranja"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"Uva"};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endParaRPr lang="pt-BR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E0B1976-B560-2A14-2D84-AF4C16F57EB0}"/>
              </a:ext>
            </a:extLst>
          </p:cNvPr>
          <p:cNvSpPr txBox="1"/>
          <p:nvPr/>
        </p:nvSpPr>
        <p:spPr>
          <a:xfrm>
            <a:off x="121577" y="1656035"/>
            <a:ext cx="11948845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 = </a:t>
            </a:r>
            <a:r>
              <a:rPr lang="pt-BR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from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f </a:t>
            </a:r>
            <a:r>
              <a:rPr lang="pt-BR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frutas</a:t>
            </a:r>
          </a:p>
          <a:p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pt-BR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where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f.Contains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'r'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pt-BR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select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f;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873D9C6-2353-5A92-B26E-FCA953FDE539}"/>
              </a:ext>
            </a:extLst>
          </p:cNvPr>
          <p:cNvSpPr txBox="1"/>
          <p:nvPr/>
        </p:nvSpPr>
        <p:spPr>
          <a:xfrm>
            <a:off x="121578" y="2990824"/>
            <a:ext cx="7156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Inicia com a cláusula </a:t>
            </a:r>
            <a:r>
              <a:rPr lang="pt-BR" sz="2000" dirty="0">
                <a:solidFill>
                  <a:srgbClr val="FFFF00"/>
                </a:solidFill>
              </a:rPr>
              <a:t>FROM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9319F83-E998-70D7-3A32-86E3919A06D9}"/>
              </a:ext>
            </a:extLst>
          </p:cNvPr>
          <p:cNvSpPr txBox="1"/>
          <p:nvPr/>
        </p:nvSpPr>
        <p:spPr>
          <a:xfrm>
            <a:off x="121577" y="3718023"/>
            <a:ext cx="7156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Termina com a cláusula </a:t>
            </a:r>
            <a:r>
              <a:rPr lang="pt-BR" sz="2000" dirty="0">
                <a:solidFill>
                  <a:srgbClr val="FFFF00"/>
                </a:solidFill>
              </a:rPr>
              <a:t>SELECT</a:t>
            </a:r>
            <a:r>
              <a:rPr lang="pt-BR" sz="2000" dirty="0"/>
              <a:t> ou </a:t>
            </a:r>
            <a:r>
              <a:rPr lang="pt-BR" sz="2000" dirty="0" err="1">
                <a:solidFill>
                  <a:srgbClr val="FFFF00"/>
                </a:solidFill>
              </a:rPr>
              <a:t>GroupBy</a:t>
            </a:r>
            <a:endParaRPr lang="pt-BR" sz="2000" dirty="0">
              <a:solidFill>
                <a:srgbClr val="FFFF00"/>
              </a:solidFill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074D246-2412-E3B6-D8E8-A1A824691CB3}"/>
              </a:ext>
            </a:extLst>
          </p:cNvPr>
          <p:cNvSpPr txBox="1"/>
          <p:nvPr/>
        </p:nvSpPr>
        <p:spPr>
          <a:xfrm>
            <a:off x="121578" y="3366782"/>
            <a:ext cx="10793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Usa diversos operadores para </a:t>
            </a:r>
            <a:r>
              <a:rPr lang="pt-BR" sz="2000" dirty="0">
                <a:solidFill>
                  <a:srgbClr val="FFFF00"/>
                </a:solidFill>
              </a:rPr>
              <a:t>filtrar,  agrupar,  ordenar,  juntar e ordenar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C5379D1-D32A-0740-002C-FCFB8FAF8CC3}"/>
              </a:ext>
            </a:extLst>
          </p:cNvPr>
          <p:cNvSpPr txBox="1"/>
          <p:nvPr/>
        </p:nvSpPr>
        <p:spPr>
          <a:xfrm>
            <a:off x="121576" y="4118133"/>
            <a:ext cx="7156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Podemos usar a palavra-chave </a:t>
            </a:r>
            <a:r>
              <a:rPr lang="pt-BR" sz="2000" dirty="0">
                <a:solidFill>
                  <a:srgbClr val="FFFF00"/>
                </a:solidFill>
              </a:rPr>
              <a:t>var</a:t>
            </a:r>
            <a:r>
              <a:rPr lang="pt-BR" sz="2000" dirty="0"/>
              <a:t> para tratar o resultado</a:t>
            </a:r>
            <a:endParaRPr lang="pt-BR" sz="2000" dirty="0">
              <a:solidFill>
                <a:srgbClr val="FFFF00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933F779-6051-AED3-4999-A076E15C8593}"/>
              </a:ext>
            </a:extLst>
          </p:cNvPr>
          <p:cNvSpPr txBox="1"/>
          <p:nvPr/>
        </p:nvSpPr>
        <p:spPr>
          <a:xfrm>
            <a:off x="121577" y="4858404"/>
            <a:ext cx="11948845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pt-BR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string.Join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(“”, resultado));</a:t>
            </a:r>
          </a:p>
          <a:p>
            <a:endParaRPr lang="pt-BR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092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/>
      <p:bldP spid="18" grpId="0"/>
      <p:bldP spid="19" grpId="0"/>
      <p:bldP spid="2" grpId="0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12</a:t>
            </a:fld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EB43817-32D0-D8CD-51A9-8A7A320BC402}"/>
              </a:ext>
            </a:extLst>
          </p:cNvPr>
          <p:cNvSpPr txBox="1"/>
          <p:nvPr/>
        </p:nvSpPr>
        <p:spPr>
          <a:xfrm>
            <a:off x="271783" y="99563"/>
            <a:ext cx="6426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rgbClr val="FFFF00"/>
                </a:solidFill>
              </a:rPr>
              <a:t>Method</a:t>
            </a:r>
            <a:r>
              <a:rPr lang="pt-BR" sz="2800" dirty="0">
                <a:solidFill>
                  <a:srgbClr val="FFFF00"/>
                </a:solidFill>
              </a:rPr>
              <a:t> </a:t>
            </a:r>
            <a:r>
              <a:rPr lang="pt-BR" sz="2800" dirty="0" err="1">
                <a:solidFill>
                  <a:srgbClr val="FFFF00"/>
                </a:solidFill>
              </a:rPr>
              <a:t>Syntax</a:t>
            </a:r>
            <a:r>
              <a:rPr lang="pt-BR" sz="2800" dirty="0">
                <a:solidFill>
                  <a:srgbClr val="FFFF00"/>
                </a:solidFill>
              </a:rPr>
              <a:t> ou Sintaxe de Método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21828C9-66A7-845E-C04A-29F2D57FC966}"/>
              </a:ext>
            </a:extLst>
          </p:cNvPr>
          <p:cNvSpPr txBox="1"/>
          <p:nvPr/>
        </p:nvSpPr>
        <p:spPr>
          <a:xfrm>
            <a:off x="121577" y="2863256"/>
            <a:ext cx="1194884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IList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 frutas =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List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&gt;() { 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"Banana"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"Maça"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"Pera"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"Laranja"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"Uva"};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endParaRPr lang="pt-BR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E0B1976-B560-2A14-2D84-AF4C16F57EB0}"/>
              </a:ext>
            </a:extLst>
          </p:cNvPr>
          <p:cNvSpPr txBox="1"/>
          <p:nvPr/>
        </p:nvSpPr>
        <p:spPr>
          <a:xfrm>
            <a:off x="121577" y="3502455"/>
            <a:ext cx="1194884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 = </a:t>
            </a:r>
            <a:r>
              <a:rPr lang="pt-BR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frutas.Where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 f=&gt; </a:t>
            </a:r>
            <a:r>
              <a:rPr lang="pt-BR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f.Contains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'r’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0AC8703-1F10-E542-68CF-DE97DE1937C7}"/>
              </a:ext>
            </a:extLst>
          </p:cNvPr>
          <p:cNvSpPr txBox="1"/>
          <p:nvPr/>
        </p:nvSpPr>
        <p:spPr>
          <a:xfrm>
            <a:off x="271783" y="781636"/>
            <a:ext cx="11404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Usa métodos de extensão incluídos nas classes estáticas </a:t>
            </a:r>
            <a:r>
              <a:rPr lang="pt-BR" sz="2400" dirty="0" err="1">
                <a:solidFill>
                  <a:srgbClr val="FFFF00"/>
                </a:solidFill>
              </a:rPr>
              <a:t>Enumerable</a:t>
            </a:r>
            <a:r>
              <a:rPr lang="pt-BR" sz="2400" dirty="0">
                <a:solidFill>
                  <a:srgbClr val="FFFF00"/>
                </a:solidFill>
              </a:rPr>
              <a:t> ou </a:t>
            </a:r>
            <a:r>
              <a:rPr lang="pt-BR" sz="2400" dirty="0" err="1">
                <a:solidFill>
                  <a:srgbClr val="FFFF00"/>
                </a:solidFill>
              </a:rPr>
              <a:t>Queryable</a:t>
            </a:r>
            <a:r>
              <a:rPr lang="pt-BR" sz="2400" dirty="0">
                <a:solidFill>
                  <a:srgbClr val="FFFF00"/>
                </a:solidFill>
              </a:rPr>
              <a:t>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DC58245-3E98-EB72-92AE-F7D8EE1CB6EC}"/>
              </a:ext>
            </a:extLst>
          </p:cNvPr>
          <p:cNvSpPr txBox="1"/>
          <p:nvPr/>
        </p:nvSpPr>
        <p:spPr>
          <a:xfrm>
            <a:off x="271783" y="1487585"/>
            <a:ext cx="11404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O compilador converte a sintaxe de consulta em sintaxe de método em tempo de compilação.</a:t>
            </a:r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64B9783C-4BC9-6457-7049-D6898E053C04}"/>
              </a:ext>
            </a:extLst>
          </p:cNvPr>
          <p:cNvCxnSpPr/>
          <p:nvPr/>
        </p:nvCxnSpPr>
        <p:spPr>
          <a:xfrm flipH="1">
            <a:off x="3369924" y="3873357"/>
            <a:ext cx="1130157" cy="8322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58AFD5BC-BFF0-6B30-BB55-40AC50C02B74}"/>
              </a:ext>
            </a:extLst>
          </p:cNvPr>
          <p:cNvCxnSpPr>
            <a:cxnSpLocks/>
          </p:cNvCxnSpPr>
          <p:nvPr/>
        </p:nvCxnSpPr>
        <p:spPr>
          <a:xfrm>
            <a:off x="6411074" y="3911261"/>
            <a:ext cx="678095" cy="8322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885F1D7-988D-97C4-0661-F5DFB32A5EC3}"/>
              </a:ext>
            </a:extLst>
          </p:cNvPr>
          <p:cNvSpPr txBox="1"/>
          <p:nvPr/>
        </p:nvSpPr>
        <p:spPr>
          <a:xfrm>
            <a:off x="1921267" y="4733690"/>
            <a:ext cx="28973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Método de extensão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87A98D1-9DEB-051C-FDA3-9CA388ED2D82}"/>
              </a:ext>
            </a:extLst>
          </p:cNvPr>
          <p:cNvSpPr txBox="1"/>
          <p:nvPr/>
        </p:nvSpPr>
        <p:spPr>
          <a:xfrm>
            <a:off x="5973940" y="4733690"/>
            <a:ext cx="28973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Expressão lambda</a:t>
            </a:r>
          </a:p>
        </p:txBody>
      </p:sp>
    </p:spTree>
    <p:extLst>
      <p:ext uri="{BB962C8B-B14F-4D97-AF65-F5344CB8AC3E}">
        <p14:creationId xmlns:p14="http://schemas.microsoft.com/office/powerpoint/2010/main" val="2314741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2" grpId="0"/>
      <p:bldP spid="3" grpId="0"/>
      <p:bldP spid="21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13</a:t>
            </a:fld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EB43817-32D0-D8CD-51A9-8A7A320BC402}"/>
              </a:ext>
            </a:extLst>
          </p:cNvPr>
          <p:cNvSpPr txBox="1"/>
          <p:nvPr/>
        </p:nvSpPr>
        <p:spPr>
          <a:xfrm>
            <a:off x="271783" y="99563"/>
            <a:ext cx="6426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rgbClr val="FFFF00"/>
                </a:solidFill>
              </a:rPr>
              <a:t>Method</a:t>
            </a:r>
            <a:r>
              <a:rPr lang="pt-BR" sz="2800" dirty="0">
                <a:solidFill>
                  <a:srgbClr val="FFFF00"/>
                </a:solidFill>
              </a:rPr>
              <a:t> </a:t>
            </a:r>
            <a:r>
              <a:rPr lang="pt-BR" sz="2800" dirty="0" err="1">
                <a:solidFill>
                  <a:srgbClr val="FFFF00"/>
                </a:solidFill>
              </a:rPr>
              <a:t>Syntax</a:t>
            </a:r>
            <a:r>
              <a:rPr lang="pt-BR" sz="2800" dirty="0">
                <a:solidFill>
                  <a:srgbClr val="FFFF00"/>
                </a:solidFill>
              </a:rPr>
              <a:t> ou Sintaxe de Método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E0B1976-B560-2A14-2D84-AF4C16F57EB0}"/>
              </a:ext>
            </a:extLst>
          </p:cNvPr>
          <p:cNvSpPr txBox="1"/>
          <p:nvPr/>
        </p:nvSpPr>
        <p:spPr>
          <a:xfrm>
            <a:off x="121577" y="955421"/>
            <a:ext cx="1198138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 = </a:t>
            </a:r>
            <a:r>
              <a:rPr lang="pt-BR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frutas.Where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 f=&gt; </a:t>
            </a:r>
            <a:r>
              <a:rPr lang="pt-BR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f.Contains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'r’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885F1D7-988D-97C4-0661-F5DFB32A5EC3}"/>
              </a:ext>
            </a:extLst>
          </p:cNvPr>
          <p:cNvSpPr txBox="1"/>
          <p:nvPr/>
        </p:nvSpPr>
        <p:spPr>
          <a:xfrm>
            <a:off x="8743824" y="4156980"/>
            <a:ext cx="28973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 err="1">
                <a:solidFill>
                  <a:srgbClr val="FFFF00"/>
                </a:solidFill>
              </a:rPr>
              <a:t>Func</a:t>
            </a:r>
            <a:r>
              <a:rPr lang="pt-BR" sz="2400" b="1" dirty="0">
                <a:solidFill>
                  <a:srgbClr val="FFFF00"/>
                </a:solidFill>
              </a:rPr>
              <a:t>&lt;</a:t>
            </a:r>
            <a:r>
              <a:rPr lang="pt-BR" sz="2400" b="1" dirty="0" err="1">
                <a:solidFill>
                  <a:srgbClr val="FFFF00"/>
                </a:solidFill>
              </a:rPr>
              <a:t>string</a:t>
            </a:r>
            <a:r>
              <a:rPr lang="pt-BR" sz="2400" b="1" dirty="0">
                <a:solidFill>
                  <a:srgbClr val="FFFF00"/>
                </a:solidFill>
              </a:rPr>
              <a:t>, </a:t>
            </a:r>
            <a:r>
              <a:rPr lang="pt-BR" sz="2400" b="1" dirty="0" err="1">
                <a:solidFill>
                  <a:srgbClr val="FFFF00"/>
                </a:solidFill>
              </a:rPr>
              <a:t>bool</a:t>
            </a:r>
            <a:r>
              <a:rPr lang="pt-BR" sz="2400" b="1" dirty="0">
                <a:solidFill>
                  <a:srgbClr val="FFFF00"/>
                </a:solidFill>
              </a:rPr>
              <a:t>&gt;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87A98D1-9DEB-051C-FDA3-9CA388ED2D82}"/>
              </a:ext>
            </a:extLst>
          </p:cNvPr>
          <p:cNvSpPr txBox="1"/>
          <p:nvPr/>
        </p:nvSpPr>
        <p:spPr>
          <a:xfrm>
            <a:off x="8743824" y="3655424"/>
            <a:ext cx="2897313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400" dirty="0" err="1"/>
              <a:t>delegate</a:t>
            </a:r>
            <a:r>
              <a:rPr lang="pt-BR" sz="2400" dirty="0"/>
              <a:t> </a:t>
            </a:r>
            <a:r>
              <a:rPr lang="pt-BR" sz="2400" dirty="0" err="1"/>
              <a:t>Predicate</a:t>
            </a:r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818B001-A42F-5EFE-1B88-1BD4ADBF3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77" y="1413537"/>
            <a:ext cx="11991344" cy="1187351"/>
          </a:xfrm>
          <a:prstGeom prst="rect">
            <a:avLst/>
          </a:prstGeom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F86F5A44-530F-5EFB-8561-937D108D8CBF}"/>
              </a:ext>
            </a:extLst>
          </p:cNvPr>
          <p:cNvCxnSpPr/>
          <p:nvPr/>
        </p:nvCxnSpPr>
        <p:spPr>
          <a:xfrm>
            <a:off x="10171416" y="2075380"/>
            <a:ext cx="0" cy="1654139"/>
          </a:xfrm>
          <a:prstGeom prst="straightConnector1">
            <a:avLst/>
          </a:prstGeom>
          <a:ln w="635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2BCED4C7-DDFB-AFEC-A7BC-E078A7768611}"/>
              </a:ext>
            </a:extLst>
          </p:cNvPr>
          <p:cNvSpPr txBox="1"/>
          <p:nvPr/>
        </p:nvSpPr>
        <p:spPr>
          <a:xfrm>
            <a:off x="8085760" y="5247231"/>
            <a:ext cx="397957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f=&gt; </a:t>
            </a:r>
            <a:r>
              <a:rPr lang="pt-BR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f.Contains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'r’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  <a:endParaRPr lang="pt-BR" sz="2400" dirty="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43A1339-A8CE-F0D1-A2E3-59E0255DAB65}"/>
              </a:ext>
            </a:extLst>
          </p:cNvPr>
          <p:cNvCxnSpPr>
            <a:cxnSpLocks/>
          </p:cNvCxnSpPr>
          <p:nvPr/>
        </p:nvCxnSpPr>
        <p:spPr>
          <a:xfrm>
            <a:off x="10190744" y="4618645"/>
            <a:ext cx="0" cy="527592"/>
          </a:xfrm>
          <a:prstGeom prst="straightConnector1">
            <a:avLst/>
          </a:prstGeom>
          <a:ln w="635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1372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14</a:t>
            </a:fld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EB43817-32D0-D8CD-51A9-8A7A320BC402}"/>
              </a:ext>
            </a:extLst>
          </p:cNvPr>
          <p:cNvSpPr txBox="1"/>
          <p:nvPr/>
        </p:nvSpPr>
        <p:spPr>
          <a:xfrm>
            <a:off x="271783" y="99563"/>
            <a:ext cx="1162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FFF00"/>
                </a:solidFill>
              </a:rPr>
              <a:t>Operadores de consulta padrão : </a:t>
            </a:r>
            <a:r>
              <a:rPr lang="pt-BR" sz="2800" dirty="0" err="1">
                <a:solidFill>
                  <a:srgbClr val="00B0F0"/>
                </a:solidFill>
              </a:rPr>
              <a:t>System.Linq.Enumerable</a:t>
            </a:r>
            <a:r>
              <a:rPr lang="pt-BR" sz="2800" dirty="0">
                <a:solidFill>
                  <a:srgbClr val="00B0F0"/>
                </a:solidFill>
              </a:rPr>
              <a:t> e </a:t>
            </a:r>
            <a:r>
              <a:rPr lang="pt-BR" sz="2800" dirty="0" err="1">
                <a:solidFill>
                  <a:srgbClr val="00B0F0"/>
                </a:solidFill>
              </a:rPr>
              <a:t>Queryable</a:t>
            </a:r>
            <a:endParaRPr lang="pt-BR" sz="2800" dirty="0">
              <a:solidFill>
                <a:srgbClr val="00B0F0"/>
              </a:solidFill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14EF8EE1-07CC-839B-DB63-76B9BA1EC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746417"/>
              </p:ext>
            </p:extLst>
          </p:nvPr>
        </p:nvGraphicFramePr>
        <p:xfrm>
          <a:off x="291365" y="863967"/>
          <a:ext cx="11609270" cy="486251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424174">
                  <a:extLst>
                    <a:ext uri="{9D8B030D-6E8A-4147-A177-3AD203B41FA5}">
                      <a16:colId xmlns:a16="http://schemas.microsoft.com/office/drawing/2014/main" val="4156410482"/>
                    </a:ext>
                  </a:extLst>
                </a:gridCol>
                <a:gridCol w="9185096">
                  <a:extLst>
                    <a:ext uri="{9D8B030D-6E8A-4147-A177-3AD203B41FA5}">
                      <a16:colId xmlns:a16="http://schemas.microsoft.com/office/drawing/2014/main" val="2157958937"/>
                    </a:ext>
                  </a:extLst>
                </a:gridCol>
              </a:tblGrid>
              <a:tr h="230625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rgbClr val="FFFF00"/>
                          </a:solidFill>
                        </a:rPr>
                        <a:t>Filtro</a:t>
                      </a:r>
                    </a:p>
                  </a:txBody>
                  <a:tcPr marL="57656" marR="57656" marT="28828" marB="28828" anchor="ctr"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Where, </a:t>
                      </a:r>
                      <a:r>
                        <a:rPr lang="pt-BR" sz="1800" dirty="0" err="1"/>
                        <a:t>OfType</a:t>
                      </a:r>
                      <a:r>
                        <a:rPr lang="pt-BR" sz="1800" dirty="0"/>
                        <a:t> </a:t>
                      </a:r>
                    </a:p>
                  </a:txBody>
                  <a:tcPr marL="57656" marR="57656" marT="28828" marB="28828" anchor="ctr"/>
                </a:tc>
                <a:extLst>
                  <a:ext uri="{0D108BD9-81ED-4DB2-BD59-A6C34878D82A}">
                    <a16:rowId xmlns:a16="http://schemas.microsoft.com/office/drawing/2014/main" val="1757527981"/>
                  </a:ext>
                </a:extLst>
              </a:tr>
              <a:tr h="403593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rgbClr val="FFFF00"/>
                          </a:solidFill>
                        </a:rPr>
                        <a:t>Ordenação </a:t>
                      </a:r>
                    </a:p>
                  </a:txBody>
                  <a:tcPr marL="57656" marR="57656" marT="28828" marB="28828" anchor="ctr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OrderBy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OrderByDescending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ThenBy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ThenByDescending</a:t>
                      </a:r>
                      <a:r>
                        <a:rPr lang="en-US" sz="1800" dirty="0"/>
                        <a:t>, Reverse </a:t>
                      </a:r>
                    </a:p>
                  </a:txBody>
                  <a:tcPr marL="57656" marR="57656" marT="28828" marB="28828" anchor="ctr"/>
                </a:tc>
                <a:extLst>
                  <a:ext uri="{0D108BD9-81ED-4DB2-BD59-A6C34878D82A}">
                    <a16:rowId xmlns:a16="http://schemas.microsoft.com/office/drawing/2014/main" val="4195166679"/>
                  </a:ext>
                </a:extLst>
              </a:tr>
              <a:tr h="230625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rgbClr val="FFFF00"/>
                          </a:solidFill>
                        </a:rPr>
                        <a:t>Agrupamento</a:t>
                      </a:r>
                    </a:p>
                  </a:txBody>
                  <a:tcPr marL="57656" marR="57656" marT="28828" marB="28828" anchor="ctr"/>
                </a:tc>
                <a:tc>
                  <a:txBody>
                    <a:bodyPr/>
                    <a:lstStyle/>
                    <a:p>
                      <a:r>
                        <a:rPr lang="pt-BR" sz="1800" dirty="0" err="1"/>
                        <a:t>GroupBy</a:t>
                      </a:r>
                      <a:r>
                        <a:rPr lang="pt-BR" sz="1800" dirty="0"/>
                        <a:t>, </a:t>
                      </a:r>
                      <a:r>
                        <a:rPr lang="pt-BR" sz="1800" dirty="0" err="1"/>
                        <a:t>ToLookup</a:t>
                      </a:r>
                      <a:r>
                        <a:rPr lang="pt-BR" sz="1800" dirty="0"/>
                        <a:t> </a:t>
                      </a:r>
                    </a:p>
                  </a:txBody>
                  <a:tcPr marL="57656" marR="57656" marT="28828" marB="28828" anchor="ctr"/>
                </a:tc>
                <a:extLst>
                  <a:ext uri="{0D108BD9-81ED-4DB2-BD59-A6C34878D82A}">
                    <a16:rowId xmlns:a16="http://schemas.microsoft.com/office/drawing/2014/main" val="1658681683"/>
                  </a:ext>
                </a:extLst>
              </a:tr>
              <a:tr h="230625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rgbClr val="FFFF00"/>
                          </a:solidFill>
                        </a:rPr>
                        <a:t>Junção</a:t>
                      </a:r>
                    </a:p>
                  </a:txBody>
                  <a:tcPr marL="57656" marR="57656" marT="28828" marB="28828" anchor="ctr"/>
                </a:tc>
                <a:tc>
                  <a:txBody>
                    <a:bodyPr/>
                    <a:lstStyle/>
                    <a:p>
                      <a:r>
                        <a:rPr lang="pt-BR" sz="1800"/>
                        <a:t>GroupJoin, Join </a:t>
                      </a:r>
                    </a:p>
                  </a:txBody>
                  <a:tcPr marL="57656" marR="57656" marT="28828" marB="28828" anchor="ctr"/>
                </a:tc>
                <a:extLst>
                  <a:ext uri="{0D108BD9-81ED-4DB2-BD59-A6C34878D82A}">
                    <a16:rowId xmlns:a16="http://schemas.microsoft.com/office/drawing/2014/main" val="4101346321"/>
                  </a:ext>
                </a:extLst>
              </a:tr>
              <a:tr h="230625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rgbClr val="FFFF00"/>
                          </a:solidFill>
                        </a:rPr>
                        <a:t>Projeção </a:t>
                      </a:r>
                    </a:p>
                  </a:txBody>
                  <a:tcPr marL="57656" marR="57656" marT="28828" marB="28828" anchor="ctr"/>
                </a:tc>
                <a:tc>
                  <a:txBody>
                    <a:bodyPr/>
                    <a:lstStyle/>
                    <a:p>
                      <a:r>
                        <a:rPr lang="pt-BR" sz="1800" dirty="0" err="1"/>
                        <a:t>Select</a:t>
                      </a:r>
                      <a:r>
                        <a:rPr lang="pt-BR" sz="1800" dirty="0"/>
                        <a:t>, </a:t>
                      </a:r>
                      <a:r>
                        <a:rPr lang="pt-BR" sz="1800" dirty="0" err="1"/>
                        <a:t>SelectMany</a:t>
                      </a:r>
                      <a:r>
                        <a:rPr lang="pt-BR" sz="1800" dirty="0"/>
                        <a:t> </a:t>
                      </a:r>
                    </a:p>
                  </a:txBody>
                  <a:tcPr marL="57656" marR="57656" marT="28828" marB="28828" anchor="ctr"/>
                </a:tc>
                <a:extLst>
                  <a:ext uri="{0D108BD9-81ED-4DB2-BD59-A6C34878D82A}">
                    <a16:rowId xmlns:a16="http://schemas.microsoft.com/office/drawing/2014/main" val="2879507964"/>
                  </a:ext>
                </a:extLst>
              </a:tr>
              <a:tr h="230625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rgbClr val="FFFF00"/>
                          </a:solidFill>
                        </a:rPr>
                        <a:t>Agregação </a:t>
                      </a:r>
                    </a:p>
                  </a:txBody>
                  <a:tcPr marL="57656" marR="57656" marT="28828" marB="28828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Aggregate, Average, Count, LongCount, Max, Min, Sum </a:t>
                      </a:r>
                    </a:p>
                  </a:txBody>
                  <a:tcPr marL="57656" marR="57656" marT="28828" marB="28828" anchor="ctr"/>
                </a:tc>
                <a:extLst>
                  <a:ext uri="{0D108BD9-81ED-4DB2-BD59-A6C34878D82A}">
                    <a16:rowId xmlns:a16="http://schemas.microsoft.com/office/drawing/2014/main" val="3671843327"/>
                  </a:ext>
                </a:extLst>
              </a:tr>
              <a:tr h="230625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00"/>
                          </a:solidFill>
                        </a:rPr>
                        <a:t>Quantifiers </a:t>
                      </a:r>
                    </a:p>
                  </a:txBody>
                  <a:tcPr marL="57656" marR="57656" marT="28828" marB="28828" anchor="ctr"/>
                </a:tc>
                <a:tc>
                  <a:txBody>
                    <a:bodyPr/>
                    <a:lstStyle/>
                    <a:p>
                      <a:r>
                        <a:rPr lang="pt-BR" sz="1800" dirty="0" err="1"/>
                        <a:t>All</a:t>
                      </a:r>
                      <a:r>
                        <a:rPr lang="pt-BR" sz="1800" dirty="0"/>
                        <a:t>, </a:t>
                      </a:r>
                      <a:r>
                        <a:rPr lang="pt-BR" sz="1800" dirty="0" err="1"/>
                        <a:t>Any</a:t>
                      </a:r>
                      <a:r>
                        <a:rPr lang="pt-BR" sz="1800" dirty="0"/>
                        <a:t>, </a:t>
                      </a:r>
                      <a:r>
                        <a:rPr lang="pt-BR" sz="1800" dirty="0" err="1"/>
                        <a:t>Contains</a:t>
                      </a:r>
                      <a:r>
                        <a:rPr lang="pt-BR" sz="1800" dirty="0"/>
                        <a:t> </a:t>
                      </a:r>
                    </a:p>
                  </a:txBody>
                  <a:tcPr marL="57656" marR="57656" marT="28828" marB="28828" anchor="ctr"/>
                </a:tc>
                <a:extLst>
                  <a:ext uri="{0D108BD9-81ED-4DB2-BD59-A6C34878D82A}">
                    <a16:rowId xmlns:a16="http://schemas.microsoft.com/office/drawing/2014/main" val="3273680482"/>
                  </a:ext>
                </a:extLst>
              </a:tr>
              <a:tr h="403593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rgbClr val="FFFF00"/>
                          </a:solidFill>
                        </a:rPr>
                        <a:t>Elementos</a:t>
                      </a:r>
                    </a:p>
                  </a:txBody>
                  <a:tcPr marL="57656" marR="57656" marT="28828" marB="28828" anchor="ctr"/>
                </a:tc>
                <a:tc>
                  <a:txBody>
                    <a:bodyPr/>
                    <a:lstStyle/>
                    <a:p>
                      <a:r>
                        <a:rPr lang="pt-BR" sz="1800" dirty="0" err="1"/>
                        <a:t>ElementAt</a:t>
                      </a:r>
                      <a:r>
                        <a:rPr lang="pt-BR" sz="1800" dirty="0"/>
                        <a:t>, </a:t>
                      </a:r>
                      <a:r>
                        <a:rPr lang="pt-BR" sz="1800" dirty="0" err="1"/>
                        <a:t>ElementAtOrDefault</a:t>
                      </a:r>
                      <a:r>
                        <a:rPr lang="pt-BR" sz="1800" dirty="0"/>
                        <a:t>, </a:t>
                      </a:r>
                      <a:r>
                        <a:rPr lang="pt-BR" sz="1800" dirty="0" err="1"/>
                        <a:t>First</a:t>
                      </a:r>
                      <a:r>
                        <a:rPr lang="pt-BR" sz="1800" dirty="0"/>
                        <a:t>, </a:t>
                      </a:r>
                      <a:r>
                        <a:rPr lang="pt-BR" sz="1800" dirty="0" err="1"/>
                        <a:t>FirstOrDefault</a:t>
                      </a:r>
                      <a:r>
                        <a:rPr lang="pt-BR" sz="1800" dirty="0"/>
                        <a:t>, </a:t>
                      </a:r>
                      <a:r>
                        <a:rPr lang="pt-BR" sz="1800" dirty="0" err="1"/>
                        <a:t>Last</a:t>
                      </a:r>
                      <a:r>
                        <a:rPr lang="pt-BR" sz="1800" dirty="0"/>
                        <a:t>, </a:t>
                      </a:r>
                      <a:r>
                        <a:rPr lang="pt-BR" sz="1800" dirty="0" err="1"/>
                        <a:t>LastOrDefault</a:t>
                      </a:r>
                      <a:r>
                        <a:rPr lang="pt-BR" sz="1800" dirty="0"/>
                        <a:t>, Single, </a:t>
                      </a:r>
                      <a:r>
                        <a:rPr lang="pt-BR" sz="1800" dirty="0" err="1"/>
                        <a:t>SingleOrDefault</a:t>
                      </a:r>
                      <a:r>
                        <a:rPr lang="pt-BR" sz="1800" dirty="0"/>
                        <a:t> </a:t>
                      </a:r>
                    </a:p>
                  </a:txBody>
                  <a:tcPr marL="57656" marR="57656" marT="28828" marB="28828" anchor="ctr"/>
                </a:tc>
                <a:extLst>
                  <a:ext uri="{0D108BD9-81ED-4DB2-BD59-A6C34878D82A}">
                    <a16:rowId xmlns:a16="http://schemas.microsoft.com/office/drawing/2014/main" val="547688737"/>
                  </a:ext>
                </a:extLst>
              </a:tr>
              <a:tr h="230625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rgbClr val="FFFF00"/>
                          </a:solidFill>
                        </a:rPr>
                        <a:t>Set </a:t>
                      </a:r>
                    </a:p>
                  </a:txBody>
                  <a:tcPr marL="57656" marR="57656" marT="28828" marB="28828" anchor="ctr"/>
                </a:tc>
                <a:tc>
                  <a:txBody>
                    <a:bodyPr/>
                    <a:lstStyle/>
                    <a:p>
                      <a:r>
                        <a:rPr lang="pt-BR" sz="1800" dirty="0" err="1"/>
                        <a:t>Distinct</a:t>
                      </a:r>
                      <a:r>
                        <a:rPr lang="pt-BR" sz="1800" dirty="0"/>
                        <a:t>, </a:t>
                      </a:r>
                      <a:r>
                        <a:rPr lang="pt-BR" sz="1800" dirty="0" err="1"/>
                        <a:t>Except</a:t>
                      </a:r>
                      <a:r>
                        <a:rPr lang="pt-BR" sz="1800" dirty="0"/>
                        <a:t>, </a:t>
                      </a:r>
                      <a:r>
                        <a:rPr lang="pt-BR" sz="1800" dirty="0" err="1"/>
                        <a:t>Intersect</a:t>
                      </a:r>
                      <a:r>
                        <a:rPr lang="pt-BR" sz="1800" dirty="0"/>
                        <a:t>, Union </a:t>
                      </a:r>
                    </a:p>
                  </a:txBody>
                  <a:tcPr marL="57656" marR="57656" marT="28828" marB="28828" anchor="ctr"/>
                </a:tc>
                <a:extLst>
                  <a:ext uri="{0D108BD9-81ED-4DB2-BD59-A6C34878D82A}">
                    <a16:rowId xmlns:a16="http://schemas.microsoft.com/office/drawing/2014/main" val="3017081690"/>
                  </a:ext>
                </a:extLst>
              </a:tr>
              <a:tr h="230625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rgbClr val="FFFF00"/>
                          </a:solidFill>
                        </a:rPr>
                        <a:t>Particionamento</a:t>
                      </a:r>
                    </a:p>
                  </a:txBody>
                  <a:tcPr marL="57656" marR="57656" marT="28828" marB="28828" anchor="ctr"/>
                </a:tc>
                <a:tc>
                  <a:txBody>
                    <a:bodyPr/>
                    <a:lstStyle/>
                    <a:p>
                      <a:r>
                        <a:rPr lang="pt-BR" sz="1800"/>
                        <a:t>Skip, SkipWhile, Take, TakeWhile </a:t>
                      </a:r>
                    </a:p>
                  </a:txBody>
                  <a:tcPr marL="57656" marR="57656" marT="28828" marB="28828" anchor="ctr"/>
                </a:tc>
                <a:extLst>
                  <a:ext uri="{0D108BD9-81ED-4DB2-BD59-A6C34878D82A}">
                    <a16:rowId xmlns:a16="http://schemas.microsoft.com/office/drawing/2014/main" val="2756704982"/>
                  </a:ext>
                </a:extLst>
              </a:tr>
              <a:tr h="230625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rgbClr val="FFFF00"/>
                          </a:solidFill>
                        </a:rPr>
                        <a:t>Concatenação </a:t>
                      </a:r>
                    </a:p>
                  </a:txBody>
                  <a:tcPr marL="57656" marR="57656" marT="28828" marB="28828" anchor="ctr"/>
                </a:tc>
                <a:tc>
                  <a:txBody>
                    <a:bodyPr/>
                    <a:lstStyle/>
                    <a:p>
                      <a:r>
                        <a:rPr lang="pt-BR" sz="1800" dirty="0" err="1"/>
                        <a:t>Concat</a:t>
                      </a:r>
                      <a:r>
                        <a:rPr lang="pt-BR" sz="1800" dirty="0"/>
                        <a:t> </a:t>
                      </a:r>
                    </a:p>
                  </a:txBody>
                  <a:tcPr marL="57656" marR="57656" marT="28828" marB="28828" anchor="ctr"/>
                </a:tc>
                <a:extLst>
                  <a:ext uri="{0D108BD9-81ED-4DB2-BD59-A6C34878D82A}">
                    <a16:rowId xmlns:a16="http://schemas.microsoft.com/office/drawing/2014/main" val="1971546193"/>
                  </a:ext>
                </a:extLst>
              </a:tr>
              <a:tr h="230625">
                <a:tc>
                  <a:txBody>
                    <a:bodyPr/>
                    <a:lstStyle/>
                    <a:p>
                      <a:r>
                        <a:rPr lang="pt-BR" sz="1800" b="1" dirty="0" err="1">
                          <a:solidFill>
                            <a:srgbClr val="FFFF00"/>
                          </a:solidFill>
                        </a:rPr>
                        <a:t>Equality</a:t>
                      </a:r>
                      <a:r>
                        <a:rPr lang="pt-BR" sz="1800" b="1" dirty="0">
                          <a:solidFill>
                            <a:srgbClr val="FFFF00"/>
                          </a:solidFill>
                        </a:rPr>
                        <a:t> </a:t>
                      </a:r>
                    </a:p>
                  </a:txBody>
                  <a:tcPr marL="57656" marR="57656" marT="28828" marB="28828" anchor="ctr"/>
                </a:tc>
                <a:tc>
                  <a:txBody>
                    <a:bodyPr/>
                    <a:lstStyle/>
                    <a:p>
                      <a:r>
                        <a:rPr lang="pt-BR" sz="1800" dirty="0" err="1"/>
                        <a:t>SequenceEqual</a:t>
                      </a:r>
                      <a:r>
                        <a:rPr lang="pt-BR" sz="1800" dirty="0"/>
                        <a:t> </a:t>
                      </a:r>
                    </a:p>
                  </a:txBody>
                  <a:tcPr marL="57656" marR="57656" marT="28828" marB="28828" anchor="ctr"/>
                </a:tc>
                <a:extLst>
                  <a:ext uri="{0D108BD9-81ED-4DB2-BD59-A6C34878D82A}">
                    <a16:rowId xmlns:a16="http://schemas.microsoft.com/office/drawing/2014/main" val="2983114915"/>
                  </a:ext>
                </a:extLst>
              </a:tr>
              <a:tr h="230625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rgbClr val="FFFF00"/>
                          </a:solidFill>
                        </a:rPr>
                        <a:t>Geração</a:t>
                      </a:r>
                    </a:p>
                  </a:txBody>
                  <a:tcPr marL="57656" marR="57656" marT="28828" marB="28828" anchor="ctr"/>
                </a:tc>
                <a:tc>
                  <a:txBody>
                    <a:bodyPr/>
                    <a:lstStyle/>
                    <a:p>
                      <a:r>
                        <a:rPr lang="pt-BR" sz="1800" dirty="0" err="1"/>
                        <a:t>DefaultEmpty</a:t>
                      </a:r>
                      <a:r>
                        <a:rPr lang="pt-BR" sz="1800" dirty="0"/>
                        <a:t>, </a:t>
                      </a:r>
                      <a:r>
                        <a:rPr lang="pt-BR" sz="1800" dirty="0" err="1"/>
                        <a:t>Empty</a:t>
                      </a:r>
                      <a:r>
                        <a:rPr lang="pt-BR" sz="1800" dirty="0"/>
                        <a:t>, Range, </a:t>
                      </a:r>
                      <a:r>
                        <a:rPr lang="pt-BR" sz="1800" dirty="0" err="1"/>
                        <a:t>Repeat</a:t>
                      </a:r>
                      <a:r>
                        <a:rPr lang="pt-BR" sz="1800" dirty="0"/>
                        <a:t> </a:t>
                      </a:r>
                    </a:p>
                  </a:txBody>
                  <a:tcPr marL="57656" marR="57656" marT="28828" marB="28828" anchor="ctr"/>
                </a:tc>
                <a:extLst>
                  <a:ext uri="{0D108BD9-81ED-4DB2-BD59-A6C34878D82A}">
                    <a16:rowId xmlns:a16="http://schemas.microsoft.com/office/drawing/2014/main" val="3192930385"/>
                  </a:ext>
                </a:extLst>
              </a:tr>
              <a:tr h="403593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rgbClr val="FFFF00"/>
                          </a:solidFill>
                        </a:rPr>
                        <a:t>Conversão</a:t>
                      </a:r>
                    </a:p>
                  </a:txBody>
                  <a:tcPr marL="57656" marR="57656" marT="28828" marB="28828" anchor="ctr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AsEnumerable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AsQueryable</a:t>
                      </a:r>
                      <a:r>
                        <a:rPr lang="en-US" sz="1800" dirty="0"/>
                        <a:t>, Cast, </a:t>
                      </a:r>
                      <a:r>
                        <a:rPr lang="en-US" sz="1800" dirty="0" err="1"/>
                        <a:t>ToArray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ToDictionary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ToList</a:t>
                      </a:r>
                      <a:r>
                        <a:rPr lang="en-US" sz="1800" dirty="0"/>
                        <a:t> </a:t>
                      </a:r>
                    </a:p>
                  </a:txBody>
                  <a:tcPr marL="57656" marR="57656" marT="28828" marB="28828" anchor="ctr"/>
                </a:tc>
                <a:extLst>
                  <a:ext uri="{0D108BD9-81ED-4DB2-BD59-A6C34878D82A}">
                    <a16:rowId xmlns:a16="http://schemas.microsoft.com/office/drawing/2014/main" val="3358271677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A2ACDF10-447D-569A-546D-09BCDD3132D5}"/>
              </a:ext>
            </a:extLst>
          </p:cNvPr>
          <p:cNvSpPr txBox="1"/>
          <p:nvPr/>
        </p:nvSpPr>
        <p:spPr>
          <a:xfrm>
            <a:off x="2726340" y="5925944"/>
            <a:ext cx="85957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dirty="0"/>
              <a:t>São métodos de extensão para os tipos </a:t>
            </a:r>
            <a:r>
              <a:rPr lang="pt-PT" sz="2000" dirty="0">
                <a:solidFill>
                  <a:srgbClr val="FFFF00"/>
                </a:solidFill>
              </a:rPr>
              <a:t>IEnumerable&lt;T&gt; e IQueryable&lt;T&gt;</a:t>
            </a:r>
            <a:endParaRPr lang="pt-BR" sz="2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244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15</a:t>
            </a:fld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EB43817-32D0-D8CD-51A9-8A7A320BC402}"/>
              </a:ext>
            </a:extLst>
          </p:cNvPr>
          <p:cNvSpPr txBox="1"/>
          <p:nvPr/>
        </p:nvSpPr>
        <p:spPr>
          <a:xfrm>
            <a:off x="271783" y="99563"/>
            <a:ext cx="1162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rgbClr val="FFFF00"/>
                </a:solidFill>
              </a:rPr>
              <a:t>IEnumerable</a:t>
            </a:r>
            <a:r>
              <a:rPr lang="pt-BR" sz="2800" dirty="0">
                <a:solidFill>
                  <a:srgbClr val="FFFF00"/>
                </a:solidFill>
              </a:rPr>
              <a:t>&lt;T&gt;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2ACDF10-447D-569A-546D-09BCDD3132D5}"/>
              </a:ext>
            </a:extLst>
          </p:cNvPr>
          <p:cNvSpPr txBox="1"/>
          <p:nvPr/>
        </p:nvSpPr>
        <p:spPr>
          <a:xfrm>
            <a:off x="394107" y="932703"/>
            <a:ext cx="11247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É uma interface que garante que uma determinada classe seja </a:t>
            </a:r>
            <a:r>
              <a:rPr lang="pt-BR" sz="2400" dirty="0">
                <a:solidFill>
                  <a:srgbClr val="FFFF00"/>
                </a:solidFill>
              </a:rPr>
              <a:t>iterável</a:t>
            </a:r>
            <a:r>
              <a:rPr lang="pt-BR" sz="2400" dirty="0"/>
              <a:t>. </a:t>
            </a:r>
            <a:endParaRPr lang="pt-BR" sz="2400" dirty="0">
              <a:solidFill>
                <a:srgbClr val="FFFF00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035920C-9EA2-0455-32DC-845C48F0F228}"/>
              </a:ext>
            </a:extLst>
          </p:cNvPr>
          <p:cNvSpPr txBox="1"/>
          <p:nvPr/>
        </p:nvSpPr>
        <p:spPr>
          <a:xfrm>
            <a:off x="394107" y="1555694"/>
            <a:ext cx="112470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Uma classe que implementa </a:t>
            </a:r>
            <a:r>
              <a:rPr lang="pt-BR" sz="2400" dirty="0" err="1">
                <a:solidFill>
                  <a:srgbClr val="FFFF00"/>
                </a:solidFill>
              </a:rPr>
              <a:t>IEnumerable</a:t>
            </a:r>
            <a:r>
              <a:rPr lang="pt-BR" sz="2400" dirty="0">
                <a:solidFill>
                  <a:srgbClr val="FFFF00"/>
                </a:solidFill>
              </a:rPr>
              <a:t>&lt;T&gt;</a:t>
            </a:r>
            <a:r>
              <a:rPr lang="pt-BR" sz="2400" dirty="0"/>
              <a:t> pode ser pensada e usada como uma sequência de elementos.</a:t>
            </a:r>
            <a:endParaRPr lang="pt-BR" sz="2400" dirty="0">
              <a:solidFill>
                <a:srgbClr val="FFFF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7E844E6-D411-ECA5-90AA-052406A7DD7A}"/>
              </a:ext>
            </a:extLst>
          </p:cNvPr>
          <p:cNvSpPr txBox="1"/>
          <p:nvPr/>
        </p:nvSpPr>
        <p:spPr>
          <a:xfrm>
            <a:off x="394107" y="2967335"/>
            <a:ext cx="11247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O LINQ fornece dois métodos para converter um </a:t>
            </a:r>
            <a:r>
              <a:rPr lang="pt-BR" sz="2400" dirty="0" err="1">
                <a:solidFill>
                  <a:srgbClr val="FFFF00"/>
                </a:solidFill>
              </a:rPr>
              <a:t>IEnumerable</a:t>
            </a:r>
            <a:r>
              <a:rPr lang="pt-BR" sz="2400" dirty="0">
                <a:solidFill>
                  <a:srgbClr val="FFFF00"/>
                </a:solidFill>
              </a:rPr>
              <a:t>&lt;T&gt; 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72E6372-6FC4-40D5-3A30-A68DF08E4039}"/>
              </a:ext>
            </a:extLst>
          </p:cNvPr>
          <p:cNvSpPr txBox="1"/>
          <p:nvPr/>
        </p:nvSpPr>
        <p:spPr>
          <a:xfrm>
            <a:off x="394107" y="3683808"/>
            <a:ext cx="11247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FFFF00"/>
                </a:solidFill>
              </a:rPr>
              <a:t>1- </a:t>
            </a:r>
            <a:r>
              <a:rPr lang="pt-BR" sz="2400" dirty="0" err="1">
                <a:solidFill>
                  <a:srgbClr val="FFFF00"/>
                </a:solidFill>
              </a:rPr>
              <a:t>ToList</a:t>
            </a:r>
            <a:r>
              <a:rPr lang="pt-BR" sz="2400" dirty="0">
                <a:solidFill>
                  <a:srgbClr val="FFFF00"/>
                </a:solidFill>
              </a:rPr>
              <a:t>() </a:t>
            </a:r>
            <a:r>
              <a:rPr lang="pt-BR" sz="2400" dirty="0"/>
              <a:t>converte um </a:t>
            </a:r>
            <a:r>
              <a:rPr lang="pt-BR" sz="2400" dirty="0" err="1"/>
              <a:t>IEnumerable</a:t>
            </a:r>
            <a:r>
              <a:rPr lang="pt-BR" sz="2400" dirty="0"/>
              <a:t>&lt;T&gt; para um </a:t>
            </a:r>
            <a:r>
              <a:rPr lang="pt-BR" sz="2400" dirty="0" err="1"/>
              <a:t>List</a:t>
            </a:r>
            <a:r>
              <a:rPr lang="pt-BR" sz="2400" dirty="0"/>
              <a:t>&lt;T&gt;</a:t>
            </a:r>
            <a:endParaRPr lang="pt-BR" sz="2400" dirty="0">
              <a:solidFill>
                <a:srgbClr val="FFFF00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E1229C7-9D5D-CFEC-C99A-07A753D911C8}"/>
              </a:ext>
            </a:extLst>
          </p:cNvPr>
          <p:cNvSpPr txBox="1"/>
          <p:nvPr/>
        </p:nvSpPr>
        <p:spPr>
          <a:xfrm>
            <a:off x="394107" y="4199090"/>
            <a:ext cx="11247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FFFF00"/>
                </a:solidFill>
              </a:rPr>
              <a:t>1I- </a:t>
            </a:r>
            <a:r>
              <a:rPr lang="pt-BR" sz="2400" dirty="0" err="1">
                <a:solidFill>
                  <a:srgbClr val="FFFF00"/>
                </a:solidFill>
              </a:rPr>
              <a:t>ToArray</a:t>
            </a:r>
            <a:r>
              <a:rPr lang="pt-BR" sz="2400" dirty="0">
                <a:solidFill>
                  <a:srgbClr val="FFFF00"/>
                </a:solidFill>
              </a:rPr>
              <a:t>() </a:t>
            </a:r>
            <a:r>
              <a:rPr lang="pt-BR" sz="2400" dirty="0"/>
              <a:t>converte um </a:t>
            </a:r>
            <a:r>
              <a:rPr lang="pt-BR" sz="2400" dirty="0" err="1"/>
              <a:t>IEnumerable</a:t>
            </a:r>
            <a:r>
              <a:rPr lang="pt-BR" sz="2400" dirty="0"/>
              <a:t>&lt;T&gt; para um </a:t>
            </a:r>
            <a:r>
              <a:rPr lang="pt-BR" sz="2400" dirty="0" err="1"/>
              <a:t>Array</a:t>
            </a:r>
            <a:r>
              <a:rPr lang="pt-BR" sz="2400" dirty="0"/>
              <a:t>&lt;T&gt;</a:t>
            </a:r>
            <a:endParaRPr lang="pt-BR" sz="2400" dirty="0">
              <a:solidFill>
                <a:srgbClr val="FFFF00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7534F7F-CECF-1C6A-9FAE-2ACFFE6466E4}"/>
              </a:ext>
            </a:extLst>
          </p:cNvPr>
          <p:cNvSpPr txBox="1"/>
          <p:nvPr/>
        </p:nvSpPr>
        <p:spPr>
          <a:xfrm>
            <a:off x="394107" y="4983819"/>
            <a:ext cx="7753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List&lt;int&gt; </a:t>
            </a:r>
            <a:r>
              <a:rPr lang="en-US" sz="2400" dirty="0" err="1"/>
              <a:t>lista</a:t>
            </a:r>
            <a:r>
              <a:rPr lang="en-US" sz="2400" dirty="0"/>
              <a:t> = </a:t>
            </a:r>
            <a:r>
              <a:rPr lang="en-US" sz="2400" dirty="0">
                <a:solidFill>
                  <a:srgbClr val="00B0F0"/>
                </a:solidFill>
              </a:rPr>
              <a:t>new[] </a:t>
            </a:r>
            <a:r>
              <a:rPr lang="en-US" sz="2400" dirty="0"/>
              <a:t>{1, 2, 3}.</a:t>
            </a:r>
            <a:r>
              <a:rPr lang="en-US" sz="2400" dirty="0" err="1">
                <a:solidFill>
                  <a:srgbClr val="FFFF00"/>
                </a:solidFill>
              </a:rPr>
              <a:t>ToList</a:t>
            </a:r>
            <a:r>
              <a:rPr lang="en-US" sz="2400" dirty="0">
                <a:solidFill>
                  <a:srgbClr val="FFFF00"/>
                </a:solidFill>
              </a:rPr>
              <a:t>();</a:t>
            </a:r>
          </a:p>
          <a:p>
            <a:r>
              <a:rPr lang="en-US" sz="2400" dirty="0"/>
              <a:t>int[] array = new </a:t>
            </a:r>
            <a:r>
              <a:rPr lang="en-US" sz="2400" dirty="0">
                <a:solidFill>
                  <a:srgbClr val="00B0F0"/>
                </a:solidFill>
              </a:rPr>
              <a:t>List&lt;int&gt; </a:t>
            </a:r>
            <a:r>
              <a:rPr lang="en-US" sz="2400" dirty="0"/>
              <a:t>{1, 2, 3}.</a:t>
            </a:r>
            <a:r>
              <a:rPr lang="en-US" sz="2400" dirty="0" err="1">
                <a:solidFill>
                  <a:srgbClr val="FFFF00"/>
                </a:solidFill>
              </a:rPr>
              <a:t>ToArray</a:t>
            </a:r>
            <a:r>
              <a:rPr lang="en-US" sz="2400" dirty="0">
                <a:solidFill>
                  <a:srgbClr val="FFFF00"/>
                </a:solidFill>
              </a:rPr>
              <a:t>();</a:t>
            </a:r>
          </a:p>
          <a:p>
            <a:r>
              <a:rPr lang="en-US" sz="2400" dirty="0"/>
              <a:t>List&lt;int&gt; lista1 = </a:t>
            </a:r>
            <a:r>
              <a:rPr lang="en-US" sz="2400" dirty="0">
                <a:solidFill>
                  <a:srgbClr val="00B0F0"/>
                </a:solidFill>
              </a:rPr>
              <a:t>new </a:t>
            </a:r>
            <a:r>
              <a:rPr lang="en-US" sz="2400" dirty="0" err="1">
                <a:solidFill>
                  <a:srgbClr val="00B0F0"/>
                </a:solidFill>
              </a:rPr>
              <a:t>SortedSet</a:t>
            </a:r>
            <a:r>
              <a:rPr lang="en-US" sz="2400" dirty="0"/>
              <a:t>&lt;int&gt; {1, 2, 3}.</a:t>
            </a:r>
            <a:r>
              <a:rPr lang="en-US" sz="2400" dirty="0" err="1">
                <a:solidFill>
                  <a:srgbClr val="FFFF00"/>
                </a:solidFill>
              </a:rPr>
              <a:t>ToList</a:t>
            </a:r>
            <a:r>
              <a:rPr lang="en-US" sz="2400" dirty="0">
                <a:solidFill>
                  <a:srgbClr val="FFFF00"/>
                </a:solidFill>
              </a:rPr>
              <a:t>();</a:t>
            </a:r>
            <a:endParaRPr lang="pt-BR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5583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16</a:t>
            </a:fld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7E844E6-D411-ECA5-90AA-052406A7DD7A}"/>
              </a:ext>
            </a:extLst>
          </p:cNvPr>
          <p:cNvSpPr txBox="1"/>
          <p:nvPr/>
        </p:nvSpPr>
        <p:spPr>
          <a:xfrm>
            <a:off x="4873639" y="2412531"/>
            <a:ext cx="21230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00" dirty="0"/>
              <a:t>FIM</a:t>
            </a:r>
            <a:endParaRPr lang="pt-BR" sz="9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07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74514352.tgt.Office_50300831_TF33713516_Win32_OJ112196127" id="{5B02CB13-25F9-43E9-A3EC-2B08C0871AF2}" vid="{20DE5CB8-F2DD-40E1-8F79-272B0808BA13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811A92-D464-4AC4-A396-BA73B10CEEA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04751AB-E840-446F-8D49-E697067EC88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4876F9-7AE1-498D-B8FE-1E3AD703D2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{0813B0D7-9797-4010-B962-99818663E40B}tf33713516_win32</Template>
  <TotalTime>632</TotalTime>
  <Words>915</Words>
  <Application>Microsoft Office PowerPoint</Application>
  <PresentationFormat>Widescreen</PresentationFormat>
  <Paragraphs>144</Paragraphs>
  <Slides>16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Cascadia Mono</vt:lpstr>
      <vt:lpstr>Gill Sans MT</vt:lpstr>
      <vt:lpstr>Walbaum Display</vt:lpstr>
      <vt:lpstr>3DFloatVTI</vt:lpstr>
      <vt:lpstr>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365 365</dc:creator>
  <cp:lastModifiedBy>Jose Carlos Macoratti</cp:lastModifiedBy>
  <cp:revision>6</cp:revision>
  <dcterms:created xsi:type="dcterms:W3CDTF">2022-09-06T13:49:28Z</dcterms:created>
  <dcterms:modified xsi:type="dcterms:W3CDTF">2024-04-23T12:07:26Z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