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34"/>
  </p:notesMasterIdLst>
  <p:handoutMasterIdLst>
    <p:handoutMasterId r:id="rId35"/>
  </p:handoutMasterIdLst>
  <p:sldIdLst>
    <p:sldId id="257" r:id="rId5"/>
    <p:sldId id="330" r:id="rId6"/>
    <p:sldId id="340" r:id="rId7"/>
    <p:sldId id="342" r:id="rId8"/>
    <p:sldId id="353" r:id="rId9"/>
    <p:sldId id="354" r:id="rId10"/>
    <p:sldId id="355" r:id="rId11"/>
    <p:sldId id="357" r:id="rId12"/>
    <p:sldId id="358" r:id="rId13"/>
    <p:sldId id="346" r:id="rId14"/>
    <p:sldId id="356" r:id="rId15"/>
    <p:sldId id="345" r:id="rId16"/>
    <p:sldId id="347" r:id="rId17"/>
    <p:sldId id="350" r:id="rId18"/>
    <p:sldId id="351" r:id="rId19"/>
    <p:sldId id="349" r:id="rId20"/>
    <p:sldId id="348" r:id="rId21"/>
    <p:sldId id="352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41" r:id="rId31"/>
    <p:sldId id="326" r:id="rId32"/>
    <p:sldId id="359" r:id="rId3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3" autoAdjust="0"/>
    <p:restoredTop sz="93725" autoAdjust="0"/>
  </p:normalViewPr>
  <p:slideViewPr>
    <p:cSldViewPr snapToGrid="0">
      <p:cViewPr varScale="1">
        <p:scale>
          <a:sx n="93" d="100"/>
          <a:sy n="93" d="100"/>
        </p:scale>
        <p:origin x="108" y="4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5FB956-6D4A-42A4-8922-04A0471F5626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414BCE-8E15-4FAC-ABEA-824CFE89BEEF}" type="datetime1">
              <a:rPr lang="pt-BR" smtClean="0"/>
              <a:t>23/04/2024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C9253-D535-4381-869E-FE197FA2C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51632-2A86-4E22-BFB5-628C43F0EF2D}" type="datetime1">
              <a:rPr lang="pt-BR" smtClean="0"/>
              <a:t>23/04/2024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 sz="4800"/>
              <a:t>3DFloat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BR" sz="1600"/>
              <a:t>Clique para adicionar o texto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do tempo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Equipe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6" name="Espaço Reservado par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7" name="Espaço Reservado par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8" name="Espaço Reservado par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Espaço Reservado par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5" name="Espaço Reservado para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7" name="Espaço Reservado para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6" name="Espaço Reservado para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9" name="Espaço Reservado para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8" name="Espaço Reservado para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a coluna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Espaço Reservado para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</a:t>
            </a:r>
          </a:p>
        </p:txBody>
      </p:sp>
      <p:sp>
        <p:nvSpPr>
          <p:cNvPr id="21" name="Espaço Reservado para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Espaço Reservado par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lq2yeucbDs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bb291976%28v=vs.110%29.aspx" TargetMode="Externa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bb291976%28v=vs.110%29.aspx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msdn.microsoft.com/en-us/library/bb291976%28v=vs.110%29.aspx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csharp.net-tutorials.com/pt/426/linq/transformacoes-de-dados-o-metodo-select/" TargetMode="External"/><Relationship Id="rId3" Type="http://schemas.openxmlformats.org/officeDocument/2006/relationships/hyperlink" Target="https://csharp.net-tutorials.com/pt/432/linq/linq-sintaxe-de-consulta-vs-sintaxe-de-metodo/" TargetMode="External"/><Relationship Id="rId7" Type="http://schemas.openxmlformats.org/officeDocument/2006/relationships/hyperlink" Target="https://csharp.net-tutorials.com/pt/438/linq/restringindo-dados-os-metodos-take-skip/" TargetMode="External"/><Relationship Id="rId2" Type="http://schemas.openxmlformats.org/officeDocument/2006/relationships/hyperlink" Target="https://csharp.net-tutorials.com/pt/391/linq/introducao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sharp.net-tutorials.com/pt/439/linq/organizando-dados-os-metodos-orderby-thenby/" TargetMode="External"/><Relationship Id="rId5" Type="http://schemas.openxmlformats.org/officeDocument/2006/relationships/hyperlink" Target="https://csharp.net-tutorials.com/pt/425/linq/filtrando-dados-o-metodo-where/" TargetMode="External"/><Relationship Id="rId4" Type="http://schemas.openxmlformats.org/officeDocument/2006/relationships/hyperlink" Target="https://csharp.net-tutorials.com/pt/432/linq/linq-sintaxe-de-consulta-vs-sintaxe-de-metodo/#aelm5814" TargetMode="External"/><Relationship Id="rId9" Type="http://schemas.openxmlformats.org/officeDocument/2006/relationships/hyperlink" Target="https://csharp.net-tutorials.com/pt/427/linq/agrupando-informacoes-o-metodo-groupby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051551"/>
            <a:ext cx="3856255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 </a:t>
            </a:r>
          </a:p>
        </p:txBody>
      </p:sp>
      <p:pic>
        <p:nvPicPr>
          <p:cNvPr id="14" name="Espaço Reservado para Imagem 13" descr="Plano de fundo digital de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8641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9848" y="3259939"/>
            <a:ext cx="3565524" cy="338122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Macoratti.net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5A945-B50E-5399-883F-768906AF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8" y="1195840"/>
            <a:ext cx="1949209" cy="20963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3111A99-29DF-8BAD-1905-35FD62F8AF2F}"/>
              </a:ext>
            </a:extLst>
          </p:cNvPr>
          <p:cNvSpPr txBox="1"/>
          <p:nvPr/>
        </p:nvSpPr>
        <p:spPr>
          <a:xfrm>
            <a:off x="1741013" y="1832204"/>
            <a:ext cx="379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A3DC-C703-ED9A-46C0-825FE57A6318}"/>
              </a:ext>
            </a:extLst>
          </p:cNvPr>
          <p:cNvSpPr txBox="1"/>
          <p:nvPr/>
        </p:nvSpPr>
        <p:spPr>
          <a:xfrm>
            <a:off x="1831461" y="3389846"/>
            <a:ext cx="7245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Fundamentos - </a:t>
            </a:r>
            <a:r>
              <a:rPr lang="pt-BR" sz="66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III</a:t>
            </a:r>
            <a:endParaRPr lang="pt-BR" sz="800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353459" y="1548921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É o mecanismo usado para selecionar os dados de uma fonte de dados.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projeção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353459" y="933928"/>
            <a:ext cx="5194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Projeção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13B6BAB-9037-8312-01BD-E5E5D9FF941C}"/>
              </a:ext>
            </a:extLst>
          </p:cNvPr>
          <p:cNvSpPr txBox="1"/>
          <p:nvPr/>
        </p:nvSpPr>
        <p:spPr>
          <a:xfrm>
            <a:off x="723454" y="2183043"/>
            <a:ext cx="10023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1 - Selecionar os dados no estado original.</a:t>
            </a:r>
          </a:p>
          <a:p>
            <a:r>
              <a:rPr lang="pt-BR" sz="2400" dirty="0"/>
              <a:t>2 - Criar um novo formato de dados realizando operações nos dados originais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353459" y="3566401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Temos dois métodos usados para projeção : 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651535" y="4200523"/>
            <a:ext cx="10023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1 - </a:t>
            </a:r>
            <a:r>
              <a:rPr lang="pt-BR" sz="2400" dirty="0" err="1">
                <a:solidFill>
                  <a:srgbClr val="00B0F0"/>
                </a:solidFill>
              </a:rPr>
              <a:t>Select</a:t>
            </a:r>
            <a:endParaRPr lang="pt-BR" sz="2400" dirty="0">
              <a:solidFill>
                <a:srgbClr val="00B0F0"/>
              </a:solidFill>
            </a:endParaRPr>
          </a:p>
          <a:p>
            <a:endParaRPr lang="pt-BR" sz="2400" dirty="0"/>
          </a:p>
          <a:p>
            <a:r>
              <a:rPr lang="pt-BR" sz="2400" dirty="0"/>
              <a:t>2 - </a:t>
            </a:r>
            <a:r>
              <a:rPr lang="pt-BR" sz="2400" dirty="0" err="1">
                <a:solidFill>
                  <a:srgbClr val="00B0F0"/>
                </a:solidFill>
              </a:rPr>
              <a:t>SelectMany</a:t>
            </a: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3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219895" y="874597"/>
            <a:ext cx="11287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- Permite especificar quais propriedades queremos recuperar  :  </a:t>
            </a:r>
            <a:r>
              <a:rPr lang="pt-PT" sz="2400" dirty="0">
                <a:solidFill>
                  <a:srgbClr val="FFC000"/>
                </a:solidFill>
              </a:rPr>
              <a:t>todas as propriedades ou apenas algumas das propriedades</a:t>
            </a:r>
            <a:endParaRPr lang="pt-BR" sz="2400" dirty="0">
              <a:solidFill>
                <a:srgbClr val="FFC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65F528-7BAC-C1EC-C037-9B9A178207E7}"/>
              </a:ext>
            </a:extLst>
          </p:cNvPr>
          <p:cNvSpPr txBox="1"/>
          <p:nvPr/>
        </p:nvSpPr>
        <p:spPr>
          <a:xfrm>
            <a:off x="219895" y="1827726"/>
            <a:ext cx="1128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- Permite realizar alguns cálculos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6BB3E3-86F5-36F2-3FBC-C49343F00DB4}"/>
              </a:ext>
            </a:extLst>
          </p:cNvPr>
          <p:cNvSpPr txBox="1"/>
          <p:nvPr/>
        </p:nvSpPr>
        <p:spPr>
          <a:xfrm>
            <a:off x="219894" y="2843377"/>
            <a:ext cx="11287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Execução Imediata na LINQ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D0C9B-7913-9D68-6F0F-A658E5FDC696}"/>
              </a:ext>
            </a:extLst>
          </p:cNvPr>
          <p:cNvSpPr txBox="1"/>
          <p:nvPr/>
        </p:nvSpPr>
        <p:spPr>
          <a:xfrm>
            <a:off x="219895" y="3460235"/>
            <a:ext cx="111022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Força a consulta LINQ a ser executada e retornar o resultado imediatamente</a:t>
            </a:r>
          </a:p>
          <a:p>
            <a:endParaRPr lang="pt-BR" sz="2400" dirty="0"/>
          </a:p>
          <a:p>
            <a:r>
              <a:rPr lang="pt-BR" sz="2400" dirty="0"/>
              <a:t>É obtida usando os operadores de conversão  :  </a:t>
            </a:r>
          </a:p>
          <a:p>
            <a:r>
              <a:rPr lang="pt-BR" sz="2400" dirty="0" err="1">
                <a:solidFill>
                  <a:srgbClr val="FFFF00"/>
                </a:solidFill>
              </a:rPr>
              <a:t>ToList</a:t>
            </a:r>
            <a:r>
              <a:rPr lang="pt-BR" sz="2400" dirty="0">
                <a:solidFill>
                  <a:srgbClr val="FFFF00"/>
                </a:solidFill>
              </a:rPr>
              <a:t>(),  </a:t>
            </a:r>
            <a:r>
              <a:rPr lang="pt-BR" sz="2400" dirty="0" err="1">
                <a:solidFill>
                  <a:srgbClr val="FFFF00"/>
                </a:solidFill>
              </a:rPr>
              <a:t>ToArray</a:t>
            </a:r>
            <a:r>
              <a:rPr lang="pt-BR" sz="2400" dirty="0">
                <a:solidFill>
                  <a:srgbClr val="FFFF00"/>
                </a:solidFill>
              </a:rPr>
              <a:t>(),  </a:t>
            </a:r>
            <a:r>
              <a:rPr lang="pt-BR" sz="2400" dirty="0" err="1">
                <a:solidFill>
                  <a:srgbClr val="FFFF00"/>
                </a:solidFill>
              </a:rPr>
              <a:t>AsEnumerable</a:t>
            </a:r>
            <a:r>
              <a:rPr lang="pt-BR" sz="2400" dirty="0">
                <a:solidFill>
                  <a:srgbClr val="FFFF00"/>
                </a:solidFill>
              </a:rPr>
              <a:t>,  </a:t>
            </a:r>
            <a:r>
              <a:rPr lang="pt-BR" sz="2400" dirty="0" err="1">
                <a:solidFill>
                  <a:srgbClr val="FFFF00"/>
                </a:solidFill>
              </a:rPr>
              <a:t>AsQueryable</a:t>
            </a:r>
            <a:r>
              <a:rPr lang="pt-BR" sz="2400" dirty="0">
                <a:solidFill>
                  <a:srgbClr val="FFFF00"/>
                </a:solidFill>
              </a:rPr>
              <a:t>,  </a:t>
            </a:r>
            <a:r>
              <a:rPr lang="pt-BR" sz="2400" dirty="0" err="1">
                <a:solidFill>
                  <a:srgbClr val="FFFF00"/>
                </a:solidFill>
              </a:rPr>
              <a:t>ToDictionary</a:t>
            </a:r>
            <a:r>
              <a:rPr lang="pt-BR" sz="2400" dirty="0">
                <a:solidFill>
                  <a:srgbClr val="FFFF00"/>
                </a:solidFill>
              </a:rPr>
              <a:t>(),  </a:t>
            </a:r>
            <a:r>
              <a:rPr lang="pt-BR" sz="2400" dirty="0" err="1">
                <a:solidFill>
                  <a:srgbClr val="FFFF00"/>
                </a:solidFill>
              </a:rPr>
              <a:t>ToLookup</a:t>
            </a:r>
            <a:r>
              <a:rPr lang="pt-BR" sz="2400" dirty="0">
                <a:solidFill>
                  <a:srgbClr val="FFFF00"/>
                </a:solidFill>
              </a:rPr>
              <a:t>()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72346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F43A4A-CD33-0A02-0607-BCF77B2F4439}"/>
              </a:ext>
            </a:extLst>
          </p:cNvPr>
          <p:cNvSpPr txBox="1"/>
          <p:nvPr/>
        </p:nvSpPr>
        <p:spPr>
          <a:xfrm>
            <a:off x="332198" y="1253448"/>
            <a:ext cx="1130893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&lt;Aluno&gt; alunos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7030A0"/>
                </a:solidFill>
                <a:latin typeface="Cascadia Mono" panose="020B0609020000020004" pitchFamily="49" charset="0"/>
              </a:rPr>
              <a:t>ToList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alunos)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aluno.Nota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69A0EA-F583-AC22-C3B1-0A63140FF16E}"/>
              </a:ext>
            </a:extLst>
          </p:cNvPr>
          <p:cNvSpPr txBox="1"/>
          <p:nvPr/>
        </p:nvSpPr>
        <p:spPr>
          <a:xfrm>
            <a:off x="332197" y="3890665"/>
            <a:ext cx="11308939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IEnumerable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(a=&gt;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b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nome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{nome});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EA0F03D-F553-D50B-52F1-3DE5B6BE7769}"/>
              </a:ext>
            </a:extLst>
          </p:cNvPr>
          <p:cNvSpPr txBox="1"/>
          <p:nvPr/>
        </p:nvSpPr>
        <p:spPr>
          <a:xfrm>
            <a:off x="332198" y="755790"/>
            <a:ext cx="52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Selecione todos os dados originais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90D0A6-B784-5B0C-495F-70D78B6259AC}"/>
              </a:ext>
            </a:extLst>
          </p:cNvPr>
          <p:cNvSpPr txBox="1"/>
          <p:nvPr/>
        </p:nvSpPr>
        <p:spPr>
          <a:xfrm>
            <a:off x="332198" y="3429000"/>
            <a:ext cx="52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Seleciona apenas o nome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561A8F5-09D0-A215-755F-402DD365228C}"/>
              </a:ext>
            </a:extLst>
          </p:cNvPr>
          <p:cNvSpPr txBox="1"/>
          <p:nvPr/>
        </p:nvSpPr>
        <p:spPr>
          <a:xfrm>
            <a:off x="9298112" y="1469204"/>
            <a:ext cx="2054832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Cria a consulta e retorna os dados de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Imediato 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3A71DB1-F4A3-9561-829B-D15D67820230}"/>
              </a:ext>
            </a:extLst>
          </p:cNvPr>
          <p:cNvCxnSpPr/>
          <p:nvPr/>
        </p:nvCxnSpPr>
        <p:spPr>
          <a:xfrm flipH="1" flipV="1">
            <a:off x="8424809" y="1751771"/>
            <a:ext cx="873303" cy="1790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4E75669-3CA5-4A88-3E64-AD06F3741510}"/>
              </a:ext>
            </a:extLst>
          </p:cNvPr>
          <p:cNvSpPr txBox="1"/>
          <p:nvPr/>
        </p:nvSpPr>
        <p:spPr>
          <a:xfrm>
            <a:off x="9411128" y="4620178"/>
            <a:ext cx="20548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Cria a consulta e não retorna dados</a:t>
            </a:r>
          </a:p>
        </p:txBody>
      </p:sp>
    </p:spTree>
    <p:extLst>
      <p:ext uri="{BB962C8B-B14F-4D97-AF65-F5344CB8AC3E}">
        <p14:creationId xmlns:p14="http://schemas.microsoft.com/office/powerpoint/2010/main" val="208880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/>
      <p:bldP spid="12" grpId="0"/>
      <p:bldP spid="13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500" y="1203273"/>
            <a:ext cx="10644026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&lt;Aluno&gt; lista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(a=&gt; 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new Aluno()</a:t>
            </a:r>
            <a:b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</a:b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{      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Nome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b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Idade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})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.</a:t>
            </a:r>
            <a:r>
              <a:rPr lang="pt-BR" sz="1800" dirty="0" err="1">
                <a:solidFill>
                  <a:srgbClr val="7030A0"/>
                </a:solidFill>
                <a:latin typeface="Cascadia Mono" panose="020B0609020000020004" pitchFamily="49" charset="0"/>
              </a:rPr>
              <a:t>ToList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();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lista)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1039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Seleciona um novo formato do mesmo tipo obtendo apenas o </a:t>
            </a:r>
            <a:r>
              <a:rPr lang="pt-BR" sz="2400" dirty="0">
                <a:solidFill>
                  <a:srgbClr val="FFC000"/>
                </a:solidFill>
              </a:rPr>
              <a:t>Nome e a Idade</a:t>
            </a:r>
          </a:p>
        </p:txBody>
      </p:sp>
    </p:spTree>
    <p:extLst>
      <p:ext uri="{BB962C8B-B14F-4D97-AF65-F5344CB8AC3E}">
        <p14:creationId xmlns:p14="http://schemas.microsoft.com/office/powerpoint/2010/main" val="188008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500" y="1203273"/>
            <a:ext cx="10644026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Var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FonteDados.GetAlunos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(a=&gt; 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new</a:t>
            </a:r>
            <a:b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</a:b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{      </a:t>
            </a:r>
          </a:p>
          <a:p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b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IdadeAluno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b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NotaAluno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a.Nota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}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.</a:t>
            </a:r>
            <a:r>
              <a:rPr lang="pt-BR" sz="1800" dirty="0" err="1">
                <a:solidFill>
                  <a:srgbClr val="7030A0"/>
                </a:solidFill>
                <a:latin typeface="Cascadia Mono" panose="020B0609020000020004" pitchFamily="49" charset="0"/>
              </a:rPr>
              <a:t>ToList</a:t>
            </a:r>
            <a:r>
              <a:rPr lang="pt-BR" sz="1800" dirty="0">
                <a:solidFill>
                  <a:srgbClr val="7030A0"/>
                </a:solidFill>
                <a:latin typeface="Cascadia Mono" panose="020B0609020000020004" pitchFamily="49" charset="0"/>
              </a:rPr>
              <a:t>();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pt-BR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aluno.NomeAluno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: 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aluno.IdadeAluno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Criando uma projeção para um tipo anônimo </a:t>
            </a:r>
          </a:p>
        </p:txBody>
      </p:sp>
    </p:spTree>
    <p:extLst>
      <p:ext uri="{BB962C8B-B14F-4D97-AF65-F5344CB8AC3E}">
        <p14:creationId xmlns:p14="http://schemas.microsoft.com/office/powerpoint/2010/main" val="102033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499" y="1203273"/>
            <a:ext cx="11671443" cy="307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FonteDados.GetFuncionarios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(f =&gt;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IdadeAluno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SalarioAnual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f.Salario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* 12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alunosTipoAnonimo)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: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aluno.SalarioAnual.ToString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"c"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Realizando cálculos com o operador </a:t>
            </a:r>
            <a:r>
              <a:rPr lang="pt-BR" sz="2400" dirty="0" err="1"/>
              <a:t>Select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9889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SelectMany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219895" y="874597"/>
            <a:ext cx="11287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- </a:t>
            </a:r>
            <a:r>
              <a:rPr lang="pt-BR" sz="2400" dirty="0"/>
              <a:t>É usado para projetar cada elemento de uma sequência para um </a:t>
            </a:r>
            <a:r>
              <a:rPr lang="pt-BR" sz="2400" dirty="0" err="1">
                <a:solidFill>
                  <a:srgbClr val="00B0F0"/>
                </a:solidFill>
              </a:rPr>
              <a:t>IEnumerable</a:t>
            </a:r>
            <a:r>
              <a:rPr lang="pt-BR" sz="2400" dirty="0">
                <a:solidFill>
                  <a:srgbClr val="00B0F0"/>
                </a:solidFill>
              </a:rPr>
              <a:t>&lt;T&gt;</a:t>
            </a:r>
            <a:r>
              <a:rPr lang="pt-BR" sz="2400" dirty="0"/>
              <a:t> e, em seguida, nivelar as sequências resultantes em uma sequência. </a:t>
            </a:r>
            <a:endParaRPr lang="pt-BR" sz="2400" dirty="0">
              <a:solidFill>
                <a:srgbClr val="FFC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65F528-7BAC-C1EC-C037-9B9A178207E7}"/>
              </a:ext>
            </a:extLst>
          </p:cNvPr>
          <p:cNvSpPr txBox="1"/>
          <p:nvPr/>
        </p:nvSpPr>
        <p:spPr>
          <a:xfrm>
            <a:off x="219895" y="2041868"/>
            <a:ext cx="11287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- </a:t>
            </a:r>
            <a:r>
              <a:rPr lang="pt-BR" sz="2400" dirty="0" err="1"/>
              <a:t>SelectMany</a:t>
            </a:r>
            <a:r>
              <a:rPr lang="pt-BR" sz="2400" dirty="0"/>
              <a:t> combina os registros de uma sequência de resultados e os converte em um resultado.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8F190A-1A6B-29BE-6328-60BEA935E8B5}"/>
              </a:ext>
            </a:extLst>
          </p:cNvPr>
          <p:cNvSpPr txBox="1"/>
          <p:nvPr/>
        </p:nvSpPr>
        <p:spPr>
          <a:xfrm>
            <a:off x="219895" y="3275405"/>
            <a:ext cx="11287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- Ele transforma  um  </a:t>
            </a:r>
            <a:r>
              <a:rPr lang="pt-BR" sz="2400" dirty="0" err="1">
                <a:solidFill>
                  <a:srgbClr val="FFC000"/>
                </a:solidFill>
              </a:rPr>
              <a:t>IEnumerable</a:t>
            </a:r>
            <a:r>
              <a:rPr lang="pt-BR" sz="2400" dirty="0">
                <a:solidFill>
                  <a:srgbClr val="FFC000"/>
                </a:solidFill>
              </a:rPr>
              <a:t>&lt;</a:t>
            </a:r>
            <a:r>
              <a:rPr lang="pt-BR" sz="2400" dirty="0" err="1">
                <a:solidFill>
                  <a:srgbClr val="FFC000"/>
                </a:solidFill>
              </a:rPr>
              <a:t>IEnumerable</a:t>
            </a:r>
            <a:r>
              <a:rPr lang="pt-BR" sz="2400" dirty="0">
                <a:solidFill>
                  <a:srgbClr val="FFC000"/>
                </a:solidFill>
              </a:rPr>
              <a:t>&lt;T&gt;&gt; </a:t>
            </a:r>
            <a:r>
              <a:rPr lang="pt-BR" sz="2400" dirty="0"/>
              <a:t>em </a:t>
            </a:r>
            <a:r>
              <a:rPr lang="pt-BR" sz="2400" dirty="0" err="1">
                <a:solidFill>
                  <a:srgbClr val="00B0F0"/>
                </a:solidFill>
              </a:rPr>
              <a:t>IEnumerable</a:t>
            </a:r>
            <a:r>
              <a:rPr lang="pt-BR" sz="2400" dirty="0">
                <a:solidFill>
                  <a:srgbClr val="00B0F0"/>
                </a:solidFill>
              </a:rPr>
              <a:t>&lt;T&gt;</a:t>
            </a:r>
            <a:r>
              <a:rPr lang="pt-BR" sz="2400" dirty="0"/>
              <a:t>, ou seja, uma  </a:t>
            </a:r>
            <a:r>
              <a:rPr lang="pt-BR" sz="2400" dirty="0">
                <a:solidFill>
                  <a:srgbClr val="FFC000"/>
                </a:solidFill>
              </a:rPr>
              <a:t>lista de lista </a:t>
            </a:r>
            <a:r>
              <a:rPr lang="pt-BR" sz="2400" dirty="0"/>
              <a:t>para uma </a:t>
            </a:r>
            <a:r>
              <a:rPr lang="pt-BR" sz="2400" dirty="0">
                <a:solidFill>
                  <a:srgbClr val="00B0F0"/>
                </a:solidFill>
              </a:rPr>
              <a:t>lista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570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499" y="1203273"/>
            <a:ext cx="11671443" cy="307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FonteDados.GetFuncionarios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(f =&gt;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IdadeAluno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SalarioAnual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f.Salario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* 12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alunosTipoAnonimo)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: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aluno.SalarioAnual.ToString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"c"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Realizando cálculos com o operador </a:t>
            </a:r>
            <a:r>
              <a:rPr lang="pt-BR" sz="2400" dirty="0" err="1"/>
              <a:t>Select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599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49308" y="797202"/>
            <a:ext cx="824742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&gt; nomes =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"Maria"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"Miriam"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"Carlos"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"Manoel"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254757" y="49165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Consulta – Código tradicional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22E2A0-9F63-B938-F505-8F3F40A1D54B}"/>
              </a:ext>
            </a:extLst>
          </p:cNvPr>
          <p:cNvSpPr txBox="1"/>
          <p:nvPr/>
        </p:nvSpPr>
        <p:spPr>
          <a:xfrm>
            <a:off x="249309" y="2572055"/>
            <a:ext cx="824742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?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nomes.Find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VerificaNomeNaLista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pt-BR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(resultado);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F4E6C7-BF14-C094-3F66-BE6C9978370D}"/>
              </a:ext>
            </a:extLst>
          </p:cNvPr>
          <p:cNvSpPr txBox="1"/>
          <p:nvPr/>
        </p:nvSpPr>
        <p:spPr>
          <a:xfrm>
            <a:off x="249308" y="4152864"/>
            <a:ext cx="8247420" cy="13234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it-IT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it-IT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it-IT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VerificaNomeNaLista(</a:t>
            </a:r>
            <a:r>
              <a:rPr lang="it-IT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it-IT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_nome)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nome.Equals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"Carlos"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pt-BR" sz="2800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0C38426-4B21-6962-6048-3FD7120AE2AE}"/>
              </a:ext>
            </a:extLst>
          </p:cNvPr>
          <p:cNvCxnSpPr/>
          <p:nvPr/>
        </p:nvCxnSpPr>
        <p:spPr>
          <a:xfrm flipH="1">
            <a:off x="4171308" y="2987553"/>
            <a:ext cx="2075380" cy="12864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FB2E8F-F969-C1FD-2DE1-8DC16AA3FF88}"/>
              </a:ext>
            </a:extLst>
          </p:cNvPr>
          <p:cNvSpPr txBox="1"/>
          <p:nvPr/>
        </p:nvSpPr>
        <p:spPr>
          <a:xfrm>
            <a:off x="8589196" y="2572055"/>
            <a:ext cx="2383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FFFF00"/>
                </a:solidFill>
              </a:rPr>
              <a:t>Predicate</a:t>
            </a:r>
            <a:r>
              <a:rPr lang="pt-BR" sz="2400" dirty="0">
                <a:solidFill>
                  <a:srgbClr val="FFFF00"/>
                </a:solidFill>
              </a:rPr>
              <a:t>&lt;</a:t>
            </a:r>
            <a:r>
              <a:rPr lang="pt-BR" sz="2400" dirty="0" err="1">
                <a:solidFill>
                  <a:srgbClr val="FFFF00"/>
                </a:solidFill>
              </a:rPr>
              <a:t>string</a:t>
            </a:r>
            <a:r>
              <a:rPr lang="pt-BR" sz="2400" dirty="0">
                <a:solidFill>
                  <a:srgbClr val="FFFF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7942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6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SelectMany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E02264-94A9-3AE1-3044-9164A5CB0C10}"/>
              </a:ext>
            </a:extLst>
          </p:cNvPr>
          <p:cNvSpPr txBox="1"/>
          <p:nvPr/>
        </p:nvSpPr>
        <p:spPr>
          <a:xfrm>
            <a:off x="318499" y="1203273"/>
            <a:ext cx="11671443" cy="307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//Sintaxe de método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alunosTipoAnonimo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FonteDados.GetFuncionarios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(f =&gt;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endParaRPr lang="pt-BR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f.Nome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IdadeAluno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f.Idade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SalarioAnual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pt-BR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f.Salario</a:t>
            </a:r>
            <a:r>
              <a:rPr lang="pt-BR" b="1" dirty="0">
                <a:solidFill>
                  <a:srgbClr val="000000"/>
                </a:solidFill>
                <a:latin typeface="Cascadia Mono" panose="020B0609020000020004" pitchFamily="49" charset="0"/>
              </a:rPr>
              <a:t> * 12</a:t>
            </a:r>
          </a:p>
          <a:p>
            <a:pPr lvl="8"/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pt-BR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</a:t>
            </a:r>
            <a:r>
              <a:rPr lang="it-IT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it-IT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alunosTipoAnonimo)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 :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aluno.IdadeAluno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 </a:t>
            </a:r>
            <a:r>
              <a:rPr lang="pt-B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aluno.SalarioAnual.ToString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"c"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)}</a:t>
            </a:r>
            <a:r>
              <a:rPr lang="pt-BR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1600" dirty="0"/>
          </a:p>
          <a:p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9E4B2A-3748-EA2D-8FC4-49175E742B53}"/>
              </a:ext>
            </a:extLst>
          </p:cNvPr>
          <p:cNvSpPr txBox="1"/>
          <p:nvPr/>
        </p:nvSpPr>
        <p:spPr>
          <a:xfrm>
            <a:off x="332197" y="755790"/>
            <a:ext cx="8986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Realizando cálculos com o operador </a:t>
            </a:r>
            <a:r>
              <a:rPr lang="pt-BR" sz="2400" dirty="0" err="1"/>
              <a:t>Select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1493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49308" y="797202"/>
            <a:ext cx="824742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&gt; nomes =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"Maria"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"Miriam"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"Carlos"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"Manoel"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254757" y="49165"/>
            <a:ext cx="9238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Consulta – Usando um método anônimo com </a:t>
            </a:r>
            <a:r>
              <a:rPr lang="pt-BR" sz="2800" dirty="0" err="1"/>
              <a:t>delegate</a:t>
            </a:r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22E2A0-9F63-B938-F505-8F3F40A1D54B}"/>
              </a:ext>
            </a:extLst>
          </p:cNvPr>
          <p:cNvSpPr txBox="1"/>
          <p:nvPr/>
        </p:nvSpPr>
        <p:spPr>
          <a:xfrm>
            <a:off x="249309" y="2572055"/>
            <a:ext cx="8247420" cy="19082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? resultado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nomes.Find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nome)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nome.Equals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"Carlos"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});</a:t>
            </a:r>
          </a:p>
          <a:p>
            <a:endParaRPr lang="pt-B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(resultado);</a:t>
            </a:r>
            <a:endParaRPr lang="pt-BR" sz="28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FB2E8F-F969-C1FD-2DE1-8DC16AA3FF88}"/>
              </a:ext>
            </a:extLst>
          </p:cNvPr>
          <p:cNvSpPr txBox="1"/>
          <p:nvPr/>
        </p:nvSpPr>
        <p:spPr>
          <a:xfrm>
            <a:off x="8589195" y="2572055"/>
            <a:ext cx="3051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Método anônimo</a:t>
            </a:r>
          </a:p>
          <a:p>
            <a:r>
              <a:rPr lang="pt-BR" sz="2400" dirty="0">
                <a:solidFill>
                  <a:srgbClr val="FFFF00"/>
                </a:solidFill>
              </a:rPr>
              <a:t>usando </a:t>
            </a:r>
            <a:r>
              <a:rPr lang="pt-BR" sz="2400" dirty="0" err="1">
                <a:solidFill>
                  <a:srgbClr val="FFFF00"/>
                </a:solidFill>
              </a:rPr>
              <a:t>delegate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39BE2BF-5064-2263-2515-B7166CC2521F}"/>
              </a:ext>
            </a:extLst>
          </p:cNvPr>
          <p:cNvSpPr txBox="1"/>
          <p:nvPr/>
        </p:nvSpPr>
        <p:spPr>
          <a:xfrm>
            <a:off x="136291" y="4818579"/>
            <a:ext cx="9583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effectLst/>
                <a:latin typeface="Trebuchet MS" panose="020B0603020202020204" pitchFamily="34" charset="0"/>
              </a:rPr>
              <a:t>Métodos Anônimos são acessados através de um </a:t>
            </a:r>
            <a:r>
              <a:rPr lang="pt-BR" sz="2400" b="1" dirty="0" err="1">
                <a:effectLst/>
                <a:latin typeface="Trebuchet MS" panose="020B0603020202020204" pitchFamily="34" charset="0"/>
              </a:rPr>
              <a:t>delegate</a:t>
            </a:r>
            <a:r>
              <a:rPr lang="pt-BR" sz="2400" b="1" dirty="0">
                <a:effectLst/>
                <a:latin typeface="Trebuchet MS" panose="020B0603020202020204" pitchFamily="34" charset="0"/>
              </a:rPr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4843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13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49308" y="797202"/>
            <a:ext cx="9470042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&gt; nomes =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"Maria"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"Miriam"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"Carlos"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nomes.Add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"Manoel"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254756" y="49165"/>
            <a:ext cx="74714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Consulta – Usando uma Expressão Lambda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22E2A0-9F63-B938-F505-8F3F40A1D54B}"/>
              </a:ext>
            </a:extLst>
          </p:cNvPr>
          <p:cNvSpPr txBox="1"/>
          <p:nvPr/>
        </p:nvSpPr>
        <p:spPr>
          <a:xfrm>
            <a:off x="249308" y="2572055"/>
            <a:ext cx="9470043" cy="9848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? resultado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nomes.Find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(nome =&gt;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nome.Equals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(“Carlos”);</a:t>
            </a:r>
          </a:p>
          <a:p>
            <a:endParaRPr lang="pt-BR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(resultado);</a:t>
            </a:r>
            <a:endParaRPr lang="pt-BR" sz="2800" dirty="0"/>
          </a:p>
        </p:txBody>
      </p:sp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id="{DED05163-1398-715F-32B4-60A53A5D4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831490"/>
              </p:ext>
            </p:extLst>
          </p:nvPr>
        </p:nvGraphicFramePr>
        <p:xfrm>
          <a:off x="249308" y="3828490"/>
          <a:ext cx="11279784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35928">
                  <a:extLst>
                    <a:ext uri="{9D8B030D-6E8A-4147-A177-3AD203B41FA5}">
                      <a16:colId xmlns:a16="http://schemas.microsoft.com/office/drawing/2014/main" val="3859347829"/>
                    </a:ext>
                  </a:extLst>
                </a:gridCol>
                <a:gridCol w="6643856">
                  <a:extLst>
                    <a:ext uri="{9D8B030D-6E8A-4147-A177-3AD203B41FA5}">
                      <a16:colId xmlns:a16="http://schemas.microsoft.com/office/drawing/2014/main" val="1462938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dirty="0">
                          <a:solidFill>
                            <a:srgbClr val="FFFF00"/>
                          </a:solidFill>
                        </a:rPr>
                        <a:t>delegate(string nome)</a:t>
                      </a:r>
                    </a:p>
                    <a:p>
                      <a:r>
                        <a:rPr lang="it-IT" sz="2400" dirty="0">
                          <a:solidFill>
                            <a:srgbClr val="FFFF00"/>
                          </a:solidFill>
                        </a:rPr>
                        <a:t> {</a:t>
                      </a:r>
                    </a:p>
                    <a:p>
                      <a:r>
                        <a:rPr lang="it-IT" sz="2400" dirty="0">
                          <a:solidFill>
                            <a:srgbClr val="FFFF00"/>
                          </a:solidFill>
                        </a:rPr>
                        <a:t>       return nome.Equals("Bianca");</a:t>
                      </a:r>
                    </a:p>
                    <a:p>
                      <a:r>
                        <a:rPr lang="it-IT" sz="2400" dirty="0">
                          <a:solidFill>
                            <a:srgbClr val="FFFF00"/>
                          </a:solidFill>
                        </a:rPr>
                        <a:t> });</a:t>
                      </a:r>
                      <a:endParaRPr lang="pt-BR" sz="2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nome =&gt; </a:t>
                      </a:r>
                      <a:r>
                        <a:rPr lang="pt-BR" sz="2400" dirty="0" err="1">
                          <a:solidFill>
                            <a:srgbClr val="00B0F0"/>
                          </a:solidFill>
                        </a:rPr>
                        <a:t>nome.Equals</a:t>
                      </a:r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("Bianca")</a:t>
                      </a:r>
                      <a:endParaRPr lang="pt-BR" sz="2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8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rgbClr val="FFFF00"/>
                          </a:solidFill>
                        </a:rPr>
                        <a:t>Método anônimo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solidFill>
                            <a:srgbClr val="00B0F0"/>
                          </a:solidFill>
                        </a:rPr>
                        <a:t>Expressão lambda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288477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815167EC-FC9C-49AD-4801-F3F9CC09B139}"/>
              </a:ext>
            </a:extLst>
          </p:cNvPr>
          <p:cNvSpPr txBox="1"/>
          <p:nvPr/>
        </p:nvSpPr>
        <p:spPr>
          <a:xfrm>
            <a:off x="156841" y="6028572"/>
            <a:ext cx="11196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/>
              <a:t>Delegates</a:t>
            </a:r>
            <a:r>
              <a:rPr lang="pt-BR" sz="2000" b="1" dirty="0"/>
              <a:t>  :  </a:t>
            </a:r>
            <a:r>
              <a:rPr lang="pt-BR" sz="2000" b="1" dirty="0" err="1">
                <a:solidFill>
                  <a:srgbClr val="FFFF00"/>
                </a:solidFill>
              </a:rPr>
              <a:t>Func</a:t>
            </a:r>
            <a:r>
              <a:rPr lang="pt-BR" sz="2000" b="1" dirty="0">
                <a:solidFill>
                  <a:srgbClr val="FFFF00"/>
                </a:solidFill>
              </a:rPr>
              <a:t>&lt;in T,  out T&gt;   ,   </a:t>
            </a:r>
            <a:r>
              <a:rPr lang="pt-BR" sz="2000" b="1" dirty="0" err="1">
                <a:solidFill>
                  <a:srgbClr val="FFFF00"/>
                </a:solidFill>
              </a:rPr>
              <a:t>Action</a:t>
            </a:r>
            <a:r>
              <a:rPr lang="pt-BR" sz="2000" b="1" dirty="0">
                <a:solidFill>
                  <a:srgbClr val="FFFF00"/>
                </a:solidFill>
              </a:rPr>
              <a:t>&lt;in T&gt; ,  </a:t>
            </a:r>
            <a:r>
              <a:rPr lang="pt-BR" sz="2000" b="1" dirty="0" err="1">
                <a:solidFill>
                  <a:srgbClr val="FFFF00"/>
                </a:solidFill>
              </a:rPr>
              <a:t>Predicate</a:t>
            </a:r>
            <a:r>
              <a:rPr lang="pt-BR" sz="2000" b="1" dirty="0">
                <a:solidFill>
                  <a:srgbClr val="FFFF00"/>
                </a:solidFill>
              </a:rPr>
              <a:t>&lt;in T&gt;</a:t>
            </a:r>
          </a:p>
        </p:txBody>
      </p:sp>
    </p:spTree>
    <p:extLst>
      <p:ext uri="{BB962C8B-B14F-4D97-AF65-F5344CB8AC3E}">
        <p14:creationId xmlns:p14="http://schemas.microsoft.com/office/powerpoint/2010/main" val="369786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 hidden="1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BR" smtClean="0"/>
              <a:pPr rtl="0">
                <a:spcAft>
                  <a:spcPts val="600"/>
                </a:spcAft>
              </a:pPr>
              <a:t>14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9CD9E2-6537-4669-5B4F-537058950A55}"/>
              </a:ext>
            </a:extLst>
          </p:cNvPr>
          <p:cNvSpPr txBox="1"/>
          <p:nvPr/>
        </p:nvSpPr>
        <p:spPr>
          <a:xfrm>
            <a:off x="168524" y="89332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Consultas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AF8656-C960-D8E3-49EB-209911FEDDCC}"/>
              </a:ext>
            </a:extLst>
          </p:cNvPr>
          <p:cNvSpPr txBox="1"/>
          <p:nvPr/>
        </p:nvSpPr>
        <p:spPr>
          <a:xfrm>
            <a:off x="168523" y="911264"/>
            <a:ext cx="11677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Os métodos LINQ que retornam </a:t>
            </a:r>
            <a:r>
              <a:rPr lang="pt-PT" sz="2400" dirty="0">
                <a:solidFill>
                  <a:srgbClr val="FFFF00"/>
                </a:solidFill>
              </a:rPr>
              <a:t>IEnumerable&lt;T&gt; </a:t>
            </a:r>
            <a:r>
              <a:rPr lang="pt-PT" sz="2400" dirty="0"/>
              <a:t>têm um conceito de </a:t>
            </a:r>
            <a:r>
              <a:rPr lang="pt-PT" sz="2400" dirty="0">
                <a:solidFill>
                  <a:srgbClr val="FFFF00"/>
                </a:solidFill>
              </a:rPr>
              <a:t>execução lenta </a:t>
            </a:r>
            <a:r>
              <a:rPr lang="pt-PT" sz="2400" i="1" dirty="0"/>
              <a:t>(também chamada de adiada ou lazy execution - </a:t>
            </a:r>
            <a:r>
              <a:rPr lang="pt-PT" sz="2400" i="1" dirty="0">
                <a:hlinkClick r:id="rId2"/>
              </a:rPr>
              <a:t>https://www.youtube.com/watch?v=nlq2yeucbDs</a:t>
            </a:r>
            <a:r>
              <a:rPr lang="pt-PT" sz="2400" i="1" dirty="0"/>
              <a:t> )</a:t>
            </a:r>
            <a:endParaRPr lang="pt-BR" sz="24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556C71-B3A7-95FF-CFF4-F7770FDD9ECC}"/>
              </a:ext>
            </a:extLst>
          </p:cNvPr>
          <p:cNvSpPr txBox="1"/>
          <p:nvPr/>
        </p:nvSpPr>
        <p:spPr>
          <a:xfrm>
            <a:off x="168523" y="2154437"/>
            <a:ext cx="11677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Todos os métodos genéricos LINQ, podem </a:t>
            </a:r>
            <a:r>
              <a:rPr lang="pt-PT" sz="2400" dirty="0">
                <a:solidFill>
                  <a:srgbClr val="FFFF00"/>
                </a:solidFill>
              </a:rPr>
              <a:t>inferir implicitamente argumentos de tipo</a:t>
            </a:r>
            <a:r>
              <a:rPr lang="pt-PT" sz="2400" dirty="0"/>
              <a:t>, portanto, não precisamos especificá-los na maioria dos casos. 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FB1ACD-F9FA-A4C8-ADFD-11C3A9E399A1}"/>
              </a:ext>
            </a:extLst>
          </p:cNvPr>
          <p:cNvSpPr txBox="1"/>
          <p:nvPr/>
        </p:nvSpPr>
        <p:spPr>
          <a:xfrm>
            <a:off x="168523" y="3397610"/>
            <a:ext cx="11677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A maioria dos métodos LINQ aceita delegates </a:t>
            </a:r>
            <a:r>
              <a:rPr lang="pt-PT" sz="2400" dirty="0">
                <a:solidFill>
                  <a:srgbClr val="FFFF00"/>
                </a:solidFill>
              </a:rPr>
              <a:t>Func&lt;&gt; e Predicate&lt;&gt;, </a:t>
            </a:r>
            <a:r>
              <a:rPr lang="pt-PT" sz="2400" dirty="0"/>
              <a:t>e,  a opção mais comum para fornecer um delegate é escrever uma </a:t>
            </a:r>
            <a:r>
              <a:rPr lang="pt-PT" sz="2400" dirty="0">
                <a:solidFill>
                  <a:srgbClr val="FFFF00"/>
                </a:solidFill>
              </a:rPr>
              <a:t>expressão lambda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A711455-80EA-05EF-E2A0-150F4EB5B898}"/>
              </a:ext>
            </a:extLst>
          </p:cNvPr>
          <p:cNvSpPr txBox="1"/>
          <p:nvPr/>
        </p:nvSpPr>
        <p:spPr>
          <a:xfrm>
            <a:off x="168523" y="4640783"/>
            <a:ext cx="116775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dirty="0"/>
              <a:t>Ao trabalhar com a interface </a:t>
            </a:r>
            <a:r>
              <a:rPr lang="pt-PT" sz="2400" dirty="0">
                <a:solidFill>
                  <a:srgbClr val="FFFF00"/>
                </a:solidFill>
              </a:rPr>
              <a:t>IQueryable&lt;T&gt;</a:t>
            </a:r>
            <a:r>
              <a:rPr lang="pt-PT" sz="2400" dirty="0"/>
              <a:t>, a consulta é compilada (por exemplo, em SQL) e executada remotamente.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01604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1D51AE0-5236-2F72-C0E9-75D5C0EAF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03" y="68262"/>
            <a:ext cx="9741268" cy="6721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Espaço Reservado para o Número do Slide 15" hidden="1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>
              <a:spcAft>
                <a:spcPts val="600"/>
              </a:spcAft>
            </a:pPr>
            <a:fld id="{DBA1B0FB-D917-4C8C-928F-313BD683BF39}" type="slidenum">
              <a:rPr lang="pt-BR" smtClean="0"/>
              <a:pPr rtl="0">
                <a:spcAft>
                  <a:spcPts val="600"/>
                </a:spcAft>
              </a:pPr>
              <a:t>15</a:t>
            </a:fld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77CF4B-4F13-9543-EF81-A676C8599E88}"/>
              </a:ext>
            </a:extLst>
          </p:cNvPr>
          <p:cNvSpPr/>
          <p:nvPr/>
        </p:nvSpPr>
        <p:spPr>
          <a:xfrm>
            <a:off x="10074103" y="6334017"/>
            <a:ext cx="786267" cy="45571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43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16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353459" y="858349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São usados para filtrar dados de uma </a:t>
            </a:r>
            <a:r>
              <a:rPr lang="pt-BR" sz="2400" dirty="0">
                <a:solidFill>
                  <a:srgbClr val="FFFF00"/>
                </a:solidFill>
              </a:rPr>
              <a:t>lista/coleção </a:t>
            </a:r>
            <a:r>
              <a:rPr lang="pt-BR" sz="2400" dirty="0"/>
              <a:t>com base nas condições do filtro. 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8739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Filtrar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52E0E5-E811-D631-0E87-6EC966B8823B}"/>
              </a:ext>
            </a:extLst>
          </p:cNvPr>
          <p:cNvSpPr txBox="1"/>
          <p:nvPr/>
        </p:nvSpPr>
        <p:spPr>
          <a:xfrm>
            <a:off x="353459" y="1596677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FF00"/>
                </a:solidFill>
              </a:rPr>
              <a:t>Where</a:t>
            </a:r>
            <a:r>
              <a:rPr lang="pt-BR" sz="2400" dirty="0"/>
              <a:t> - é usado para selecionar valores da lista com base em </a:t>
            </a:r>
            <a:r>
              <a:rPr lang="pt-BR" sz="2400" dirty="0">
                <a:solidFill>
                  <a:srgbClr val="FFFF00"/>
                </a:solidFill>
              </a:rPr>
              <a:t>funções de predicado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E1093AA-C2AA-2E5E-5A18-D320903C6BD2}"/>
              </a:ext>
            </a:extLst>
          </p:cNvPr>
          <p:cNvSpPr txBox="1"/>
          <p:nvPr/>
        </p:nvSpPr>
        <p:spPr>
          <a:xfrm>
            <a:off x="353459" y="2547228"/>
            <a:ext cx="5862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92D050"/>
                </a:solidFill>
              </a:rPr>
              <a:t>fonte_dados.</a:t>
            </a:r>
            <a:r>
              <a:rPr lang="en-US" sz="2400" dirty="0" err="1">
                <a:solidFill>
                  <a:srgbClr val="FFFF00"/>
                </a:solidFill>
              </a:rPr>
              <a:t>Where</a:t>
            </a:r>
            <a:r>
              <a:rPr lang="en-US" sz="2400" dirty="0">
                <a:solidFill>
                  <a:srgbClr val="FFFF00"/>
                </a:solidFill>
              </a:rPr>
              <a:t>(</a:t>
            </a:r>
            <a:r>
              <a:rPr lang="en-US" sz="2400" dirty="0">
                <a:solidFill>
                  <a:srgbClr val="00B0F0"/>
                </a:solidFill>
              </a:rPr>
              <a:t>&lt;</a:t>
            </a:r>
            <a:r>
              <a:rPr lang="en-US" sz="2400" dirty="0" err="1">
                <a:solidFill>
                  <a:srgbClr val="00B0F0"/>
                </a:solidFill>
              </a:rPr>
              <a:t>expressão_lambada</a:t>
            </a:r>
            <a:r>
              <a:rPr lang="en-US" sz="2400" dirty="0">
                <a:solidFill>
                  <a:srgbClr val="00B0F0"/>
                </a:solidFill>
              </a:rPr>
              <a:t>&gt;</a:t>
            </a:r>
            <a:r>
              <a:rPr lang="en-US" sz="2400" dirty="0">
                <a:solidFill>
                  <a:srgbClr val="FFFF00"/>
                </a:solidFill>
              </a:rPr>
              <a:t>)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04B9C0-62F3-5049-8540-DA93DD21716A}"/>
              </a:ext>
            </a:extLst>
          </p:cNvPr>
          <p:cNvSpPr txBox="1"/>
          <p:nvPr/>
        </p:nvSpPr>
        <p:spPr>
          <a:xfrm>
            <a:off x="353459" y="3156675"/>
            <a:ext cx="5862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92D050"/>
                </a:solidFill>
              </a:rPr>
              <a:t>fonte_dados</a:t>
            </a:r>
            <a:r>
              <a:rPr lang="en-US" sz="2400" dirty="0" err="1">
                <a:solidFill>
                  <a:srgbClr val="FFFF00"/>
                </a:solidFill>
              </a:rPr>
              <a:t>.Where</a:t>
            </a:r>
            <a:r>
              <a:rPr lang="en-US" sz="2400" dirty="0">
                <a:solidFill>
                  <a:srgbClr val="FFFF00"/>
                </a:solidFill>
              </a:rPr>
              <a:t>(</a:t>
            </a:r>
            <a:r>
              <a:rPr lang="en-US" sz="2400" dirty="0" err="1">
                <a:solidFill>
                  <a:srgbClr val="00B0F0"/>
                </a:solidFill>
              </a:rPr>
              <a:t>Func</a:t>
            </a:r>
            <a:r>
              <a:rPr lang="en-US" sz="2400" dirty="0">
                <a:solidFill>
                  <a:srgbClr val="00B0F0"/>
                </a:solidFill>
              </a:rPr>
              <a:t>&lt;</a:t>
            </a:r>
            <a:r>
              <a:rPr lang="en-US" sz="2400" dirty="0" err="1">
                <a:solidFill>
                  <a:srgbClr val="00B0F0"/>
                </a:solidFill>
              </a:rPr>
              <a:t>T,bool</a:t>
            </a:r>
            <a:r>
              <a:rPr lang="en-US" sz="2400" dirty="0">
                <a:solidFill>
                  <a:srgbClr val="00B0F0"/>
                </a:solidFill>
              </a:rPr>
              <a:t>&gt; predicate</a:t>
            </a:r>
            <a:r>
              <a:rPr lang="en-US" sz="2400" dirty="0">
                <a:solidFill>
                  <a:srgbClr val="FFFF00"/>
                </a:solidFill>
              </a:rPr>
              <a:t>)</a:t>
            </a:r>
            <a:endParaRPr lang="pt-B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4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2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17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445926" y="714510"/>
            <a:ext cx="1148508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numeros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&gt;()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1, 2, 4, 8, 16, 32, 64, 128, 256, 512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Where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EC2BAF0-1D76-782A-0AB8-DAB6EA836110}"/>
              </a:ext>
            </a:extLst>
          </p:cNvPr>
          <p:cNvSpPr txBox="1"/>
          <p:nvPr/>
        </p:nvSpPr>
        <p:spPr>
          <a:xfrm>
            <a:off x="445925" y="2228671"/>
            <a:ext cx="1148508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var resultado1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numeros.Where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(n =&gt; n &lt; 10);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A1A754-84B8-6B6D-A247-5AA67E28CA21}"/>
              </a:ext>
            </a:extLst>
          </p:cNvPr>
          <p:cNvSpPr txBox="1"/>
          <p:nvPr/>
        </p:nvSpPr>
        <p:spPr>
          <a:xfrm>
            <a:off x="445925" y="2824572"/>
            <a:ext cx="1148508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var resultado2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numeros.Where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(n =&gt; n &gt; 1 &amp;&amp; n != 4 &amp;&amp; n &lt; 20);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992928-3E3C-D890-B519-22751771EAD6}"/>
              </a:ext>
            </a:extLst>
          </p:cNvPr>
          <p:cNvSpPr txBox="1"/>
          <p:nvPr/>
        </p:nvSpPr>
        <p:spPr>
          <a:xfrm>
            <a:off x="445924" y="3490710"/>
            <a:ext cx="1148508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var resultado3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numeros.Where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(n =&gt; !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listaNegra.Contains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(n));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71191B-EB0D-095B-E0C0-8DA897B946EF}"/>
              </a:ext>
            </a:extLst>
          </p:cNvPr>
          <p:cNvSpPr txBox="1"/>
          <p:nvPr/>
        </p:nvSpPr>
        <p:spPr>
          <a:xfrm>
            <a:off x="445924" y="4148157"/>
            <a:ext cx="11485081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var resultado4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numeros.Where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(n =&gt; n &gt; 1)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.Where(n =&gt; n != 4)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.Where(n =&gt; n &lt; 10);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A47546-32C8-4306-91D1-D29564201E30}"/>
              </a:ext>
            </a:extLst>
          </p:cNvPr>
          <p:cNvSpPr txBox="1"/>
          <p:nvPr/>
        </p:nvSpPr>
        <p:spPr>
          <a:xfrm>
            <a:off x="445924" y="5712227"/>
            <a:ext cx="1148508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string.Join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(" ",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resultadox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3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18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445926" y="714510"/>
            <a:ext cx="11485081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List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&lt;Aluno&gt; alunos =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Aluno() { Nome =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"Maria"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Idade = 42 },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Aluno() { Nome =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"Manoel"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Idade = 34 },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Aluno() { Nome =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"Amanda"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Idade = 21 },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Aluno() { Nome =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"Carlos"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Idade = 18 },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Aluno() { Nome = </a:t>
            </a:r>
            <a:r>
              <a:rPr lang="pt-BR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"Alicia"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Idade = 15 },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659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Where com objetos complexos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71191B-EB0D-095B-E0C0-8DA897B946EF}"/>
              </a:ext>
            </a:extLst>
          </p:cNvPr>
          <p:cNvSpPr txBox="1"/>
          <p:nvPr/>
        </p:nvSpPr>
        <p:spPr>
          <a:xfrm>
            <a:off x="445923" y="3887091"/>
            <a:ext cx="11485081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var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filtro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from a in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where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a.Nome.StartsWith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("A") &amp;&amp;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a.Idade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&lt; 18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select a;</a:t>
            </a:r>
            <a:endParaRPr lang="pt-BR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A47546-32C8-4306-91D1-D29564201E30}"/>
              </a:ext>
            </a:extLst>
          </p:cNvPr>
          <p:cNvSpPr txBox="1"/>
          <p:nvPr/>
        </p:nvSpPr>
        <p:spPr>
          <a:xfrm>
            <a:off x="445923" y="5198665"/>
            <a:ext cx="11485081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aluno in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aluno.Nome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+ " : " +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aluno.Idade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A91B193-6670-411E-964E-C4B7FF0E4CA5}"/>
              </a:ext>
            </a:extLst>
          </p:cNvPr>
          <p:cNvSpPr txBox="1"/>
          <p:nvPr/>
        </p:nvSpPr>
        <p:spPr>
          <a:xfrm>
            <a:off x="445923" y="3288371"/>
            <a:ext cx="1148508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var resultado =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alunos.Where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(a =&gt;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a.Nome.StartsWith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('A') &amp;&amp;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a.Idade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&lt; 18);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20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19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Obtendo um único elemento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5" y="2313063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8AC8B8C-4C13-4B81-8735-9B2C3B297178}"/>
              </a:ext>
            </a:extLst>
          </p:cNvPr>
          <p:cNvSpPr txBox="1"/>
          <p:nvPr/>
        </p:nvSpPr>
        <p:spPr>
          <a:xfrm>
            <a:off x="271264" y="315132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ElementAt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1E18F1-CE81-4595-524B-220E6EDA492F}"/>
              </a:ext>
            </a:extLst>
          </p:cNvPr>
          <p:cNvSpPr txBox="1"/>
          <p:nvPr/>
        </p:nvSpPr>
        <p:spPr>
          <a:xfrm>
            <a:off x="271264" y="3989593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Single()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219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20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(&lt;</a:t>
            </a:r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predicate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&gt;)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Obtendo um único elemento condicionalmente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4" y="262952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(&lt;</a:t>
            </a:r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predicate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&gt;)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1E18F1-CE81-4595-524B-220E6EDA492F}"/>
              </a:ext>
            </a:extLst>
          </p:cNvPr>
          <p:cNvSpPr txBox="1"/>
          <p:nvPr/>
        </p:nvSpPr>
        <p:spPr>
          <a:xfrm>
            <a:off x="271264" y="3989593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Single(&lt;</a:t>
            </a:r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predicate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&gt;)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78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21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</a:t>
            </a:r>
            <a:r>
              <a:rPr lang="pt-BR" sz="2800" dirty="0" err="1">
                <a:solidFill>
                  <a:srgbClr val="FFFF00"/>
                </a:solidFill>
              </a:rPr>
              <a:t>OrDefault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Obtendo um único elemento ou default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4" y="262952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</a:t>
            </a:r>
            <a:r>
              <a:rPr lang="pt-BR" sz="2800" dirty="0" err="1">
                <a:solidFill>
                  <a:srgbClr val="FFFF00"/>
                </a:solidFill>
              </a:rPr>
              <a:t>OrDefault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1E18F1-CE81-4595-524B-220E6EDA492F}"/>
              </a:ext>
            </a:extLst>
          </p:cNvPr>
          <p:cNvSpPr txBox="1"/>
          <p:nvPr/>
        </p:nvSpPr>
        <p:spPr>
          <a:xfrm>
            <a:off x="271264" y="4482753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SingleOrDefault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(&lt;</a:t>
            </a:r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predicate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&gt;)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1BCAD0-FA6A-7F80-94F3-D4344B112967}"/>
              </a:ext>
            </a:extLst>
          </p:cNvPr>
          <p:cNvSpPr txBox="1"/>
          <p:nvPr/>
        </p:nvSpPr>
        <p:spPr>
          <a:xfrm>
            <a:off x="271264" y="3443651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ElementAtOrDefault</a:t>
            </a:r>
            <a:r>
              <a:rPr lang="pt-BR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endParaRPr lang="pt-BR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5558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Take()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Extraindo múltiplos elementos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4" y="262952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Skip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99730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23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TakeWhile</a:t>
            </a:r>
            <a:r>
              <a:rPr lang="pt-BR" sz="2800" dirty="0">
                <a:solidFill>
                  <a:srgbClr val="FFFF00"/>
                </a:solidFill>
              </a:rPr>
              <a:t>(&lt;</a:t>
            </a:r>
            <a:r>
              <a:rPr lang="pt-BR" sz="2800" dirty="0" err="1">
                <a:solidFill>
                  <a:srgbClr val="FFFF00"/>
                </a:solidFill>
              </a:rPr>
              <a:t>predicate</a:t>
            </a:r>
            <a:r>
              <a:rPr lang="pt-BR" sz="2800" dirty="0">
                <a:solidFill>
                  <a:srgbClr val="FFFF00"/>
                </a:solidFill>
              </a:rPr>
              <a:t>&gt;)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Extraindo múltiplos elementos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4" y="262952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SkipWhile</a:t>
            </a:r>
            <a:r>
              <a:rPr lang="pt-BR" sz="2800" dirty="0">
                <a:solidFill>
                  <a:srgbClr val="FFFF00"/>
                </a:solidFill>
              </a:rPr>
              <a:t>(&lt;</a:t>
            </a:r>
            <a:r>
              <a:rPr lang="pt-BR" sz="2800" dirty="0" err="1">
                <a:solidFill>
                  <a:srgbClr val="FFFF00"/>
                </a:solidFill>
              </a:rPr>
              <a:t>predicate</a:t>
            </a:r>
            <a:r>
              <a:rPr lang="pt-BR" sz="2800" dirty="0">
                <a:solidFill>
                  <a:srgbClr val="FFFF00"/>
                </a:solidFill>
              </a:rPr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3542057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24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Distinct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Extraindo múltiplos elementos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4" y="262952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Intersect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67F85A7-953E-B690-73DC-5949CD795F2D}"/>
              </a:ext>
            </a:extLst>
          </p:cNvPr>
          <p:cNvSpPr txBox="1"/>
          <p:nvPr/>
        </p:nvSpPr>
        <p:spPr>
          <a:xfrm>
            <a:off x="271264" y="367454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Where(&lt;</a:t>
            </a:r>
            <a:r>
              <a:rPr lang="pt-BR" sz="2800" dirty="0" err="1">
                <a:solidFill>
                  <a:srgbClr val="FFFF00"/>
                </a:solidFill>
              </a:rPr>
              <a:t>predicate</a:t>
            </a:r>
            <a:r>
              <a:rPr lang="pt-BR" sz="2800" dirty="0">
                <a:solidFill>
                  <a:srgbClr val="FFFF00"/>
                </a:solidFill>
              </a:rPr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3640554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25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Reverse()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32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Alterando a ordem dos elementos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271264" y="262952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OrderBy</a:t>
            </a:r>
            <a:r>
              <a:rPr lang="pt-BR" sz="2800" dirty="0">
                <a:solidFill>
                  <a:srgbClr val="FFFF00"/>
                </a:solidFill>
              </a:rPr>
              <a:t>(&lt;</a:t>
            </a:r>
            <a:r>
              <a:rPr lang="pt-BR" sz="2800" dirty="0" err="1">
                <a:solidFill>
                  <a:srgbClr val="FFFF00"/>
                </a:solidFill>
              </a:rPr>
              <a:t>keySelector</a:t>
            </a:r>
            <a:r>
              <a:rPr lang="pt-BR" sz="2800" dirty="0">
                <a:solidFill>
                  <a:srgbClr val="FFFF00"/>
                </a:solidFill>
              </a:rPr>
              <a:t>&gt;)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67F85A7-953E-B690-73DC-5949CD795F2D}"/>
              </a:ext>
            </a:extLst>
          </p:cNvPr>
          <p:cNvSpPr txBox="1"/>
          <p:nvPr/>
        </p:nvSpPr>
        <p:spPr>
          <a:xfrm>
            <a:off x="271264" y="3674548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Where(&lt;</a:t>
            </a:r>
            <a:r>
              <a:rPr lang="pt-BR" sz="2800" dirty="0" err="1">
                <a:solidFill>
                  <a:srgbClr val="FFFF00"/>
                </a:solidFill>
              </a:rPr>
              <a:t>predicate</a:t>
            </a:r>
            <a:r>
              <a:rPr lang="pt-BR" sz="2800" dirty="0">
                <a:solidFill>
                  <a:srgbClr val="FFFF00"/>
                </a:solidFill>
              </a:rPr>
              <a:t>&gt;)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93DCE5-8150-205A-2276-0ABBF3C7CE0F}"/>
              </a:ext>
            </a:extLst>
          </p:cNvPr>
          <p:cNvSpPr txBox="1"/>
          <p:nvPr/>
        </p:nvSpPr>
        <p:spPr>
          <a:xfrm>
            <a:off x="271264" y="4829270"/>
            <a:ext cx="11485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FFFF00"/>
                </a:solidFill>
              </a:rPr>
              <a:t>ThenBy</a:t>
            </a:r>
            <a:r>
              <a:rPr lang="pt-BR" sz="2800" dirty="0">
                <a:solidFill>
                  <a:srgbClr val="FFFF00"/>
                </a:solidFill>
              </a:rPr>
              <a:t>(&lt;</a:t>
            </a:r>
            <a:r>
              <a:rPr lang="pt-BR" sz="2800" dirty="0" err="1">
                <a:solidFill>
                  <a:srgbClr val="FFFF00"/>
                </a:solidFill>
              </a:rPr>
              <a:t>keySelector</a:t>
            </a:r>
            <a:r>
              <a:rPr lang="pt-BR" sz="2800" dirty="0">
                <a:solidFill>
                  <a:srgbClr val="FFFF00"/>
                </a:solidFill>
              </a:rPr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2375095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26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1474798"/>
            <a:ext cx="114850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pt-B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Introdução </a:t>
            </a:r>
            <a:endParaRPr lang="pt-BR" sz="2400" dirty="0"/>
          </a:p>
          <a:p>
            <a:pPr>
              <a:buFont typeface="+mj-lt"/>
              <a:buAutoNum type="arabicPeriod"/>
            </a:pPr>
            <a:r>
              <a:rPr lang="pt-BR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LINQ: Sintaxe de consulta vs. Sintaxe de método </a:t>
            </a:r>
            <a:endParaRPr lang="pt-BR" sz="2400" dirty="0"/>
          </a:p>
          <a:p>
            <a:pPr marL="742950" lvl="1" indent="-285750">
              <a:buFont typeface="+mj-lt"/>
              <a:buAutoNum type="arabicPeriod"/>
            </a:pPr>
            <a:r>
              <a:rPr lang="pt-B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Lambda </a:t>
            </a:r>
            <a:r>
              <a:rPr lang="pt-BR" sz="24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Expressions</a:t>
            </a:r>
            <a:r>
              <a:rPr lang="pt-BR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pt-BR" sz="2400" dirty="0"/>
          </a:p>
          <a:p>
            <a:pPr>
              <a:buFont typeface="+mj-lt"/>
              <a:buAutoNum type="arabicPeriod"/>
            </a:pPr>
            <a:r>
              <a:rPr lang="pt-BR" sz="2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Filtrando dados: O método Where() </a:t>
            </a:r>
            <a:endParaRPr lang="pt-BR" sz="2400" dirty="0"/>
          </a:p>
          <a:p>
            <a:pPr>
              <a:buFont typeface="+mj-lt"/>
              <a:buAutoNum type="arabicPeriod"/>
            </a:pPr>
            <a:r>
              <a:rPr lang="pt-BR" sz="2400" dirty="0"/>
              <a:t>Obtendo um único elemento : </a:t>
            </a:r>
            <a:r>
              <a:rPr lang="pt-BR" sz="2400" dirty="0" err="1"/>
              <a:t>First</a:t>
            </a:r>
            <a:r>
              <a:rPr lang="pt-BR" sz="2400" dirty="0"/>
              <a:t>(), </a:t>
            </a:r>
            <a:r>
              <a:rPr lang="pt-BR" sz="2400" dirty="0" err="1"/>
              <a:t>Last</a:t>
            </a:r>
            <a:r>
              <a:rPr lang="pt-BR" sz="2400" dirty="0"/>
              <a:t>(), Single(), </a:t>
            </a:r>
            <a:r>
              <a:rPr lang="pt-BR" sz="2400" dirty="0" err="1"/>
              <a:t>ElementAt</a:t>
            </a:r>
            <a:r>
              <a:rPr lang="pt-BR" sz="2400" dirty="0"/>
              <a:t>()</a:t>
            </a:r>
            <a:br>
              <a:rPr lang="pt-BR" sz="2400" dirty="0"/>
            </a:br>
            <a:r>
              <a:rPr lang="pt-BR" sz="2400" dirty="0"/>
              <a:t>4.</a:t>
            </a:r>
            <a:r>
              <a:rPr lang="pt-BR" sz="2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Organizando dados: os métodos </a:t>
            </a:r>
            <a:r>
              <a:rPr lang="pt-BR" sz="24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OrderBy</a:t>
            </a:r>
            <a:r>
              <a:rPr lang="pt-BR" sz="2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 &amp; </a:t>
            </a:r>
            <a:r>
              <a:rPr lang="pt-BR" sz="24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ThenBy</a:t>
            </a:r>
            <a:r>
              <a:rPr lang="pt-BR" sz="24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 </a:t>
            </a:r>
            <a:br>
              <a:rPr lang="pt-BR" sz="2400" dirty="0"/>
            </a:br>
            <a:r>
              <a:rPr lang="pt-BR" sz="2400" dirty="0"/>
              <a:t>5.</a:t>
            </a:r>
            <a:r>
              <a:rPr lang="pt-BR" sz="2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Restringindo dados: os métodos Take() &amp; </a:t>
            </a:r>
            <a:r>
              <a:rPr lang="pt-BR" sz="24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Skip</a:t>
            </a:r>
            <a:r>
              <a:rPr lang="pt-BR" sz="24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 </a:t>
            </a:r>
            <a:endParaRPr lang="pt-BR" sz="2400" dirty="0"/>
          </a:p>
          <a:p>
            <a:pPr>
              <a:buFont typeface="+mj-lt"/>
              <a:buAutoNum type="arabicPeriod"/>
            </a:pPr>
            <a:r>
              <a:rPr lang="pt-BR" sz="24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Transformações de dados: O método </a:t>
            </a:r>
            <a:r>
              <a:rPr lang="pt-BR" sz="2400" dirty="0" err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</a:t>
            </a:r>
            <a:r>
              <a:rPr lang="pt-BR" sz="24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br>
              <a:rPr lang="pt-BR" sz="2400" dirty="0"/>
            </a:br>
            <a:r>
              <a:rPr lang="pt-BR" sz="2400" dirty="0"/>
              <a:t>7.</a:t>
            </a:r>
            <a:r>
              <a:rPr lang="pt-BR" sz="24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Agrupando informações: o método </a:t>
            </a:r>
            <a:r>
              <a:rPr lang="pt-BR" sz="2400" dirty="0" err="1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GroupBy</a:t>
            </a:r>
            <a:r>
              <a:rPr lang="pt-BR" sz="24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 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Sintaxe de método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271266" y="828288"/>
            <a:ext cx="5194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Vantagens: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3BE39D-A75F-6615-4AD5-BCE0B0850944}"/>
              </a:ext>
            </a:extLst>
          </p:cNvPr>
          <p:cNvSpPr txBox="1"/>
          <p:nvPr/>
        </p:nvSpPr>
        <p:spPr>
          <a:xfrm>
            <a:off x="353459" y="5260369"/>
            <a:ext cx="1073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https://csharp.net-tutorials.com/pt/432/linq/linq-sintaxe-de-consulta-vs-sintaxe-de-metodo/#aelm5814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E0ED66-7CEE-A93A-B444-F8CBBFBA1783}"/>
              </a:ext>
            </a:extLst>
          </p:cNvPr>
          <p:cNvSpPr txBox="1"/>
          <p:nvPr/>
        </p:nvSpPr>
        <p:spPr>
          <a:xfrm>
            <a:off x="353459" y="5883790"/>
            <a:ext cx="1073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https://www.tutlane.com/tutorial/linq/linq-where-clause-filtering-operator</a:t>
            </a:r>
          </a:p>
        </p:txBody>
      </p:sp>
    </p:spTree>
    <p:extLst>
      <p:ext uri="{BB962C8B-B14F-4D97-AF65-F5344CB8AC3E}">
        <p14:creationId xmlns:p14="http://schemas.microsoft.com/office/powerpoint/2010/main" val="3279483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27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50718" y="835775"/>
            <a:ext cx="1148508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pt-BR" sz="2000" dirty="0" err="1"/>
              <a:t>Aggregate</a:t>
            </a:r>
            <a:r>
              <a:rPr lang="pt-BR" sz="2000" dirty="0"/>
              <a:t> </a:t>
            </a:r>
            <a:r>
              <a:rPr lang="pt-BR" sz="2000" dirty="0" err="1"/>
              <a:t>Functions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Projection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Filtering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Sorting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Partition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Conversion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Element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Grouping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Join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/>
              <a:t>Set </a:t>
            </a:r>
            <a:r>
              <a:rPr lang="pt-BR" sz="2000" dirty="0" err="1"/>
              <a:t>Operations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Equality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 err="1"/>
              <a:t>Concat</a:t>
            </a:r>
            <a:r>
              <a:rPr lang="pt-BR" sz="2000" dirty="0"/>
              <a:t> </a:t>
            </a:r>
            <a:r>
              <a:rPr lang="pt-BR" sz="2000" dirty="0" err="1"/>
              <a:t>Operators</a:t>
            </a:r>
            <a:endParaRPr lang="pt-BR" sz="2000" dirty="0"/>
          </a:p>
          <a:p>
            <a:pPr>
              <a:buFont typeface="+mj-lt"/>
              <a:buAutoNum type="arabicPeriod"/>
            </a:pPr>
            <a:r>
              <a:rPr lang="pt-BR" sz="2000" dirty="0"/>
              <a:t>Generation </a:t>
            </a:r>
            <a:r>
              <a:rPr lang="pt-BR" sz="2000" dirty="0" err="1"/>
              <a:t>Operators</a:t>
            </a:r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Sintaxe de método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3BE39D-A75F-6615-4AD5-BCE0B0850944}"/>
              </a:ext>
            </a:extLst>
          </p:cNvPr>
          <p:cNvSpPr txBox="1"/>
          <p:nvPr/>
        </p:nvSpPr>
        <p:spPr>
          <a:xfrm>
            <a:off x="353459" y="5652893"/>
            <a:ext cx="1073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https://csharp.net-tutorials.com/pt/432/linq/linq-sintaxe-de-consulta-vs-sintaxe-de-metodo/#aelm5814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E0ED66-7CEE-A93A-B444-F8CBBFBA1783}"/>
              </a:ext>
            </a:extLst>
          </p:cNvPr>
          <p:cNvSpPr txBox="1"/>
          <p:nvPr/>
        </p:nvSpPr>
        <p:spPr>
          <a:xfrm>
            <a:off x="353459" y="5183292"/>
            <a:ext cx="1073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https://www.tutlane.com/tutorial/linq/linq-where-clause-filtering-operator</a:t>
            </a:r>
          </a:p>
        </p:txBody>
      </p:sp>
    </p:spTree>
    <p:extLst>
      <p:ext uri="{BB962C8B-B14F-4D97-AF65-F5344CB8AC3E}">
        <p14:creationId xmlns:p14="http://schemas.microsoft.com/office/powerpoint/2010/main" val="3451089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28</a:t>
            </a:fld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B43817-32D0-D8CD-51A9-8A7A320BC402}"/>
              </a:ext>
            </a:extLst>
          </p:cNvPr>
          <p:cNvSpPr txBox="1"/>
          <p:nvPr/>
        </p:nvSpPr>
        <p:spPr>
          <a:xfrm>
            <a:off x="271783" y="99563"/>
            <a:ext cx="1162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</a:rPr>
              <a:t>Operadores de consulta padrão : </a:t>
            </a:r>
            <a:r>
              <a:rPr lang="pt-BR" sz="2800" dirty="0" err="1">
                <a:solidFill>
                  <a:srgbClr val="00B0F0"/>
                </a:solidFill>
              </a:rPr>
              <a:t>System.Linq.Enumerable</a:t>
            </a:r>
            <a:r>
              <a:rPr lang="pt-BR" sz="2800" dirty="0">
                <a:solidFill>
                  <a:srgbClr val="00B0F0"/>
                </a:solidFill>
              </a:rPr>
              <a:t> e </a:t>
            </a:r>
            <a:r>
              <a:rPr lang="pt-BR" sz="2800" dirty="0" err="1">
                <a:solidFill>
                  <a:srgbClr val="00B0F0"/>
                </a:solidFill>
              </a:rPr>
              <a:t>Queryable</a:t>
            </a:r>
            <a:endParaRPr lang="pt-BR" sz="2800" dirty="0">
              <a:solidFill>
                <a:srgbClr val="00B0F0"/>
              </a:solidFill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4EF8EE1-07CC-839B-DB63-76B9BA1EC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746417"/>
              </p:ext>
            </p:extLst>
          </p:nvPr>
        </p:nvGraphicFramePr>
        <p:xfrm>
          <a:off x="291365" y="863967"/>
          <a:ext cx="11609270" cy="486251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24174">
                  <a:extLst>
                    <a:ext uri="{9D8B030D-6E8A-4147-A177-3AD203B41FA5}">
                      <a16:colId xmlns:a16="http://schemas.microsoft.com/office/drawing/2014/main" val="4156410482"/>
                    </a:ext>
                  </a:extLst>
                </a:gridCol>
                <a:gridCol w="9185096">
                  <a:extLst>
                    <a:ext uri="{9D8B030D-6E8A-4147-A177-3AD203B41FA5}">
                      <a16:colId xmlns:a16="http://schemas.microsoft.com/office/drawing/2014/main" val="2157958937"/>
                    </a:ext>
                  </a:extLst>
                </a:gridCol>
              </a:tblGrid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Filtro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Where, </a:t>
                      </a:r>
                      <a:r>
                        <a:rPr lang="pt-BR" sz="1800" dirty="0" err="1"/>
                        <a:t>OfType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1757527981"/>
                  </a:ext>
                </a:extLst>
              </a:tr>
              <a:tr h="403593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Ordenação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OrderBy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OrderByDescending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ThenBy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ThenByDescending</a:t>
                      </a:r>
                      <a:r>
                        <a:rPr lang="en-US" sz="1800" dirty="0"/>
                        <a:t>, Reverse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4195166679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Agrupamento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GroupBy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ToLookup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1658681683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Junção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GroupJoin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Join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4101346321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Projeção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Select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SelectMany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2879507964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Agregação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Aggregate, Average, Count, LongCount, Max, Min, Sum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671843327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FFFF00"/>
                          </a:solidFill>
                        </a:rPr>
                        <a:t>Quantifiers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All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Any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Contains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273680482"/>
                  </a:ext>
                </a:extLst>
              </a:tr>
              <a:tr h="403593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Elementos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ElementAt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ElementAtOrDefault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First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FirstOrDefault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Last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LastOrDefault</a:t>
                      </a:r>
                      <a:r>
                        <a:rPr lang="pt-BR" sz="1800" dirty="0"/>
                        <a:t>, Single, </a:t>
                      </a:r>
                      <a:r>
                        <a:rPr lang="pt-BR" sz="1800" dirty="0" err="1"/>
                        <a:t>SingleOrDefault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547688737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Set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Distinct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Except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Intersect</a:t>
                      </a:r>
                      <a:r>
                        <a:rPr lang="pt-BR" sz="1800" dirty="0"/>
                        <a:t>, Union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017081690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Particionamento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Skip, SkipWhile, Take, TakeWhile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2756704982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Concatenação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Concat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1971546193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FFFF00"/>
                          </a:solidFill>
                        </a:rPr>
                        <a:t>Equality</a:t>
                      </a:r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 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SequenceEqual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2983114915"/>
                  </a:ext>
                </a:extLst>
              </a:tr>
              <a:tr h="230625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Geração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pt-BR" sz="1800" dirty="0" err="1"/>
                        <a:t>DefaultEmpty</a:t>
                      </a:r>
                      <a:r>
                        <a:rPr lang="pt-BR" sz="1800" dirty="0"/>
                        <a:t>, </a:t>
                      </a:r>
                      <a:r>
                        <a:rPr lang="pt-BR" sz="1800" dirty="0" err="1"/>
                        <a:t>Empty</a:t>
                      </a:r>
                      <a:r>
                        <a:rPr lang="pt-BR" sz="1800" dirty="0"/>
                        <a:t>, Range, </a:t>
                      </a:r>
                      <a:r>
                        <a:rPr lang="pt-BR" sz="1800" dirty="0" err="1"/>
                        <a:t>Repeat</a:t>
                      </a:r>
                      <a:r>
                        <a:rPr lang="pt-BR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192930385"/>
                  </a:ext>
                </a:extLst>
              </a:tr>
              <a:tr h="403593"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FFFF00"/>
                          </a:solidFill>
                        </a:rPr>
                        <a:t>Conversão</a:t>
                      </a:r>
                    </a:p>
                  </a:txBody>
                  <a:tcPr marL="57656" marR="57656" marT="28828" marB="28828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AsEnumerable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AsQueryable</a:t>
                      </a:r>
                      <a:r>
                        <a:rPr lang="en-US" sz="1800" dirty="0"/>
                        <a:t>, Cast, </a:t>
                      </a:r>
                      <a:r>
                        <a:rPr lang="en-US" sz="1800" dirty="0" err="1"/>
                        <a:t>ToArray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ToDictionary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ToList</a:t>
                      </a:r>
                      <a:r>
                        <a:rPr lang="en-US" sz="1800" dirty="0"/>
                        <a:t> </a:t>
                      </a:r>
                    </a:p>
                  </a:txBody>
                  <a:tcPr marL="57656" marR="57656" marT="28828" marB="28828" anchor="ctr"/>
                </a:tc>
                <a:extLst>
                  <a:ext uri="{0D108BD9-81ED-4DB2-BD59-A6C34878D82A}">
                    <a16:rowId xmlns:a16="http://schemas.microsoft.com/office/drawing/2014/main" val="335827167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A2ACDF10-447D-569A-546D-09BCDD3132D5}"/>
              </a:ext>
            </a:extLst>
          </p:cNvPr>
          <p:cNvSpPr txBox="1"/>
          <p:nvPr/>
        </p:nvSpPr>
        <p:spPr>
          <a:xfrm>
            <a:off x="2726340" y="5925944"/>
            <a:ext cx="8595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São métodos de extensão para os tipos </a:t>
            </a:r>
            <a:r>
              <a:rPr lang="pt-PT" sz="2000" dirty="0">
                <a:solidFill>
                  <a:srgbClr val="FFFF00"/>
                </a:solidFill>
              </a:rPr>
              <a:t>IEnumerable&lt;T&gt; e IQueryable&lt;T&gt;</a:t>
            </a:r>
            <a:endParaRPr lang="pt-BR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24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29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674B0F-3B00-BDFE-EA37-7F7C372068B2}"/>
              </a:ext>
            </a:extLst>
          </p:cNvPr>
          <p:cNvSpPr txBox="1"/>
          <p:nvPr/>
        </p:nvSpPr>
        <p:spPr>
          <a:xfrm>
            <a:off x="4719974" y="2115812"/>
            <a:ext cx="2266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rgbClr val="FFFF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426331804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352.tgt.Office_50300831_TF33713516_Win32_OJ112196127" id="{5B02CB13-25F9-43E9-A3EC-2B08C0871AF2}" vid="{20DE5CB8-F2DD-40E1-8F79-272B0808BA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{0813B0D7-9797-4010-B962-99818663E40B}tf33713516_win32</Template>
  <TotalTime>1335</TotalTime>
  <Words>1897</Words>
  <Application>Microsoft Office PowerPoint</Application>
  <PresentationFormat>Widescreen</PresentationFormat>
  <Paragraphs>291</Paragraphs>
  <Slides>29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Cascadia Mono</vt:lpstr>
      <vt:lpstr>Gill Sans MT</vt:lpstr>
      <vt:lpstr>Trebuchet MS</vt:lpstr>
      <vt:lpstr>Walbaum Display</vt:lpstr>
      <vt:lpstr>3DFloatVTI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365 365</dc:creator>
  <cp:lastModifiedBy>Jose Carlos Macoratti</cp:lastModifiedBy>
  <cp:revision>21</cp:revision>
  <dcterms:created xsi:type="dcterms:W3CDTF">2022-09-06T13:49:28Z</dcterms:created>
  <dcterms:modified xsi:type="dcterms:W3CDTF">2024-04-23T12:08:08Z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